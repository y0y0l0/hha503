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914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0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16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82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9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5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2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91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88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3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611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7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51810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23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038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24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64DFF22-EB08-4B58-A958-6160E95C903F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6804F73A-B4E9-43C2-88EA-3A9194499E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99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https://www.youtube.com/embed/us6W4ppN9SA" TargetMode="External"/><Relationship Id="rId1" Type="http://schemas.openxmlformats.org/officeDocument/2006/relationships/video" Target="https://www.youtube.com/embed/_hflnlXM2tI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SfmRDCaZ51M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733205" cy="505438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Effects of </a:t>
            </a:r>
            <a:r>
              <a:rPr lang="en-US" sz="6000" dirty="0" err="1" smtClean="0">
                <a:solidFill>
                  <a:schemeClr val="bg1"/>
                </a:solidFill>
              </a:rPr>
              <a:t>hitech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040" y="1283516"/>
            <a:ext cx="11681160" cy="51760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Adoption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Eligible hospital (Acute) – 3.2% to 14.2%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</a:rPr>
              <a:t>Ineligible hospital (LTC, Psych, Rehab) - 0.1% to 3.3%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700" dirty="0" smtClean="0">
                <a:solidFill>
                  <a:schemeClr val="bg1"/>
                </a:solidFill>
              </a:rPr>
              <a:t>Productivity – discharges by DRG / OP visits by MDC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chemeClr val="bg1"/>
                </a:solidFill>
              </a:rPr>
              <a:t>Up ~250% (Kim &amp; Lee) – based on hospital revenue and ONLY IT labor 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(US Bureau of Labor Statistics) based on all labor costs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Flat from 2010 to 2019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Down 1.6% from 2019 to 2022 (</a:t>
            </a:r>
            <a:r>
              <a:rPr lang="en-US" sz="2000" dirty="0" err="1" smtClean="0">
                <a:solidFill>
                  <a:schemeClr val="bg1"/>
                </a:solidFill>
              </a:rPr>
              <a:t>Covid</a:t>
            </a:r>
            <a:r>
              <a:rPr lang="en-US" sz="2000" dirty="0" smtClean="0">
                <a:solidFill>
                  <a:schemeClr val="bg1"/>
                </a:solidFill>
              </a:rPr>
              <a:t>)</a:t>
            </a:r>
          </a:p>
          <a:p>
            <a:pPr marL="2171700" lvl="4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OP services down 12%; IP services (elective surgeries) down 4.6%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5033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733205" cy="505438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Effects of </a:t>
            </a:r>
            <a:r>
              <a:rPr lang="en-US" sz="6000" dirty="0" err="1" smtClean="0">
                <a:solidFill>
                  <a:schemeClr val="bg1"/>
                </a:solidFill>
              </a:rPr>
              <a:t>hitech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040" y="1283516"/>
            <a:ext cx="11681160" cy="51760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Quality (Lin)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Systems must be used properly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Clinical workflows must be supported / improved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bg1"/>
                </a:solidFill>
              </a:rPr>
              <a:t>Help understand problem (results)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bg1"/>
                </a:solidFill>
              </a:rPr>
              <a:t>Plan action (instructions to patient, drugs that can be used)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bg1"/>
                </a:solidFill>
              </a:rPr>
              <a:t>Monitoring (vital signs)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bg1"/>
                </a:solidFill>
              </a:rPr>
              <a:t>Decision making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bg1"/>
                </a:solidFill>
              </a:rPr>
              <a:t>Coordinating (orders quicker, medications easier to obtain)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Removal of financial barriers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300" dirty="0" smtClean="0">
                <a:solidFill>
                  <a:schemeClr val="bg1"/>
                </a:solidFill>
              </a:rPr>
              <a:t>Smaller hospitals show better quality increases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53185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733205" cy="505438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Effects of </a:t>
            </a:r>
            <a:r>
              <a:rPr lang="en-US" sz="6000" dirty="0" err="1" smtClean="0">
                <a:solidFill>
                  <a:schemeClr val="bg1"/>
                </a:solidFill>
              </a:rPr>
              <a:t>hitech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040" y="1283516"/>
            <a:ext cx="11681160" cy="517600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Quality (</a:t>
            </a:r>
            <a:r>
              <a:rPr lang="en-US" sz="2800" dirty="0" err="1" smtClean="0">
                <a:solidFill>
                  <a:schemeClr val="bg1"/>
                </a:solidFill>
              </a:rPr>
              <a:t>Atasoy</a:t>
            </a:r>
            <a:r>
              <a:rPr lang="en-US" sz="2800" dirty="0" smtClean="0">
                <a:solidFill>
                  <a:schemeClr val="bg1"/>
                </a:solidFill>
              </a:rPr>
              <a:t>, Greenwood, McCullough, 2019)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56% of articles unambiguously positive results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21% positive, but mixed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Specific quality improvement examples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Decreases dosage errors (automated dosage calculators reduced by ~50%) – Terrell, et al, 2010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Increases risk assessment (cardiovascular disease) – Wells, et al, 2008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Decreases prescription errors compared with CPOE (4.8%) compared to handwritten (6.7%) – Shulman, et al, 2005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PHRs increase screening compliance in some studies – why?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</a:rPr>
              <a:t>Breakout groups – 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bg1"/>
                </a:solidFill>
              </a:rPr>
              <a:t>What could be some reasons why some HCOs see quality benefits and others do not?</a:t>
            </a:r>
          </a:p>
          <a:p>
            <a:pPr marL="1714500" lvl="3" indent="-342900" algn="l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chemeClr val="bg1"/>
                </a:solidFill>
              </a:rPr>
              <a:t>What are some possible limitations of studies showing positive quality effects?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07996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733205" cy="505438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Effects of </a:t>
            </a:r>
            <a:r>
              <a:rPr lang="en-US" sz="6000" dirty="0" err="1" smtClean="0">
                <a:solidFill>
                  <a:schemeClr val="bg1"/>
                </a:solidFill>
              </a:rPr>
              <a:t>hitech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040" y="1283516"/>
            <a:ext cx="11681160" cy="51760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Interoperability</a:t>
            </a:r>
          </a:p>
        </p:txBody>
      </p:sp>
      <p:pic>
        <p:nvPicPr>
          <p:cNvPr id="4" name="_hflnlXM2tI"/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152393" y="2453518"/>
            <a:ext cx="5734807" cy="3225829"/>
          </a:xfrm>
          <a:prstGeom prst="rect">
            <a:avLst/>
          </a:prstGeom>
        </p:spPr>
      </p:pic>
      <p:pic>
        <p:nvPicPr>
          <p:cNvPr id="5" name="us6W4ppN9SA"/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295013" y="2457452"/>
            <a:ext cx="5727813" cy="322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159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733205" cy="505438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Effects of </a:t>
            </a:r>
            <a:r>
              <a:rPr lang="en-US" sz="6000" dirty="0" err="1" smtClean="0">
                <a:solidFill>
                  <a:schemeClr val="bg1"/>
                </a:solidFill>
              </a:rPr>
              <a:t>hitech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040" y="1283516"/>
            <a:ext cx="11681160" cy="51760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Health Information Exchanges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Slow progress – providers worried about losing patients, Vendors “locking-in” customers</a:t>
            </a:r>
          </a:p>
        </p:txBody>
      </p:sp>
      <p:pic>
        <p:nvPicPr>
          <p:cNvPr id="6" name="SfmRDCaZ51M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63040" y="2776756"/>
            <a:ext cx="6935364" cy="390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10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800"/>
            <a:ext cx="10733205" cy="505438"/>
          </a:xfrm>
        </p:spPr>
        <p:txBody>
          <a:bodyPr>
            <a:noAutofit/>
          </a:bodyPr>
          <a:lstStyle/>
          <a:p>
            <a:pPr algn="ctr"/>
            <a:r>
              <a:rPr lang="en-US" sz="6000" dirty="0" smtClean="0">
                <a:solidFill>
                  <a:schemeClr val="bg1"/>
                </a:solidFill>
              </a:rPr>
              <a:t>Effects of </a:t>
            </a:r>
            <a:r>
              <a:rPr lang="en-US" sz="6000" dirty="0" err="1" smtClean="0">
                <a:solidFill>
                  <a:schemeClr val="bg1"/>
                </a:solidFill>
              </a:rPr>
              <a:t>hitech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040" y="1283516"/>
            <a:ext cx="11681160" cy="51760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bg1"/>
                </a:solidFill>
              </a:rPr>
              <a:t>Financial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Not shown to reduce costs unless HCO has access to sufficient IT labor resources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</a:rPr>
              <a:t>Some studies show improved coding for higher reimbursement</a:t>
            </a:r>
          </a:p>
        </p:txBody>
      </p:sp>
    </p:spTree>
    <p:extLst>
      <p:ext uri="{BB962C8B-B14F-4D97-AF65-F5344CB8AC3E}">
        <p14:creationId xmlns:p14="http://schemas.microsoft.com/office/powerpoint/2010/main" val="423824588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253</TotalTime>
  <Words>340</Words>
  <Application>Microsoft Office PowerPoint</Application>
  <PresentationFormat>Widescreen</PresentationFormat>
  <Paragraphs>42</Paragraphs>
  <Slides>6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Slice</vt:lpstr>
      <vt:lpstr>Effects of hitech</vt:lpstr>
      <vt:lpstr>Effects of hitech</vt:lpstr>
      <vt:lpstr>Effects of hitech</vt:lpstr>
      <vt:lpstr>Effects of hitech</vt:lpstr>
      <vt:lpstr>Effects of hitech</vt:lpstr>
      <vt:lpstr>Effects of hitech</vt:lpstr>
    </vt:vector>
  </TitlesOfParts>
  <Company>Catholic Health Services - 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Effects of hitech</dc:title>
  <dc:creator>Benz, Blake</dc:creator>
  <cp:lastModifiedBy>Benz, Blake</cp:lastModifiedBy>
  <cp:revision>16</cp:revision>
  <dcterms:created xsi:type="dcterms:W3CDTF">2025-07-23T14:07:30Z</dcterms:created>
  <dcterms:modified xsi:type="dcterms:W3CDTF">2025-07-23T18:20:54Z</dcterms:modified>
</cp:coreProperties>
</file>