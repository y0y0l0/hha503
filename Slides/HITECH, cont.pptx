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1"/>
  </p:notesMasterIdLst>
  <p:sldIdLst>
    <p:sldId id="375" r:id="rId2"/>
    <p:sldId id="321" r:id="rId3"/>
    <p:sldId id="327" r:id="rId4"/>
    <p:sldId id="328" r:id="rId5"/>
    <p:sldId id="326" r:id="rId6"/>
    <p:sldId id="285" r:id="rId7"/>
    <p:sldId id="286" r:id="rId8"/>
    <p:sldId id="290" r:id="rId9"/>
    <p:sldId id="37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B7037D-31CB-006B-E07F-0E7863729A9E}" v="1" dt="2025-07-21T21:38:27.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ake Benz" userId="8a97c15f36056bdc" providerId="Windows Live" clId="Web-{D4A0E24D-5A45-47AF-A6A6-7F892EC66BF0}"/>
    <pc:docChg chg="addSld delSld modSld sldOrd">
      <pc:chgData name="Blake Benz" userId="8a97c15f36056bdc" providerId="Windows Live" clId="Web-{D4A0E24D-5A45-47AF-A6A6-7F892EC66BF0}" dt="2024-06-19T20:09:12.106" v="153" actId="20577"/>
      <pc:docMkLst>
        <pc:docMk/>
      </pc:docMkLst>
      <pc:sldChg chg="modSp">
        <pc:chgData name="Blake Benz" userId="8a97c15f36056bdc" providerId="Windows Live" clId="Web-{D4A0E24D-5A45-47AF-A6A6-7F892EC66BF0}" dt="2024-06-19T18:51:35.628" v="116" actId="1076"/>
        <pc:sldMkLst>
          <pc:docMk/>
          <pc:sldMk cId="4085232264" sldId="285"/>
        </pc:sldMkLst>
      </pc:sldChg>
      <pc:sldChg chg="modSp">
        <pc:chgData name="Blake Benz" userId="8a97c15f36056bdc" providerId="Windows Live" clId="Web-{D4A0E24D-5A45-47AF-A6A6-7F892EC66BF0}" dt="2024-06-19T18:52:32.614" v="126" actId="20577"/>
        <pc:sldMkLst>
          <pc:docMk/>
          <pc:sldMk cId="3184651580" sldId="286"/>
        </pc:sldMkLst>
      </pc:sldChg>
      <pc:sldChg chg="modSp">
        <pc:chgData name="Blake Benz" userId="8a97c15f36056bdc" providerId="Windows Live" clId="Web-{D4A0E24D-5A45-47AF-A6A6-7F892EC66BF0}" dt="2024-06-19T18:53:12.459" v="128" actId="20577"/>
        <pc:sldMkLst>
          <pc:docMk/>
          <pc:sldMk cId="688063106" sldId="290"/>
        </pc:sldMkLst>
      </pc:sldChg>
      <pc:sldChg chg="addSp delSp modSp del">
        <pc:chgData name="Blake Benz" userId="8a97c15f36056bdc" providerId="Windows Live" clId="Web-{D4A0E24D-5A45-47AF-A6A6-7F892EC66BF0}" dt="2024-06-19T18:53:49.726" v="131"/>
        <pc:sldMkLst>
          <pc:docMk/>
          <pc:sldMk cId="1253002336" sldId="291"/>
        </pc:sldMkLst>
      </pc:sldChg>
      <pc:sldChg chg="modSp">
        <pc:chgData name="Blake Benz" userId="8a97c15f36056bdc" providerId="Windows Live" clId="Web-{D4A0E24D-5A45-47AF-A6A6-7F892EC66BF0}" dt="2024-06-19T18:55:28.666" v="138" actId="20577"/>
        <pc:sldMkLst>
          <pc:docMk/>
          <pc:sldMk cId="2812243046" sldId="296"/>
        </pc:sldMkLst>
      </pc:sldChg>
      <pc:sldChg chg="modSp ord">
        <pc:chgData name="Blake Benz" userId="8a97c15f36056bdc" providerId="Windows Live" clId="Web-{D4A0E24D-5A45-47AF-A6A6-7F892EC66BF0}" dt="2024-06-19T18:56:55.419" v="150" actId="14100"/>
        <pc:sldMkLst>
          <pc:docMk/>
          <pc:sldMk cId="1240683805" sldId="301"/>
        </pc:sldMkLst>
      </pc:sldChg>
      <pc:sldChg chg="del">
        <pc:chgData name="Blake Benz" userId="8a97c15f36056bdc" providerId="Windows Live" clId="Web-{D4A0E24D-5A45-47AF-A6A6-7F892EC66BF0}" dt="2024-06-19T18:57:04.778" v="151"/>
        <pc:sldMkLst>
          <pc:docMk/>
          <pc:sldMk cId="3497763576" sldId="315"/>
        </pc:sldMkLst>
      </pc:sldChg>
      <pc:sldChg chg="modSp">
        <pc:chgData name="Blake Benz" userId="8a97c15f36056bdc" providerId="Windows Live" clId="Web-{D4A0E24D-5A45-47AF-A6A6-7F892EC66BF0}" dt="2024-06-19T18:56:05.824" v="140" actId="20577"/>
        <pc:sldMkLst>
          <pc:docMk/>
          <pc:sldMk cId="2772684019" sldId="316"/>
        </pc:sldMkLst>
      </pc:sldChg>
      <pc:sldChg chg="modSp">
        <pc:chgData name="Blake Benz" userId="8a97c15f36056bdc" providerId="Windows Live" clId="Web-{D4A0E24D-5A45-47AF-A6A6-7F892EC66BF0}" dt="2024-06-19T18:44:28.725" v="74" actId="1076"/>
        <pc:sldMkLst>
          <pc:docMk/>
          <pc:sldMk cId="2616665704" sldId="321"/>
        </pc:sldMkLst>
      </pc:sldChg>
      <pc:sldChg chg="del">
        <pc:chgData name="Blake Benz" userId="8a97c15f36056bdc" providerId="Windows Live" clId="Web-{D4A0E24D-5A45-47AF-A6A6-7F892EC66BF0}" dt="2024-06-19T18:50:16.220" v="109"/>
        <pc:sldMkLst>
          <pc:docMk/>
          <pc:sldMk cId="2172734959" sldId="322"/>
        </pc:sldMkLst>
      </pc:sldChg>
      <pc:sldChg chg="modSp">
        <pc:chgData name="Blake Benz" userId="8a97c15f36056bdc" providerId="Windows Live" clId="Web-{D4A0E24D-5A45-47AF-A6A6-7F892EC66BF0}" dt="2024-06-19T18:49:33.297" v="108" actId="14100"/>
        <pc:sldMkLst>
          <pc:docMk/>
          <pc:sldMk cId="38395236" sldId="326"/>
        </pc:sldMkLst>
      </pc:sldChg>
      <pc:sldChg chg="modSp">
        <pc:chgData name="Blake Benz" userId="8a97c15f36056bdc" providerId="Windows Live" clId="Web-{D4A0E24D-5A45-47AF-A6A6-7F892EC66BF0}" dt="2024-06-19T18:45:22.758" v="86" actId="20577"/>
        <pc:sldMkLst>
          <pc:docMk/>
          <pc:sldMk cId="3340507536" sldId="327"/>
        </pc:sldMkLst>
      </pc:sldChg>
      <pc:sldChg chg="modSp">
        <pc:chgData name="Blake Benz" userId="8a97c15f36056bdc" providerId="Windows Live" clId="Web-{D4A0E24D-5A45-47AF-A6A6-7F892EC66BF0}" dt="2024-06-19T18:47:21.011" v="102" actId="20577"/>
        <pc:sldMkLst>
          <pc:docMk/>
          <pc:sldMk cId="4289024559" sldId="328"/>
        </pc:sldMkLst>
      </pc:sldChg>
      <pc:sldChg chg="del">
        <pc:chgData name="Blake Benz" userId="8a97c15f36056bdc" providerId="Windows Live" clId="Web-{D4A0E24D-5A45-47AF-A6A6-7F892EC66BF0}" dt="2024-06-19T18:50:21.048" v="110"/>
        <pc:sldMkLst>
          <pc:docMk/>
          <pc:sldMk cId="2898180334" sldId="331"/>
        </pc:sldMkLst>
      </pc:sldChg>
      <pc:sldChg chg="delSp modSp">
        <pc:chgData name="Blake Benz" userId="8a97c15f36056bdc" providerId="Windows Live" clId="Web-{D4A0E24D-5A45-47AF-A6A6-7F892EC66BF0}" dt="2024-06-19T17:13:47.829" v="8" actId="1076"/>
        <pc:sldMkLst>
          <pc:docMk/>
          <pc:sldMk cId="3776350147" sldId="374"/>
        </pc:sldMkLst>
      </pc:sldChg>
      <pc:sldChg chg="modSp add replId">
        <pc:chgData name="Blake Benz" userId="8a97c15f36056bdc" providerId="Windows Live" clId="Web-{D4A0E24D-5A45-47AF-A6A6-7F892EC66BF0}" dt="2024-06-19T18:12:44.712" v="23" actId="14100"/>
        <pc:sldMkLst>
          <pc:docMk/>
          <pc:sldMk cId="394954526" sldId="375"/>
        </pc:sldMkLst>
      </pc:sldChg>
      <pc:sldChg chg="addSp modSp add replId">
        <pc:chgData name="Blake Benz" userId="8a97c15f36056bdc" providerId="Windows Live" clId="Web-{D4A0E24D-5A45-47AF-A6A6-7F892EC66BF0}" dt="2024-06-19T20:09:12.106" v="153" actId="20577"/>
        <pc:sldMkLst>
          <pc:docMk/>
          <pc:sldMk cId="1230611323" sldId="376"/>
        </pc:sldMkLst>
      </pc:sldChg>
    </pc:docChg>
  </pc:docChgLst>
  <pc:docChgLst>
    <pc:chgData name="Blake Benz" userId="8a97c15f36056bdc" providerId="Windows Live" clId="Web-{CB60C5D7-8860-48BE-A4AD-2B56048A9A42}"/>
    <pc:docChg chg="addSld delSld modSld">
      <pc:chgData name="Blake Benz" userId="8a97c15f36056bdc" providerId="Windows Live" clId="Web-{CB60C5D7-8860-48BE-A4AD-2B56048A9A42}" dt="2024-07-22T21:24:26.552" v="65"/>
      <pc:docMkLst>
        <pc:docMk/>
      </pc:docMkLst>
      <pc:sldChg chg="del">
        <pc:chgData name="Blake Benz" userId="8a97c15f36056bdc" providerId="Windows Live" clId="Web-{CB60C5D7-8860-48BE-A4AD-2B56048A9A42}" dt="2024-07-22T21:23:31.348" v="64"/>
        <pc:sldMkLst>
          <pc:docMk/>
          <pc:sldMk cId="2812243046" sldId="296"/>
        </pc:sldMkLst>
      </pc:sldChg>
      <pc:sldChg chg="del">
        <pc:chgData name="Blake Benz" userId="8a97c15f36056bdc" providerId="Windows Live" clId="Web-{CB60C5D7-8860-48BE-A4AD-2B56048A9A42}" dt="2024-07-22T21:24:26.552" v="65"/>
        <pc:sldMkLst>
          <pc:docMk/>
          <pc:sldMk cId="1240683805" sldId="301"/>
        </pc:sldMkLst>
      </pc:sldChg>
      <pc:sldChg chg="del">
        <pc:chgData name="Blake Benz" userId="8a97c15f36056bdc" providerId="Windows Live" clId="Web-{CB60C5D7-8860-48BE-A4AD-2B56048A9A42}" dt="2024-07-22T19:54:23.848" v="0"/>
        <pc:sldMkLst>
          <pc:docMk/>
          <pc:sldMk cId="2772684019" sldId="316"/>
        </pc:sldMkLst>
      </pc:sldChg>
      <pc:sldChg chg="modSp">
        <pc:chgData name="Blake Benz" userId="8a97c15f36056bdc" providerId="Windows Live" clId="Web-{CB60C5D7-8860-48BE-A4AD-2B56048A9A42}" dt="2024-07-22T21:19:15.435" v="4" actId="20577"/>
        <pc:sldMkLst>
          <pc:docMk/>
          <pc:sldMk cId="2616665704" sldId="321"/>
        </pc:sldMkLst>
      </pc:sldChg>
      <pc:sldChg chg="modSp new">
        <pc:chgData name="Blake Benz" userId="8a97c15f36056bdc" providerId="Windows Live" clId="Web-{CB60C5D7-8860-48BE-A4AD-2B56048A9A42}" dt="2024-07-22T21:23:11.472" v="63" actId="20577"/>
        <pc:sldMkLst>
          <pc:docMk/>
          <pc:sldMk cId="1286333377" sldId="376"/>
        </pc:sldMkLst>
      </pc:sldChg>
    </pc:docChg>
  </pc:docChgLst>
  <pc:docChgLst>
    <pc:chgData name="Blake Benz" userId="8a97c15f36056bdc" providerId="Windows Live" clId="Web-{B2BCF03E-EEEE-448E-928F-A0D9CE957831}"/>
    <pc:docChg chg="delSld">
      <pc:chgData name="Blake Benz" userId="8a97c15f36056bdc" providerId="Windows Live" clId="Web-{B2BCF03E-EEEE-448E-928F-A0D9CE957831}" dt="2024-07-17T14:16:20.952" v="1"/>
      <pc:docMkLst>
        <pc:docMk/>
      </pc:docMkLst>
      <pc:sldChg chg="del">
        <pc:chgData name="Blake Benz" userId="8a97c15f36056bdc" providerId="Windows Live" clId="Web-{B2BCF03E-EEEE-448E-928F-A0D9CE957831}" dt="2024-07-17T14:16:20.952" v="1"/>
        <pc:sldMkLst>
          <pc:docMk/>
          <pc:sldMk cId="3776350147" sldId="374"/>
        </pc:sldMkLst>
      </pc:sldChg>
      <pc:sldChg chg="del">
        <pc:chgData name="Blake Benz" userId="8a97c15f36056bdc" providerId="Windows Live" clId="Web-{B2BCF03E-EEEE-448E-928F-A0D9CE957831}" dt="2024-07-17T14:06:11.296" v="0"/>
        <pc:sldMkLst>
          <pc:docMk/>
          <pc:sldMk cId="1230611323" sldId="376"/>
        </pc:sldMkLst>
      </pc:sldChg>
    </pc:docChg>
  </pc:docChgLst>
  <pc:docChgLst>
    <pc:chgData name="Blake Benz" userId="8a97c15f36056bdc" providerId="Windows Live" clId="Web-{81B7037D-31CB-006B-E07F-0E7863729A9E}"/>
    <pc:docChg chg="modSld">
      <pc:chgData name="Blake Benz" userId="8a97c15f36056bdc" providerId="Windows Live" clId="Web-{81B7037D-31CB-006B-E07F-0E7863729A9E}" dt="2025-07-21T21:38:27.415" v="0"/>
      <pc:docMkLst>
        <pc:docMk/>
      </pc:docMkLst>
      <pc:sldChg chg="delSp">
        <pc:chgData name="Blake Benz" userId="8a97c15f36056bdc" providerId="Windows Live" clId="Web-{81B7037D-31CB-006B-E07F-0E7863729A9E}" dt="2025-07-21T21:38:27.415" v="0"/>
        <pc:sldMkLst>
          <pc:docMk/>
          <pc:sldMk cId="1286333377" sldId="376"/>
        </pc:sldMkLst>
        <pc:spChg chg="del">
          <ac:chgData name="Blake Benz" userId="8a97c15f36056bdc" providerId="Windows Live" clId="Web-{81B7037D-31CB-006B-E07F-0E7863729A9E}" dt="2025-07-21T21:38:27.415" v="0"/>
          <ac:spMkLst>
            <pc:docMk/>
            <pc:sldMk cId="1286333377" sldId="376"/>
            <ac:spMk id="4" creationId="{A769C2CF-EAB0-4AA0-3E8F-453314AC5BD1}"/>
          </ac:spMkLst>
        </pc:spChg>
      </pc:sldChg>
    </pc:docChg>
  </pc:docChgLst>
  <pc:docChgLst>
    <pc:chgData name="Blake Benz" userId="8a97c15f36056bdc" providerId="Windows Live" clId="Web-{01ABA031-F9D6-4A51-990D-BEFACC87BF83}"/>
    <pc:docChg chg="modSld">
      <pc:chgData name="Blake Benz" userId="8a97c15f36056bdc" providerId="Windows Live" clId="Web-{01ABA031-F9D6-4A51-990D-BEFACC87BF83}" dt="2024-06-20T20:26:14.897" v="3" actId="14100"/>
      <pc:docMkLst>
        <pc:docMk/>
      </pc:docMkLst>
      <pc:sldChg chg="modSp">
        <pc:chgData name="Blake Benz" userId="8a97c15f36056bdc" providerId="Windows Live" clId="Web-{01ABA031-F9D6-4A51-990D-BEFACC87BF83}" dt="2024-06-20T20:26:14.897" v="3" actId="14100"/>
        <pc:sldMkLst>
          <pc:docMk/>
          <pc:sldMk cId="1230611323" sldId="376"/>
        </pc:sldMkLst>
      </pc:sldChg>
    </pc:docChg>
  </pc:docChgLst>
  <pc:docChgLst>
    <pc:chgData name="Blake Benz" userId="8a97c15f36056bdc" providerId="Windows Live" clId="Web-{CEA93C79-09FC-4268-8CC7-32A1F8B15577}"/>
    <pc:docChg chg="delSld">
      <pc:chgData name="Blake Benz" userId="8a97c15f36056bdc" providerId="Windows Live" clId="Web-{CEA93C79-09FC-4268-8CC7-32A1F8B15577}" dt="2024-06-20T20:24:23.018" v="0"/>
      <pc:docMkLst>
        <pc:docMk/>
      </pc:docMkLst>
      <pc:sldChg chg="del">
        <pc:chgData name="Blake Benz" userId="8a97c15f36056bdc" providerId="Windows Live" clId="Web-{CEA93C79-09FC-4268-8CC7-32A1F8B15577}" dt="2024-06-20T20:24:23.018" v="0"/>
        <pc:sldMkLst>
          <pc:docMk/>
          <pc:sldMk cId="2477106915" sldId="33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3473A-9E16-4AC3-BC48-84FDC645320D}" type="datetimeFigureOut">
              <a:rPr lang="en-US" smtClean="0"/>
              <a:t>7/21/2025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2811E6-245A-47F3-A402-768A87DDAF74}" type="slidenum">
              <a:rPr lang="en-US" smtClean="0"/>
              <a:t>‹#›</a:t>
            </a:fld>
            <a:endParaRPr lang="en-US"/>
          </a:p>
        </p:txBody>
      </p:sp>
    </p:spTree>
    <p:extLst>
      <p:ext uri="{BB962C8B-B14F-4D97-AF65-F5344CB8AC3E}">
        <p14:creationId xmlns:p14="http://schemas.microsoft.com/office/powerpoint/2010/main" val="304053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use thumb drive, CD, DVD, electronic record </a:t>
            </a:r>
            <a:r>
              <a:rPr lang="en-US" dirty="0" err="1"/>
              <a:t>etc</a:t>
            </a:r>
            <a:endParaRPr lang="en-US" dirty="0"/>
          </a:p>
          <a:p>
            <a:r>
              <a:rPr lang="en-US" dirty="0"/>
              <a:t>Describe</a:t>
            </a:r>
            <a:r>
              <a:rPr lang="en-US" baseline="0" dirty="0"/>
              <a:t> </a:t>
            </a:r>
            <a:r>
              <a:rPr lang="en-US" baseline="0" dirty="0" err="1"/>
              <a:t>MyChart</a:t>
            </a:r>
            <a:endParaRPr lang="en-US" dirty="0"/>
          </a:p>
        </p:txBody>
      </p:sp>
      <p:sp>
        <p:nvSpPr>
          <p:cNvPr id="4" name="Slide Number Placeholder 3"/>
          <p:cNvSpPr>
            <a:spLocks noGrp="1"/>
          </p:cNvSpPr>
          <p:nvPr>
            <p:ph type="sldNum" sz="quarter" idx="10"/>
          </p:nvPr>
        </p:nvSpPr>
        <p:spPr/>
        <p:txBody>
          <a:bodyPr/>
          <a:lstStyle/>
          <a:p>
            <a:fld id="{7D8A652F-4DF2-40D7-9A55-8B5145B14790}" type="slidenum">
              <a:rPr lang="en-US" smtClean="0"/>
              <a:t>3</a:t>
            </a:fld>
            <a:endParaRPr lang="en-US"/>
          </a:p>
        </p:txBody>
      </p:sp>
    </p:spTree>
    <p:extLst>
      <p:ext uri="{BB962C8B-B14F-4D97-AF65-F5344CB8AC3E}">
        <p14:creationId xmlns:p14="http://schemas.microsoft.com/office/powerpoint/2010/main" val="1645772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Sensitive into is still protected but everything</a:t>
            </a:r>
            <a:r>
              <a:rPr lang="en-US" baseline="0" dirty="0"/>
              <a:t> else is no longer. </a:t>
            </a:r>
          </a:p>
          <a:p>
            <a:endParaRPr lang="en-US" baseline="0" dirty="0"/>
          </a:p>
          <a:p>
            <a:r>
              <a:rPr lang="en-US" baseline="0" dirty="0"/>
              <a:t>50 years is not a record retention</a:t>
            </a:r>
            <a:r>
              <a:rPr lang="is-IS" baseline="0" dirty="0"/>
              <a:t>… depending on the document and state law will say how long to keep cetain records. </a:t>
            </a:r>
            <a:endParaRPr lang="en-US" dirty="0"/>
          </a:p>
        </p:txBody>
      </p:sp>
      <p:sp>
        <p:nvSpPr>
          <p:cNvPr id="4" name="Slide Number Placeholder 3"/>
          <p:cNvSpPr>
            <a:spLocks noGrp="1"/>
          </p:cNvSpPr>
          <p:nvPr>
            <p:ph type="sldNum" sz="quarter" idx="10"/>
          </p:nvPr>
        </p:nvSpPr>
        <p:spPr/>
        <p:txBody>
          <a:bodyPr/>
          <a:lstStyle/>
          <a:p>
            <a:fld id="{7D8A652F-4DF2-40D7-9A55-8B5145B14790}" type="slidenum">
              <a:rPr lang="en-US" smtClean="0"/>
              <a:t>6</a:t>
            </a:fld>
            <a:endParaRPr lang="en-US"/>
          </a:p>
        </p:txBody>
      </p:sp>
    </p:spTree>
    <p:extLst>
      <p:ext uri="{BB962C8B-B14F-4D97-AF65-F5344CB8AC3E}">
        <p14:creationId xmlns:p14="http://schemas.microsoft.com/office/powerpoint/2010/main" val="8011317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A6DEDBF8-64BE-48D3-8E93-A58D753F5E7E}" type="datetimeFigureOut">
              <a:rPr lang="en-US" smtClean="0"/>
              <a:t>7/21/2025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504834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DEDBF8-64BE-48D3-8E93-A58D753F5E7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529136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DEDBF8-64BE-48D3-8E93-A58D753F5E7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3897014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DEDBF8-64BE-48D3-8E93-A58D753F5E7E}"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2469535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DEDBF8-64BE-48D3-8E93-A58D753F5E7E}" type="datetimeFigureOut">
              <a:rPr lang="en-US" smtClean="0"/>
              <a:t>7/21/2025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2782886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DEDBF8-64BE-48D3-8E93-A58D753F5E7E}" type="datetimeFigureOut">
              <a:rPr lang="en-US" smtClean="0"/>
              <a:t>7/21/2025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3501158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DEDBF8-64BE-48D3-8E93-A58D753F5E7E}" type="datetimeFigureOut">
              <a:rPr lang="en-US" smtClean="0"/>
              <a:t>7/21/2025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110637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DEDBF8-64BE-48D3-8E93-A58D753F5E7E}"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203722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DEDBF8-64BE-48D3-8E93-A58D753F5E7E}"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102106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DEDBF8-64BE-48D3-8E93-A58D753F5E7E}"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1365211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6DEDBF8-64BE-48D3-8E93-A58D753F5E7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2011319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6DEDBF8-64BE-48D3-8E93-A58D753F5E7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2065105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DEDBF8-64BE-48D3-8E93-A58D753F5E7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303361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6DEDBF8-64BE-48D3-8E93-A58D753F5E7E}" type="datetimeFigureOut">
              <a:rPr lang="en-US" smtClean="0"/>
              <a:t>7/21/2025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3849378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A6DEDBF8-64BE-48D3-8E93-A58D753F5E7E}" type="datetimeFigureOut">
              <a:rPr lang="en-US" smtClean="0"/>
              <a:t>7/21/2025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3499508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6DEDBF8-64BE-48D3-8E93-A58D753F5E7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35295877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A6DEDBF8-64BE-48D3-8E93-A58D753F5E7E}"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1233410-405C-473B-9841-EB0EC47E14C4}" type="slidenum">
              <a:rPr lang="en-US" smtClean="0"/>
              <a:t>‹#›</a:t>
            </a:fld>
            <a:endParaRPr lang="en-US"/>
          </a:p>
        </p:txBody>
      </p:sp>
    </p:spTree>
    <p:extLst>
      <p:ext uri="{BB962C8B-B14F-4D97-AF65-F5344CB8AC3E}">
        <p14:creationId xmlns:p14="http://schemas.microsoft.com/office/powerpoint/2010/main" val="297752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BM Title Slide">
    <p:spTree>
      <p:nvGrpSpPr>
        <p:cNvPr id="1" name=""/>
        <p:cNvGrpSpPr/>
        <p:nvPr/>
      </p:nvGrpSpPr>
      <p:grpSpPr>
        <a:xfrm>
          <a:off x="0" y="0"/>
          <a:ext cx="0" cy="0"/>
          <a:chOff x="0" y="0"/>
          <a:chExt cx="0" cy="0"/>
        </a:xfrm>
      </p:grpSpPr>
      <p:sp>
        <p:nvSpPr>
          <p:cNvPr id="7" name="Text Placeholder 12"/>
          <p:cNvSpPr>
            <a:spLocks noGrp="1"/>
          </p:cNvSpPr>
          <p:nvPr>
            <p:ph type="body" sz="quarter" idx="14"/>
          </p:nvPr>
        </p:nvSpPr>
        <p:spPr>
          <a:xfrm>
            <a:off x="0" y="6362700"/>
            <a:ext cx="12192000" cy="495300"/>
          </a:xfrm>
          <a:prstGeom prst="rect">
            <a:avLst/>
          </a:prstGeom>
        </p:spPr>
        <p:txBody>
          <a:bodyPr/>
          <a:lstStyle>
            <a:lvl1pPr algn="ctr">
              <a:buFontTx/>
              <a:buNone/>
              <a:defRPr sz="2000" baseline="0">
                <a:solidFill>
                  <a:srgbClr val="FFFFFF"/>
                </a:solidFill>
                <a:latin typeface="Helvetica"/>
                <a:cs typeface="Helvetica"/>
              </a:defRPr>
            </a:lvl1pPr>
          </a:lstStyle>
          <a:p>
            <a:pPr lvl="0"/>
            <a:r>
              <a:rPr lang="en-US"/>
              <a:t>Click to edit Master text styles</a:t>
            </a:r>
          </a:p>
        </p:txBody>
      </p:sp>
      <p:sp>
        <p:nvSpPr>
          <p:cNvPr id="5" name="Text Placeholder 7"/>
          <p:cNvSpPr>
            <a:spLocks noGrp="1"/>
          </p:cNvSpPr>
          <p:nvPr>
            <p:ph type="body" sz="quarter" idx="15"/>
          </p:nvPr>
        </p:nvSpPr>
        <p:spPr>
          <a:xfrm>
            <a:off x="609600" y="165101"/>
            <a:ext cx="10972800" cy="6113617"/>
          </a:xfrm>
        </p:spPr>
        <p:txBody>
          <a:bodyPr tIns="0" rIns="0" bIns="0" anchor="ctr"/>
          <a:lstStyle>
            <a:lvl1pPr algn="ctr">
              <a:buFontTx/>
              <a:buNone/>
              <a:defRPr sz="4400">
                <a:solidFill>
                  <a:srgbClr val="B60225"/>
                </a:solidFill>
              </a:defRPr>
            </a:lvl1pPr>
            <a:lvl2pPr marL="228600" indent="-228600" algn="ctr">
              <a:buClr>
                <a:srgbClr val="C03137"/>
              </a:buClr>
              <a:buFontTx/>
              <a:buNone/>
              <a:defRPr sz="2400"/>
            </a:lvl2pPr>
            <a:lvl3pPr marL="458788" indent="-230188" algn="ctr">
              <a:buFontTx/>
              <a:buNone/>
              <a:defRPr/>
            </a:lvl3pPr>
            <a:lvl4pPr marL="458788" indent="-230188" algn="ctr">
              <a:buFontTx/>
              <a:buNone/>
              <a:defRPr/>
            </a:lvl4pPr>
            <a:lvl5pPr marL="458788" indent="-230188" algn="ctr">
              <a:buFontTx/>
              <a:buNone/>
              <a:defRPr/>
            </a:lvl5pPr>
          </a:lstStyle>
          <a:p>
            <a:pPr lvl="0"/>
            <a:r>
              <a:rPr lang="en-US" dirty="0"/>
              <a:t>Click to edit Master text styles</a:t>
            </a:r>
          </a:p>
          <a:p>
            <a:pPr lvl="1"/>
            <a:r>
              <a:rPr lang="en-US" dirty="0"/>
              <a:t>Second level</a:t>
            </a:r>
          </a:p>
        </p:txBody>
      </p:sp>
      <p:sp>
        <p:nvSpPr>
          <p:cNvPr id="8" name="Text Placeholder 13"/>
          <p:cNvSpPr>
            <a:spLocks noGrp="1"/>
          </p:cNvSpPr>
          <p:nvPr>
            <p:ph type="body" sz="quarter" idx="12" hasCustomPrompt="1"/>
          </p:nvPr>
        </p:nvSpPr>
        <p:spPr>
          <a:xfrm>
            <a:off x="6315027" y="464955"/>
            <a:ext cx="5267373" cy="381684"/>
          </a:xfrm>
          <a:prstGeom prst="rect">
            <a:avLst/>
          </a:prstGeom>
        </p:spPr>
        <p:txBody>
          <a:bodyPr rIns="0">
            <a:noAutofit/>
          </a:bodyPr>
          <a:lstStyle>
            <a:lvl1pPr algn="r">
              <a:buFontTx/>
              <a:buNone/>
              <a:defRPr sz="1500" cap="all">
                <a:solidFill>
                  <a:schemeClr val="tx1"/>
                </a:solidFill>
                <a:latin typeface="Helvetica"/>
                <a:cs typeface="Helvetica"/>
              </a:defRPr>
            </a:lvl1pPr>
          </a:lstStyle>
          <a:p>
            <a:pPr lvl="0"/>
            <a:r>
              <a:rPr lang="en-US" dirty="0"/>
              <a:t>Department Name Here</a:t>
            </a:r>
          </a:p>
        </p:txBody>
      </p:sp>
    </p:spTree>
    <p:extLst>
      <p:ext uri="{BB962C8B-B14F-4D97-AF65-F5344CB8AC3E}">
        <p14:creationId xmlns:p14="http://schemas.microsoft.com/office/powerpoint/2010/main" val="2104126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A6DEDBF8-64BE-48D3-8E93-A58D753F5E7E}" type="datetimeFigureOut">
              <a:rPr lang="en-US" smtClean="0"/>
              <a:t>7/21/2025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E1233410-405C-473B-9841-EB0EC47E14C4}" type="slidenum">
              <a:rPr lang="en-US" smtClean="0"/>
              <a:t>‹#›</a:t>
            </a:fld>
            <a:endParaRPr lang="en-US"/>
          </a:p>
        </p:txBody>
      </p:sp>
    </p:spTree>
    <p:extLst>
      <p:ext uri="{BB962C8B-B14F-4D97-AF65-F5344CB8AC3E}">
        <p14:creationId xmlns:p14="http://schemas.microsoft.com/office/powerpoint/2010/main" val="24926004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E7237-09E2-4D60-B28D-F30E55AFC563}"/>
              </a:ext>
            </a:extLst>
          </p:cNvPr>
          <p:cNvSpPr>
            <a:spLocks noGrp="1"/>
          </p:cNvSpPr>
          <p:nvPr>
            <p:ph type="ctrTitle"/>
          </p:nvPr>
        </p:nvSpPr>
        <p:spPr>
          <a:xfrm>
            <a:off x="2589212" y="835702"/>
            <a:ext cx="8915399" cy="918147"/>
          </a:xfrm>
        </p:spPr>
        <p:txBody>
          <a:bodyPr/>
          <a:lstStyle/>
          <a:p>
            <a:r>
              <a:rPr lang="en-US" dirty="0"/>
              <a:t>Sections of HITECH</a:t>
            </a:r>
          </a:p>
        </p:txBody>
      </p:sp>
      <p:sp>
        <p:nvSpPr>
          <p:cNvPr id="3" name="Subtitle 2">
            <a:extLst>
              <a:ext uri="{FF2B5EF4-FFF2-40B4-BE49-F238E27FC236}">
                <a16:creationId xmlns:a16="http://schemas.microsoft.com/office/drawing/2014/main" id="{BCC68819-5B02-4685-86C6-52AD262CA867}"/>
              </a:ext>
            </a:extLst>
          </p:cNvPr>
          <p:cNvSpPr>
            <a:spLocks noGrp="1"/>
          </p:cNvSpPr>
          <p:nvPr>
            <p:ph type="subTitle" idx="1"/>
          </p:nvPr>
        </p:nvSpPr>
        <p:spPr>
          <a:xfrm>
            <a:off x="1289331" y="2353457"/>
            <a:ext cx="10215281" cy="3550206"/>
          </a:xfrm>
        </p:spPr>
        <p:txBody>
          <a:bodyPr>
            <a:normAutofit/>
          </a:bodyPr>
          <a:lstStyle/>
          <a:p>
            <a:pPr marL="285750" indent="-285750">
              <a:buFont typeface="Arial" panose="020B0604020202020204" pitchFamily="34" charset="0"/>
              <a:buChar char="•"/>
            </a:pPr>
            <a:r>
              <a:rPr lang="en-US" sz="2800" i="1" dirty="0"/>
              <a:t>Tiers</a:t>
            </a:r>
          </a:p>
          <a:p>
            <a:pPr marL="285750" indent="-285750">
              <a:buFont typeface="Arial" panose="020B0604020202020204" pitchFamily="34" charset="0"/>
              <a:buChar char="•"/>
            </a:pPr>
            <a:r>
              <a:rPr lang="en-US" sz="2800" i="1" dirty="0"/>
              <a:t>Breach Notification</a:t>
            </a:r>
          </a:p>
          <a:p>
            <a:pPr marL="285750" indent="-285750">
              <a:buFont typeface="Arial" panose="020B0604020202020204" pitchFamily="34" charset="0"/>
              <a:buChar char="•"/>
            </a:pPr>
            <a:r>
              <a:rPr lang="en-US" sz="3200" b="1" i="1" dirty="0"/>
              <a:t>Enhanced Business Associate Requirements</a:t>
            </a:r>
          </a:p>
          <a:p>
            <a:pPr marL="285750" indent="-285750">
              <a:buFont typeface="Arial" panose="020B0604020202020204" pitchFamily="34" charset="0"/>
              <a:buChar char="•"/>
            </a:pPr>
            <a:r>
              <a:rPr lang="en-US" sz="2800" dirty="0"/>
              <a:t>Access to Electronic Health Records</a:t>
            </a:r>
          </a:p>
          <a:p>
            <a:pPr marL="285750" indent="-285750">
              <a:buFont typeface="Arial" panose="020B0604020202020204" pitchFamily="34" charset="0"/>
              <a:buChar char="•"/>
            </a:pPr>
            <a:r>
              <a:rPr lang="en-US" sz="2800" dirty="0"/>
              <a:t>Right to Restrict Disclosures</a:t>
            </a:r>
          </a:p>
          <a:p>
            <a:pPr marL="285750" indent="-285750">
              <a:buFont typeface="Arial" panose="020B0604020202020204" pitchFamily="34" charset="0"/>
              <a:buChar char="•"/>
            </a:pPr>
            <a:r>
              <a:rPr lang="en-US" sz="2800" dirty="0"/>
              <a:t>Accounting for Disclosures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4954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607" y="882885"/>
            <a:ext cx="8559049" cy="656887"/>
          </a:xfrm>
        </p:spPr>
        <p:txBody>
          <a:bodyPr>
            <a:noAutofit/>
          </a:bodyPr>
          <a:lstStyle/>
          <a:p>
            <a:r>
              <a:rPr lang="en-US" sz="6000" dirty="0"/>
              <a:t>HITECH Effective Dates</a:t>
            </a:r>
          </a:p>
        </p:txBody>
      </p:sp>
      <p:sp>
        <p:nvSpPr>
          <p:cNvPr id="3" name="Content Placeholder 2"/>
          <p:cNvSpPr>
            <a:spLocks noGrp="1"/>
          </p:cNvSpPr>
          <p:nvPr>
            <p:ph idx="1"/>
          </p:nvPr>
        </p:nvSpPr>
        <p:spPr>
          <a:xfrm>
            <a:off x="293887" y="2285981"/>
            <a:ext cx="11584636" cy="4576492"/>
          </a:xfrm>
        </p:spPr>
        <p:txBody>
          <a:bodyPr vert="horz" lIns="91440" tIns="45720" rIns="91440" bIns="45720" rtlCol="0" anchor="t">
            <a:normAutofit fontScale="92500"/>
          </a:bodyPr>
          <a:lstStyle/>
          <a:p>
            <a:r>
              <a:rPr lang="en-US" sz="3200" dirty="0"/>
              <a:t>Enhanced Business Associate (BA) Requirements – Effective 2/17/2010)</a:t>
            </a:r>
          </a:p>
          <a:p>
            <a:pPr lvl="1"/>
            <a:r>
              <a:rPr lang="en-US" sz="2800" dirty="0"/>
              <a:t>Modified original HIPAA act requirements as follows</a:t>
            </a:r>
          </a:p>
          <a:p>
            <a:pPr lvl="2"/>
            <a:r>
              <a:rPr lang="en-US" sz="2400" dirty="0"/>
              <a:t>BAs must comply with minimum necessary standard</a:t>
            </a:r>
          </a:p>
          <a:p>
            <a:pPr lvl="2"/>
            <a:r>
              <a:rPr lang="en-US" sz="2400" dirty="0"/>
              <a:t>BAs must report breaches of unsecured PHI to a Covered Entity in compliance with the Privacy Rules’ breach notification requirements</a:t>
            </a:r>
          </a:p>
          <a:p>
            <a:pPr lvl="2"/>
            <a:r>
              <a:rPr lang="en-US" sz="2400" dirty="0"/>
              <a:t>BAs must implement administrative, physical and technical safeguards</a:t>
            </a:r>
          </a:p>
          <a:p>
            <a:pPr lvl="2"/>
            <a:r>
              <a:rPr lang="en-US" sz="2400" dirty="0"/>
              <a:t>Expanded definition of a Business Associate to include organizations that </a:t>
            </a:r>
            <a:r>
              <a:rPr lang="en-US" sz="2400" b="1" dirty="0"/>
              <a:t>provide data transmissions </a:t>
            </a:r>
            <a:r>
              <a:rPr lang="en-US" sz="2400" dirty="0"/>
              <a:t>of PHI and vendors that </a:t>
            </a:r>
            <a:r>
              <a:rPr lang="en-US" sz="2400" b="1" dirty="0"/>
              <a:t>offer personal health records </a:t>
            </a:r>
            <a:r>
              <a:rPr lang="en-US" sz="2400" dirty="0"/>
              <a:t>to patients</a:t>
            </a:r>
          </a:p>
          <a:p>
            <a:pPr lvl="1"/>
            <a:endParaRPr lang="en-US" dirty="0"/>
          </a:p>
        </p:txBody>
      </p:sp>
    </p:spTree>
    <p:extLst>
      <p:ext uri="{BB962C8B-B14F-4D97-AF65-F5344CB8AC3E}">
        <p14:creationId xmlns:p14="http://schemas.microsoft.com/office/powerpoint/2010/main" val="2616665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1189167"/>
            <a:ext cx="8570255" cy="539585"/>
          </a:xfrm>
        </p:spPr>
        <p:txBody>
          <a:bodyPr>
            <a:noAutofit/>
          </a:bodyPr>
          <a:lstStyle/>
          <a:p>
            <a:r>
              <a:rPr lang="en-US" sz="6000" dirty="0"/>
              <a:t>HITECH Effective Dates</a:t>
            </a:r>
          </a:p>
        </p:txBody>
      </p:sp>
      <p:sp>
        <p:nvSpPr>
          <p:cNvPr id="3" name="Content Placeholder 2"/>
          <p:cNvSpPr>
            <a:spLocks noGrp="1"/>
          </p:cNvSpPr>
          <p:nvPr>
            <p:ph idx="1"/>
          </p:nvPr>
        </p:nvSpPr>
        <p:spPr>
          <a:xfrm>
            <a:off x="264460" y="2287946"/>
            <a:ext cx="11640666" cy="4439569"/>
          </a:xfrm>
        </p:spPr>
        <p:txBody>
          <a:bodyPr vert="horz" lIns="91440" tIns="45720" rIns="91440" bIns="45720" rtlCol="0" anchor="t">
            <a:normAutofit/>
          </a:bodyPr>
          <a:lstStyle/>
          <a:p>
            <a:r>
              <a:rPr lang="en-US" sz="3600" dirty="0"/>
              <a:t>Access to Electronic Health Records – Effective 2/17/10</a:t>
            </a:r>
          </a:p>
          <a:p>
            <a:pPr lvl="1"/>
            <a:r>
              <a:rPr lang="en-US" sz="2400" dirty="0"/>
              <a:t>Patients have the right to access their records electronically</a:t>
            </a:r>
          </a:p>
          <a:p>
            <a:pPr lvl="1"/>
            <a:r>
              <a:rPr lang="en-US" sz="2400" dirty="0"/>
              <a:t>Patients can request their PHI be sent to another party electronically</a:t>
            </a:r>
          </a:p>
          <a:p>
            <a:pPr lvl="1"/>
            <a:r>
              <a:rPr lang="en-US" sz="2400" dirty="0"/>
              <a:t>Must be reasonable cost and time (&lt; 30 days)</a:t>
            </a:r>
          </a:p>
          <a:p>
            <a:r>
              <a:rPr lang="en-US" sz="3600" dirty="0"/>
              <a:t>Right to Restrict Disclosures – Effective 2/17/10</a:t>
            </a:r>
          </a:p>
          <a:p>
            <a:pPr lvl="1"/>
            <a:r>
              <a:rPr lang="en-US" sz="2400" dirty="0"/>
              <a:t>Persons can request PHI not be disclosed to health plan if PHI pertains to services or treatment paid for out of pocket or in full</a:t>
            </a:r>
          </a:p>
        </p:txBody>
      </p:sp>
    </p:spTree>
    <p:extLst>
      <p:ext uri="{BB962C8B-B14F-4D97-AF65-F5344CB8AC3E}">
        <p14:creationId xmlns:p14="http://schemas.microsoft.com/office/powerpoint/2010/main" val="3340507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1" y="784529"/>
            <a:ext cx="8659902" cy="674140"/>
          </a:xfrm>
        </p:spPr>
        <p:txBody>
          <a:bodyPr>
            <a:noAutofit/>
          </a:bodyPr>
          <a:lstStyle/>
          <a:p>
            <a:r>
              <a:rPr lang="en-US" sz="6000" dirty="0"/>
              <a:t>HITECH Effective Dates</a:t>
            </a:r>
          </a:p>
        </p:txBody>
      </p:sp>
      <p:sp>
        <p:nvSpPr>
          <p:cNvPr id="3" name="Content Placeholder 2"/>
          <p:cNvSpPr>
            <a:spLocks noGrp="1"/>
          </p:cNvSpPr>
          <p:nvPr>
            <p:ph idx="1"/>
          </p:nvPr>
        </p:nvSpPr>
        <p:spPr>
          <a:xfrm>
            <a:off x="339784" y="2294322"/>
            <a:ext cx="11494989" cy="4563678"/>
          </a:xfrm>
        </p:spPr>
        <p:txBody>
          <a:bodyPr vert="horz" lIns="91440" tIns="45720" rIns="91440" bIns="45720" rtlCol="0" anchor="t">
            <a:normAutofit lnSpcReduction="10000"/>
          </a:bodyPr>
          <a:lstStyle/>
          <a:p>
            <a:r>
              <a:rPr lang="en-US" sz="3200" dirty="0"/>
              <a:t>Restrictions on Disclosure</a:t>
            </a:r>
          </a:p>
          <a:p>
            <a:pPr lvl="1"/>
            <a:r>
              <a:rPr lang="en-US" sz="2200" dirty="0"/>
              <a:t>CEs and BAs may not receive remuneration for disclosure of PHI without the individual’s consent</a:t>
            </a:r>
          </a:p>
          <a:p>
            <a:pPr lvl="1"/>
            <a:r>
              <a:rPr lang="en-US" sz="2200" dirty="0"/>
              <a:t>Exceptions include public health, treatment and research</a:t>
            </a:r>
          </a:p>
          <a:p>
            <a:pPr lvl="1"/>
            <a:r>
              <a:rPr lang="en-US" sz="2200" dirty="0"/>
              <a:t>Payment for research limited to cost of preparing and transmitting data</a:t>
            </a:r>
          </a:p>
          <a:p>
            <a:r>
              <a:rPr lang="en-US" sz="3200" dirty="0"/>
              <a:t>Marketing Restrictions – Effective 2/17/10</a:t>
            </a:r>
          </a:p>
          <a:p>
            <a:pPr lvl="1"/>
            <a:r>
              <a:rPr lang="en-US" sz="2000" dirty="0"/>
              <a:t>May not use PHI to inform individual about the CEs products or services without individual’s authorization if compensation is received from another party for making the communication</a:t>
            </a:r>
          </a:p>
          <a:p>
            <a:pPr lvl="1"/>
            <a:r>
              <a:rPr lang="en-US" sz="2000" dirty="0"/>
              <a:t>Does not apply when communication involves a drug the individual is taking and compensation for that communication is reasonable</a:t>
            </a:r>
          </a:p>
          <a:p>
            <a:pPr lvl="1"/>
            <a:endParaRPr lang="en-US" dirty="0"/>
          </a:p>
        </p:txBody>
      </p:sp>
    </p:spTree>
    <p:extLst>
      <p:ext uri="{BB962C8B-B14F-4D97-AF65-F5344CB8AC3E}">
        <p14:creationId xmlns:p14="http://schemas.microsoft.com/office/powerpoint/2010/main" val="4289024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2483" y="984874"/>
            <a:ext cx="8615737" cy="729375"/>
          </a:xfrm>
        </p:spPr>
        <p:txBody>
          <a:bodyPr/>
          <a:lstStyle/>
          <a:p>
            <a:r>
              <a:rPr lang="en-US" sz="6000" dirty="0"/>
              <a:t>HITECH Effective Dates</a:t>
            </a:r>
          </a:p>
        </p:txBody>
      </p:sp>
      <p:sp>
        <p:nvSpPr>
          <p:cNvPr id="3" name="Content Placeholder 2"/>
          <p:cNvSpPr>
            <a:spLocks noGrp="1"/>
          </p:cNvSpPr>
          <p:nvPr>
            <p:ph idx="1"/>
          </p:nvPr>
        </p:nvSpPr>
        <p:spPr>
          <a:xfrm>
            <a:off x="348131" y="2603500"/>
            <a:ext cx="11369393" cy="3416300"/>
          </a:xfrm>
        </p:spPr>
        <p:txBody>
          <a:bodyPr vert="horz" lIns="91440" tIns="45720" rIns="91440" bIns="45720" rtlCol="0" anchor="t">
            <a:normAutofit/>
          </a:bodyPr>
          <a:lstStyle/>
          <a:p>
            <a:r>
              <a:rPr lang="en-US" sz="3200" dirty="0"/>
              <a:t>Accounting for Disclosures – Effective 1/1/14 for CEs using electronic health records on 1/1/11 or the date the electronic health record was acquired</a:t>
            </a:r>
          </a:p>
          <a:p>
            <a:r>
              <a:rPr lang="en-US" sz="3200" dirty="0"/>
              <a:t>Required an accounting of disclosures of PHI upon request</a:t>
            </a:r>
          </a:p>
        </p:txBody>
      </p:sp>
    </p:spTree>
    <p:extLst>
      <p:ext uri="{BB962C8B-B14F-4D97-AF65-F5344CB8AC3E}">
        <p14:creationId xmlns:p14="http://schemas.microsoft.com/office/powerpoint/2010/main" val="38395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endParaRPr lang="en-US" dirty="0"/>
          </a:p>
        </p:txBody>
      </p:sp>
      <p:sp>
        <p:nvSpPr>
          <p:cNvPr id="4" name="Text Placeholder 3"/>
          <p:cNvSpPr>
            <a:spLocks noGrp="1"/>
          </p:cNvSpPr>
          <p:nvPr>
            <p:ph type="body" sz="quarter" idx="15"/>
          </p:nvPr>
        </p:nvSpPr>
        <p:spPr>
          <a:xfrm>
            <a:off x="1390920" y="1424998"/>
            <a:ext cx="9762186" cy="5189565"/>
          </a:xfrm>
        </p:spPr>
        <p:txBody>
          <a:bodyPr>
            <a:normAutofit/>
          </a:bodyPr>
          <a:lstStyle/>
          <a:p>
            <a:r>
              <a:rPr lang="en-US" sz="3800" dirty="0">
                <a:solidFill>
                  <a:schemeClr val="bg1"/>
                </a:solidFill>
              </a:rPr>
              <a:t>Decedent Information</a:t>
            </a:r>
          </a:p>
          <a:p>
            <a:pPr marL="457200" indent="-457200" algn="l">
              <a:buFont typeface="Arial" pitchFamily="34" charset="0"/>
              <a:buChar char="•"/>
            </a:pPr>
            <a:r>
              <a:rPr lang="en-US" sz="2400" dirty="0">
                <a:solidFill>
                  <a:schemeClr val="tx1"/>
                </a:solidFill>
              </a:rPr>
              <a:t>No longer have to protect an individual’s health info</a:t>
            </a:r>
          </a:p>
          <a:p>
            <a:pPr algn="l"/>
            <a:r>
              <a:rPr lang="en-US" sz="2400" dirty="0">
                <a:solidFill>
                  <a:schemeClr val="tx1"/>
                </a:solidFill>
              </a:rPr>
              <a:t>	  50 years following date of the individual’s death </a:t>
            </a:r>
          </a:p>
          <a:p>
            <a:pPr marL="457200" indent="-457200" algn="l">
              <a:buFont typeface="Arial" pitchFamily="34" charset="0"/>
              <a:buChar char="•"/>
            </a:pPr>
            <a:r>
              <a:rPr lang="en-US" sz="2400" dirty="0">
                <a:solidFill>
                  <a:schemeClr val="tx1"/>
                </a:solidFill>
              </a:rPr>
              <a:t>Disclosure of decedent’s PHI to family members and others involved in the care or payment for care (NY “qualified person”) </a:t>
            </a:r>
          </a:p>
          <a:p>
            <a:pPr algn="l"/>
            <a:r>
              <a:rPr lang="en-US" sz="2800" dirty="0">
                <a:solidFill>
                  <a:schemeClr val="tx1"/>
                </a:solidFill>
              </a:rPr>
              <a:t>		</a:t>
            </a:r>
            <a:r>
              <a:rPr lang="en-US" sz="2000" dirty="0">
                <a:solidFill>
                  <a:schemeClr val="tx1"/>
                </a:solidFill>
              </a:rPr>
              <a:t>- unless contrary to prior expressed preference </a:t>
            </a:r>
          </a:p>
          <a:p>
            <a:pPr algn="l"/>
            <a:r>
              <a:rPr lang="en-US" sz="2000" dirty="0">
                <a:solidFill>
                  <a:schemeClr val="tx1"/>
                </a:solidFill>
              </a:rPr>
              <a:t>		- limited to PHI relevant to person’s involvement</a:t>
            </a:r>
          </a:p>
          <a:p>
            <a:pPr marL="457200" indent="-457200" algn="l">
              <a:buFont typeface="Arial" pitchFamily="34" charset="0"/>
              <a:buChar char="•"/>
            </a:pPr>
            <a:r>
              <a:rPr lang="en-US" sz="2400" dirty="0">
                <a:solidFill>
                  <a:schemeClr val="tx1"/>
                </a:solidFill>
              </a:rPr>
              <a:t>Does not apply to sensitive information protected by state law (HIV/AIDS, mental health) or federal law (substance abuse treatment)</a:t>
            </a:r>
          </a:p>
        </p:txBody>
      </p:sp>
      <p:sp>
        <p:nvSpPr>
          <p:cNvPr id="2" name="Text Placeholder 1"/>
          <p:cNvSpPr>
            <a:spLocks noGrp="1"/>
          </p:cNvSpPr>
          <p:nvPr>
            <p:ph type="body" sz="quarter" idx="12"/>
          </p:nvPr>
        </p:nvSpPr>
        <p:spPr>
          <a:xfrm>
            <a:off x="6106392" y="464955"/>
            <a:ext cx="4281053" cy="381684"/>
          </a:xfrm>
        </p:spPr>
        <p:txBody>
          <a:bodyPr/>
          <a:lstStyle/>
          <a:p>
            <a:r>
              <a:rPr lang="en-US" dirty="0"/>
              <a:t>  </a:t>
            </a:r>
          </a:p>
          <a:p>
            <a:endParaRPr lang="en-US" dirty="0"/>
          </a:p>
          <a:p>
            <a:endParaRPr lang="en-US" dirty="0"/>
          </a:p>
          <a:p>
            <a:endParaRPr lang="en-US" dirty="0"/>
          </a:p>
          <a:p>
            <a:endParaRPr lang="en-US" dirty="0"/>
          </a:p>
          <a:p>
            <a:endParaRPr lang="en-US" dirty="0"/>
          </a:p>
          <a:p>
            <a:endParaRPr lang="en-US" dirty="0"/>
          </a:p>
        </p:txBody>
      </p:sp>
      <p:pic>
        <p:nvPicPr>
          <p:cNvPr id="7170" name="Picture 2" descr="C:\Documents and Settings\smusso\Local Settings\Temp\Temporary Internet Files\Content.IE5\SQAX1B37\MP900400722[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37379" y="4199075"/>
            <a:ext cx="1853799" cy="123550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085232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endParaRPr lang="en-US" dirty="0"/>
          </a:p>
        </p:txBody>
      </p:sp>
      <p:sp>
        <p:nvSpPr>
          <p:cNvPr id="4" name="Text Placeholder 3"/>
          <p:cNvSpPr>
            <a:spLocks noGrp="1"/>
          </p:cNvSpPr>
          <p:nvPr>
            <p:ph type="body" sz="quarter" idx="15"/>
          </p:nvPr>
        </p:nvSpPr>
        <p:spPr>
          <a:xfrm>
            <a:off x="1120463" y="1709491"/>
            <a:ext cx="10038374" cy="4918931"/>
          </a:xfrm>
        </p:spPr>
        <p:txBody>
          <a:bodyPr>
            <a:normAutofit fontScale="92500" lnSpcReduction="10000"/>
          </a:bodyPr>
          <a:lstStyle/>
          <a:p>
            <a:r>
              <a:rPr lang="en-US" sz="3400" dirty="0">
                <a:solidFill>
                  <a:schemeClr val="bg1"/>
                </a:solidFill>
              </a:rPr>
              <a:t>Fundraising</a:t>
            </a:r>
          </a:p>
          <a:p>
            <a:pPr algn="l"/>
            <a:r>
              <a:rPr lang="en-US" sz="2400" dirty="0">
                <a:solidFill>
                  <a:schemeClr val="tx1"/>
                </a:solidFill>
              </a:rPr>
              <a:t>Added categories of PHI that can be used/disclosed for fundraising purposes:</a:t>
            </a:r>
          </a:p>
          <a:p>
            <a:pPr algn="l"/>
            <a:r>
              <a:rPr lang="en-US" sz="2800" dirty="0">
                <a:solidFill>
                  <a:schemeClr val="tx1"/>
                </a:solidFill>
              </a:rPr>
              <a:t>		</a:t>
            </a:r>
            <a:r>
              <a:rPr lang="en-US" sz="1800" dirty="0">
                <a:solidFill>
                  <a:schemeClr val="tx1"/>
                </a:solidFill>
              </a:rPr>
              <a:t>Department or Service </a:t>
            </a:r>
          </a:p>
          <a:p>
            <a:pPr algn="l"/>
            <a:r>
              <a:rPr lang="en-US" sz="1800" dirty="0">
                <a:solidFill>
                  <a:schemeClr val="tx1"/>
                </a:solidFill>
              </a:rPr>
              <a:t>		Treating Physician </a:t>
            </a:r>
          </a:p>
          <a:p>
            <a:pPr algn="l"/>
            <a:r>
              <a:rPr lang="en-US" sz="1800" dirty="0">
                <a:solidFill>
                  <a:schemeClr val="tx1"/>
                </a:solidFill>
              </a:rPr>
              <a:t>		Outcome information </a:t>
            </a:r>
          </a:p>
          <a:p>
            <a:pPr algn="l"/>
            <a:r>
              <a:rPr lang="en-US" sz="1800" dirty="0">
                <a:solidFill>
                  <a:schemeClr val="tx1"/>
                </a:solidFill>
              </a:rPr>
              <a:t>		Health Insurance status</a:t>
            </a:r>
          </a:p>
          <a:p>
            <a:pPr algn="l"/>
            <a:r>
              <a:rPr lang="en-US" sz="2400" dirty="0">
                <a:solidFill>
                  <a:schemeClr val="tx1"/>
                </a:solidFill>
              </a:rPr>
              <a:t>Strengthened the opt-out for fundraising:</a:t>
            </a:r>
          </a:p>
          <a:p>
            <a:pPr algn="l"/>
            <a:r>
              <a:rPr lang="en-US" sz="2800" dirty="0">
                <a:solidFill>
                  <a:schemeClr val="tx1"/>
                </a:solidFill>
              </a:rPr>
              <a:t>		</a:t>
            </a:r>
            <a:r>
              <a:rPr lang="en-US" sz="1800">
                <a:solidFill>
                  <a:schemeClr val="tx1"/>
                </a:solidFill>
              </a:rPr>
              <a:t>Clear</a:t>
            </a:r>
          </a:p>
          <a:p>
            <a:pPr algn="l"/>
            <a:r>
              <a:rPr lang="en-US" sz="1800" dirty="0">
                <a:solidFill>
                  <a:schemeClr val="tx1"/>
                </a:solidFill>
              </a:rPr>
              <a:t>		Must not require undue burden</a:t>
            </a:r>
            <a:endParaRPr lang="en-US" dirty="0">
              <a:solidFill>
                <a:schemeClr val="tx1"/>
              </a:solidFill>
            </a:endParaRPr>
          </a:p>
          <a:p>
            <a:pPr algn="l"/>
            <a:r>
              <a:rPr lang="en-US" sz="1800" dirty="0">
                <a:solidFill>
                  <a:schemeClr val="tx1"/>
                </a:solidFill>
              </a:rPr>
              <a:t>		Must </a:t>
            </a:r>
            <a:r>
              <a:rPr lang="en-US" sz="1800" dirty="0"/>
              <a:t>ensure</a:t>
            </a:r>
            <a:r>
              <a:rPr lang="en-US" sz="1800" dirty="0">
                <a:solidFill>
                  <a:schemeClr val="tx1"/>
                </a:solidFill>
              </a:rPr>
              <a:t> no further fundraising communications are sent	</a:t>
            </a:r>
          </a:p>
          <a:p>
            <a:pPr algn="l"/>
            <a:r>
              <a:rPr lang="en-US" sz="2400" dirty="0">
                <a:solidFill>
                  <a:schemeClr val="tx1"/>
                </a:solidFill>
              </a:rPr>
              <a:t>Must provide method to opt-back-in</a:t>
            </a:r>
          </a:p>
        </p:txBody>
      </p:sp>
      <p:sp>
        <p:nvSpPr>
          <p:cNvPr id="2" name="Text Placeholder 1"/>
          <p:cNvSpPr>
            <a:spLocks noGrp="1"/>
          </p:cNvSpPr>
          <p:nvPr>
            <p:ph type="body" sz="quarter" idx="12"/>
          </p:nvPr>
        </p:nvSpPr>
        <p:spPr>
          <a:xfrm>
            <a:off x="6106392" y="464955"/>
            <a:ext cx="4281053" cy="381684"/>
          </a:xfrm>
        </p:spPr>
        <p:txBody>
          <a:bodyPr/>
          <a:lstStyle/>
          <a:p>
            <a:endParaRPr lang="en-US" dirty="0"/>
          </a:p>
          <a:p>
            <a:endParaRPr lang="en-US" dirty="0"/>
          </a:p>
          <a:p>
            <a:endParaRPr lang="en-US" dirty="0"/>
          </a:p>
          <a:p>
            <a:endParaRPr lang="en-US" dirty="0"/>
          </a:p>
        </p:txBody>
      </p:sp>
      <p:pic>
        <p:nvPicPr>
          <p:cNvPr id="2051" name="Picture 3" descr="C:\Documents and Settings\smusso\Local Settings\Temp\Temporary Internet Files\Content.IE5\CSYVJMRN\MC900301382[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03738" y="3720492"/>
            <a:ext cx="1806854" cy="179405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184651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endParaRPr lang="en-US" dirty="0"/>
          </a:p>
        </p:txBody>
      </p:sp>
      <p:sp>
        <p:nvSpPr>
          <p:cNvPr id="4" name="Text Placeholder 3"/>
          <p:cNvSpPr>
            <a:spLocks noGrp="1"/>
          </p:cNvSpPr>
          <p:nvPr>
            <p:ph type="body" sz="quarter" idx="15"/>
          </p:nvPr>
        </p:nvSpPr>
        <p:spPr>
          <a:xfrm>
            <a:off x="948906" y="785610"/>
            <a:ext cx="10351698" cy="5577089"/>
          </a:xfrm>
        </p:spPr>
        <p:txBody>
          <a:bodyPr>
            <a:normAutofit/>
          </a:bodyPr>
          <a:lstStyle/>
          <a:p>
            <a:pPr algn="l"/>
            <a:r>
              <a:rPr lang="en-US" sz="3200" dirty="0"/>
              <a:t>               </a:t>
            </a:r>
            <a:r>
              <a:rPr lang="en-US" sz="3200" dirty="0">
                <a:solidFill>
                  <a:schemeClr val="bg1"/>
                </a:solidFill>
              </a:rPr>
              <a:t>Risk of Harm &gt;Assessment of Probability</a:t>
            </a:r>
          </a:p>
          <a:p>
            <a:pPr marL="342900" indent="-342900" algn="l">
              <a:buFont typeface="Arial" panose="020B0604020202020204" pitchFamily="34" charset="0"/>
              <a:buChar char="•"/>
            </a:pPr>
            <a:endParaRPr lang="en-US" sz="2400" dirty="0"/>
          </a:p>
          <a:p>
            <a:pPr marL="342900" indent="-342900" algn="l">
              <a:buFont typeface="Arial" panose="020B0604020202020204" pitchFamily="34" charset="0"/>
              <a:buChar char="•"/>
            </a:pPr>
            <a:r>
              <a:rPr lang="en-US" sz="2400" dirty="0">
                <a:solidFill>
                  <a:schemeClr val="tx1"/>
                </a:solidFill>
              </a:rPr>
              <a:t>In the past required to notify patient when their PHI did not get to the correct recipient</a:t>
            </a:r>
          </a:p>
          <a:p>
            <a:pPr marL="342900" indent="-342900" algn="l">
              <a:buFont typeface="Arial" panose="020B0604020202020204" pitchFamily="34" charset="0"/>
              <a:buChar char="•"/>
            </a:pPr>
            <a:r>
              <a:rPr lang="en-US" sz="2400" dirty="0">
                <a:solidFill>
                  <a:schemeClr val="tx1"/>
                </a:solidFill>
              </a:rPr>
              <a:t>The probability that PHI has been compromised must be considered</a:t>
            </a:r>
          </a:p>
          <a:p>
            <a:pPr marL="342900" indent="-342900" algn="l">
              <a:buFont typeface="Arial" panose="020B0604020202020204" pitchFamily="34" charset="0"/>
              <a:buChar char="•"/>
            </a:pPr>
            <a:r>
              <a:rPr lang="en-US" sz="2400" dirty="0">
                <a:solidFill>
                  <a:schemeClr val="tx1"/>
                </a:solidFill>
              </a:rPr>
              <a:t>Example: a document with PHI is scanned into the wrong personal health record chart. We can see the wrong person has logged into their own chart, but we cannot prove they actually saw the scanned document, but the probability is high enough that it would be considered a breach</a:t>
            </a:r>
            <a:endParaRPr lang="en-US" sz="2200" dirty="0">
              <a:solidFill>
                <a:schemeClr val="tx1"/>
              </a:solidFill>
            </a:endParaRPr>
          </a:p>
        </p:txBody>
      </p:sp>
      <p:sp>
        <p:nvSpPr>
          <p:cNvPr id="2" name="Text Placeholder 1"/>
          <p:cNvSpPr>
            <a:spLocks noGrp="1"/>
          </p:cNvSpPr>
          <p:nvPr>
            <p:ph type="body" sz="quarter" idx="12"/>
          </p:nvPr>
        </p:nvSpPr>
        <p:spPr>
          <a:xfrm>
            <a:off x="6096001" y="304800"/>
            <a:ext cx="4281053" cy="381684"/>
          </a:xfrm>
        </p:spPr>
        <p:txBody>
          <a:bodyPr/>
          <a:lstStyle/>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88063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32D2D0-5857-7CE9-C126-2223F05C58D7}"/>
              </a:ext>
            </a:extLst>
          </p:cNvPr>
          <p:cNvSpPr>
            <a:spLocks noGrp="1"/>
          </p:cNvSpPr>
          <p:nvPr>
            <p:ph type="body" sz="quarter" idx="14"/>
          </p:nvPr>
        </p:nvSpPr>
        <p:spPr/>
        <p:txBody>
          <a:bodyPr/>
          <a:lstStyle/>
          <a:p>
            <a:endParaRPr lang="en-US"/>
          </a:p>
        </p:txBody>
      </p:sp>
      <p:sp>
        <p:nvSpPr>
          <p:cNvPr id="3" name="Text Placeholder 2">
            <a:extLst>
              <a:ext uri="{FF2B5EF4-FFF2-40B4-BE49-F238E27FC236}">
                <a16:creationId xmlns:a16="http://schemas.microsoft.com/office/drawing/2014/main" id="{24C6DC26-BD9A-B8FD-A768-9977FE8D77DB}"/>
              </a:ext>
            </a:extLst>
          </p:cNvPr>
          <p:cNvSpPr>
            <a:spLocks noGrp="1"/>
          </p:cNvSpPr>
          <p:nvPr>
            <p:ph type="body" sz="quarter" idx="15"/>
          </p:nvPr>
        </p:nvSpPr>
        <p:spPr>
          <a:xfrm>
            <a:off x="609600" y="1106395"/>
            <a:ext cx="10961595" cy="5239558"/>
          </a:xfrm>
        </p:spPr>
        <p:txBody>
          <a:bodyPr/>
          <a:lstStyle/>
          <a:p>
            <a:r>
              <a:rPr lang="en-US" dirty="0"/>
              <a:t>Breakout Groups</a:t>
            </a:r>
          </a:p>
          <a:p>
            <a:r>
              <a:rPr lang="en-US" sz="3200" dirty="0"/>
              <a:t>Think of an example where PHI is compromised and talk about whether the patient whose data was compromised should be notified or not</a:t>
            </a:r>
            <a:endParaRPr lang="en-US" dirty="0"/>
          </a:p>
        </p:txBody>
      </p:sp>
    </p:spTree>
    <p:extLst>
      <p:ext uri="{BB962C8B-B14F-4D97-AF65-F5344CB8AC3E}">
        <p14:creationId xmlns:p14="http://schemas.microsoft.com/office/powerpoint/2010/main" val="12863333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1140</Words>
  <Application>Microsoft Office PowerPoint</Application>
  <PresentationFormat>Widescreen</PresentationFormat>
  <Paragraphs>127</Paragraphs>
  <Slides>9</Slides>
  <Notes>2</Notes>
  <HiddenSlides>0</HiddenSlides>
  <MMClips>1</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Ion Boardroom</vt:lpstr>
      <vt:lpstr>Sections of HITECH</vt:lpstr>
      <vt:lpstr>HITECH Effective Dates</vt:lpstr>
      <vt:lpstr>HITECH Effective Dates</vt:lpstr>
      <vt:lpstr>HITECH Effective Dates</vt:lpstr>
      <vt:lpstr>HITECH Effective Dates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Blake Benz</dc:creator>
  <cp:lastModifiedBy>Blake Benz</cp:lastModifiedBy>
  <cp:revision>134</cp:revision>
  <dcterms:created xsi:type="dcterms:W3CDTF">2021-05-24T15:17:26Z</dcterms:created>
  <dcterms:modified xsi:type="dcterms:W3CDTF">2025-07-21T21:38:27Z</dcterms:modified>
</cp:coreProperties>
</file>