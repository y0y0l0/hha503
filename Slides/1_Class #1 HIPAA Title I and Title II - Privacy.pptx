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7"/>
  </p:notesMasterIdLst>
  <p:handoutMasterIdLst>
    <p:handoutMasterId r:id="rId28"/>
  </p:handoutMasterIdLst>
  <p:sldIdLst>
    <p:sldId id="346" r:id="rId2"/>
    <p:sldId id="259" r:id="rId3"/>
    <p:sldId id="364" r:id="rId4"/>
    <p:sldId id="347" r:id="rId5"/>
    <p:sldId id="363" r:id="rId6"/>
    <p:sldId id="348" r:id="rId7"/>
    <p:sldId id="285" r:id="rId8"/>
    <p:sldId id="260" r:id="rId9"/>
    <p:sldId id="351" r:id="rId10"/>
    <p:sldId id="352" r:id="rId11"/>
    <p:sldId id="353" r:id="rId12"/>
    <p:sldId id="354" r:id="rId13"/>
    <p:sldId id="357" r:id="rId14"/>
    <p:sldId id="355" r:id="rId15"/>
    <p:sldId id="356" r:id="rId16"/>
    <p:sldId id="358" r:id="rId17"/>
    <p:sldId id="287" r:id="rId18"/>
    <p:sldId id="366" r:id="rId19"/>
    <p:sldId id="289" r:id="rId20"/>
    <p:sldId id="359" r:id="rId21"/>
    <p:sldId id="280" r:id="rId22"/>
    <p:sldId id="292" r:id="rId23"/>
    <p:sldId id="293" r:id="rId24"/>
    <p:sldId id="369" r:id="rId25"/>
    <p:sldId id="36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8D1DD37-64E8-4EA1-A4BE-FA13953DA3FA}">
          <p14:sldIdLst>
            <p14:sldId id="346"/>
            <p14:sldId id="259"/>
            <p14:sldId id="364"/>
            <p14:sldId id="347"/>
            <p14:sldId id="363"/>
            <p14:sldId id="348"/>
            <p14:sldId id="285"/>
            <p14:sldId id="260"/>
            <p14:sldId id="351"/>
            <p14:sldId id="352"/>
            <p14:sldId id="353"/>
            <p14:sldId id="354"/>
            <p14:sldId id="357"/>
            <p14:sldId id="355"/>
            <p14:sldId id="356"/>
            <p14:sldId id="358"/>
            <p14:sldId id="287"/>
            <p14:sldId id="366"/>
            <p14:sldId id="289"/>
            <p14:sldId id="359"/>
            <p14:sldId id="280"/>
            <p14:sldId id="292"/>
            <p14:sldId id="293"/>
            <p14:sldId id="369"/>
            <p14:sldId id="367"/>
          </p14:sldIdLst>
        </p14:section>
        <p14:section name="Untitled Section" id="{08DBDB23-4958-4DED-B9F2-2291F95C53C5}">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CA1666-7559-2641-47CD-DAF8FA6A577D}" v="70" dt="2025-07-07T18:37:53.3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84585" autoAdjust="0"/>
  </p:normalViewPr>
  <p:slideViewPr>
    <p:cSldViewPr snapToGrid="0">
      <p:cViewPr varScale="1">
        <p:scale>
          <a:sx n="61" d="100"/>
          <a:sy n="61" d="100"/>
        </p:scale>
        <p:origin x="1291" y="27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ake Benz" userId="8a97c15f36056bdc" providerId="Windows Live" clId="Web-{B2E5021B-BFF5-4009-8223-0719832AADDF}"/>
    <pc:docChg chg="delSld modSld modSection">
      <pc:chgData name="Blake Benz" userId="8a97c15f36056bdc" providerId="Windows Live" clId="Web-{B2E5021B-BFF5-4009-8223-0719832AADDF}" dt="2024-06-18T20:44:00.785" v="138"/>
      <pc:docMkLst>
        <pc:docMk/>
      </pc:docMkLst>
      <pc:sldChg chg="modSp">
        <pc:chgData name="Blake Benz" userId="8a97c15f36056bdc" providerId="Windows Live" clId="Web-{B2E5021B-BFF5-4009-8223-0719832AADDF}" dt="2024-06-18T20:41:49.521" v="127" actId="20577"/>
        <pc:sldMkLst>
          <pc:docMk/>
          <pc:sldMk cId="4067169990" sldId="280"/>
        </pc:sldMkLst>
      </pc:sldChg>
      <pc:sldChg chg="modSp">
        <pc:chgData name="Blake Benz" userId="8a97c15f36056bdc" providerId="Windows Live" clId="Web-{B2E5021B-BFF5-4009-8223-0719832AADDF}" dt="2024-06-18T20:42:45.583" v="137" actId="1076"/>
        <pc:sldMkLst>
          <pc:docMk/>
          <pc:sldMk cId="1239076623" sldId="290"/>
        </pc:sldMkLst>
      </pc:sldChg>
      <pc:sldChg chg="del">
        <pc:chgData name="Blake Benz" userId="8a97c15f36056bdc" providerId="Windows Live" clId="Web-{B2E5021B-BFF5-4009-8223-0719832AADDF}" dt="2024-06-18T20:44:00.785" v="138"/>
        <pc:sldMkLst>
          <pc:docMk/>
          <pc:sldMk cId="1780328546" sldId="291"/>
        </pc:sldMkLst>
      </pc:sldChg>
      <pc:sldChg chg="modSp">
        <pc:chgData name="Blake Benz" userId="8a97c15f36056bdc" providerId="Windows Live" clId="Web-{B2E5021B-BFF5-4009-8223-0719832AADDF}" dt="2024-06-18T20:15:48.534" v="0" actId="20577"/>
        <pc:sldMkLst>
          <pc:docMk/>
          <pc:sldMk cId="2193329928" sldId="346"/>
        </pc:sldMkLst>
      </pc:sldChg>
      <pc:sldChg chg="modSp">
        <pc:chgData name="Blake Benz" userId="8a97c15f36056bdc" providerId="Windows Live" clId="Web-{B2E5021B-BFF5-4009-8223-0719832AADDF}" dt="2024-06-18T20:16:44.127" v="8" actId="1076"/>
        <pc:sldMkLst>
          <pc:docMk/>
          <pc:sldMk cId="4029029102" sldId="348"/>
        </pc:sldMkLst>
      </pc:sldChg>
      <pc:sldChg chg="del">
        <pc:chgData name="Blake Benz" userId="8a97c15f36056bdc" providerId="Windows Live" clId="Web-{B2E5021B-BFF5-4009-8223-0719832AADDF}" dt="2024-06-18T20:21:50.281" v="9"/>
        <pc:sldMkLst>
          <pc:docMk/>
          <pc:sldMk cId="2598030702" sldId="349"/>
        </pc:sldMkLst>
      </pc:sldChg>
      <pc:sldChg chg="modSp">
        <pc:chgData name="Blake Benz" userId="8a97c15f36056bdc" providerId="Windows Live" clId="Web-{B2E5021B-BFF5-4009-8223-0719832AADDF}" dt="2024-06-18T20:22:54.624" v="10" actId="20577"/>
        <pc:sldMkLst>
          <pc:docMk/>
          <pc:sldMk cId="954371629" sldId="353"/>
        </pc:sldMkLst>
      </pc:sldChg>
      <pc:sldChg chg="modSp">
        <pc:chgData name="Blake Benz" userId="8a97c15f36056bdc" providerId="Windows Live" clId="Web-{B2E5021B-BFF5-4009-8223-0719832AADDF}" dt="2024-06-18T20:23:27.811" v="16" actId="14100"/>
        <pc:sldMkLst>
          <pc:docMk/>
          <pc:sldMk cId="2199123092" sldId="354"/>
        </pc:sldMkLst>
      </pc:sldChg>
      <pc:sldChg chg="modSp">
        <pc:chgData name="Blake Benz" userId="8a97c15f36056bdc" providerId="Windows Live" clId="Web-{B2E5021B-BFF5-4009-8223-0719832AADDF}" dt="2024-06-18T20:25:06.779" v="30" actId="20577"/>
        <pc:sldMkLst>
          <pc:docMk/>
          <pc:sldMk cId="2726837347" sldId="355"/>
        </pc:sldMkLst>
      </pc:sldChg>
      <pc:sldChg chg="modSp">
        <pc:chgData name="Blake Benz" userId="8a97c15f36056bdc" providerId="Windows Live" clId="Web-{B2E5021B-BFF5-4009-8223-0719832AADDF}" dt="2024-06-18T20:39:50.397" v="104" actId="20577"/>
        <pc:sldMkLst>
          <pc:docMk/>
          <pc:sldMk cId="590317366" sldId="356"/>
        </pc:sldMkLst>
      </pc:sldChg>
      <pc:sldChg chg="modSp">
        <pc:chgData name="Blake Benz" userId="8a97c15f36056bdc" providerId="Windows Live" clId="Web-{B2E5021B-BFF5-4009-8223-0719832AADDF}" dt="2024-06-18T20:24:17.186" v="23" actId="14100"/>
        <pc:sldMkLst>
          <pc:docMk/>
          <pc:sldMk cId="4102716090" sldId="357"/>
        </pc:sldMkLst>
      </pc:sldChg>
      <pc:sldChg chg="modSp">
        <pc:chgData name="Blake Benz" userId="8a97c15f36056bdc" providerId="Windows Live" clId="Web-{B2E5021B-BFF5-4009-8223-0719832AADDF}" dt="2024-06-18T20:25:34.904" v="32" actId="20577"/>
        <pc:sldMkLst>
          <pc:docMk/>
          <pc:sldMk cId="1301917395" sldId="358"/>
        </pc:sldMkLst>
      </pc:sldChg>
      <pc:sldChg chg="modSp">
        <pc:chgData name="Blake Benz" userId="8a97c15f36056bdc" providerId="Windows Live" clId="Web-{B2E5021B-BFF5-4009-8223-0719832AADDF}" dt="2024-06-18T20:27:07.091" v="47" actId="20577"/>
        <pc:sldMkLst>
          <pc:docMk/>
          <pc:sldMk cId="135463201" sldId="366"/>
        </pc:sldMkLst>
      </pc:sldChg>
    </pc:docChg>
  </pc:docChgLst>
  <pc:docChgLst>
    <pc:chgData name="Blake Benz" userId="8a97c15f36056bdc" providerId="Windows Live" clId="Web-{BDCA1666-7559-2641-47CD-DAF8FA6A577D}"/>
    <pc:docChg chg="modSld">
      <pc:chgData name="Blake Benz" userId="8a97c15f36056bdc" providerId="Windows Live" clId="Web-{BDCA1666-7559-2641-47CD-DAF8FA6A577D}" dt="2025-07-07T18:37:52.862" v="60" actId="20577"/>
      <pc:docMkLst>
        <pc:docMk/>
      </pc:docMkLst>
      <pc:sldChg chg="modSp">
        <pc:chgData name="Blake Benz" userId="8a97c15f36056bdc" providerId="Windows Live" clId="Web-{BDCA1666-7559-2641-47CD-DAF8FA6A577D}" dt="2025-07-07T18:12:35.514" v="26" actId="1076"/>
        <pc:sldMkLst>
          <pc:docMk/>
          <pc:sldMk cId="1718994618" sldId="285"/>
        </pc:sldMkLst>
        <pc:spChg chg="mod">
          <ac:chgData name="Blake Benz" userId="8a97c15f36056bdc" providerId="Windows Live" clId="Web-{BDCA1666-7559-2641-47CD-DAF8FA6A577D}" dt="2025-07-07T18:12:35.514" v="26" actId="1076"/>
          <ac:spMkLst>
            <pc:docMk/>
            <pc:sldMk cId="1718994618" sldId="285"/>
            <ac:spMk id="23554" creationId="{00000000-0000-0000-0000-000000000000}"/>
          </ac:spMkLst>
        </pc:spChg>
      </pc:sldChg>
      <pc:sldChg chg="modSp">
        <pc:chgData name="Blake Benz" userId="8a97c15f36056bdc" providerId="Windows Live" clId="Web-{BDCA1666-7559-2641-47CD-DAF8FA6A577D}" dt="2025-07-07T18:16:45.757" v="32" actId="14100"/>
        <pc:sldMkLst>
          <pc:docMk/>
          <pc:sldMk cId="2716262506" sldId="351"/>
        </pc:sldMkLst>
        <pc:spChg chg="mod">
          <ac:chgData name="Blake Benz" userId="8a97c15f36056bdc" providerId="Windows Live" clId="Web-{BDCA1666-7559-2641-47CD-DAF8FA6A577D}" dt="2025-07-07T18:16:45.757" v="32" actId="14100"/>
          <ac:spMkLst>
            <pc:docMk/>
            <pc:sldMk cId="2716262506" sldId="351"/>
            <ac:spMk id="3" creationId="{00000000-0000-0000-0000-000000000000}"/>
          </ac:spMkLst>
        </pc:spChg>
      </pc:sldChg>
      <pc:sldChg chg="modSp">
        <pc:chgData name="Blake Benz" userId="8a97c15f36056bdc" providerId="Windows Live" clId="Web-{BDCA1666-7559-2641-47CD-DAF8FA6A577D}" dt="2025-07-07T18:21:28.392" v="42" actId="20577"/>
        <pc:sldMkLst>
          <pc:docMk/>
          <pc:sldMk cId="2199123092" sldId="354"/>
        </pc:sldMkLst>
        <pc:spChg chg="mod">
          <ac:chgData name="Blake Benz" userId="8a97c15f36056bdc" providerId="Windows Live" clId="Web-{BDCA1666-7559-2641-47CD-DAF8FA6A577D}" dt="2025-07-07T18:21:28.392" v="42" actId="20577"/>
          <ac:spMkLst>
            <pc:docMk/>
            <pc:sldMk cId="2199123092" sldId="354"/>
            <ac:spMk id="3" creationId="{00000000-0000-0000-0000-000000000000}"/>
          </ac:spMkLst>
        </pc:spChg>
      </pc:sldChg>
      <pc:sldChg chg="modSp">
        <pc:chgData name="Blake Benz" userId="8a97c15f36056bdc" providerId="Windows Live" clId="Web-{BDCA1666-7559-2641-47CD-DAF8FA6A577D}" dt="2025-07-07T18:25:21.978" v="45" actId="20577"/>
        <pc:sldMkLst>
          <pc:docMk/>
          <pc:sldMk cId="4102716090" sldId="357"/>
        </pc:sldMkLst>
        <pc:spChg chg="mod">
          <ac:chgData name="Blake Benz" userId="8a97c15f36056bdc" providerId="Windows Live" clId="Web-{BDCA1666-7559-2641-47CD-DAF8FA6A577D}" dt="2025-07-07T18:25:21.978" v="45" actId="20577"/>
          <ac:spMkLst>
            <pc:docMk/>
            <pc:sldMk cId="4102716090" sldId="357"/>
            <ac:spMk id="3" creationId="{00000000-0000-0000-0000-000000000000}"/>
          </ac:spMkLst>
        </pc:spChg>
      </pc:sldChg>
      <pc:sldChg chg="modSp">
        <pc:chgData name="Blake Benz" userId="8a97c15f36056bdc" providerId="Windows Live" clId="Web-{BDCA1666-7559-2641-47CD-DAF8FA6A577D}" dt="2025-07-07T18:03:23.746" v="25" actId="20577"/>
        <pc:sldMkLst>
          <pc:docMk/>
          <pc:sldMk cId="1005069057" sldId="363"/>
        </pc:sldMkLst>
        <pc:spChg chg="mod">
          <ac:chgData name="Blake Benz" userId="8a97c15f36056bdc" providerId="Windows Live" clId="Web-{BDCA1666-7559-2641-47CD-DAF8FA6A577D}" dt="2025-07-07T18:03:20.449" v="17" actId="20577"/>
          <ac:spMkLst>
            <pc:docMk/>
            <pc:sldMk cId="1005069057" sldId="363"/>
            <ac:spMk id="2" creationId="{654DC522-6E5B-4C1A-BA22-6288B155AE57}"/>
          </ac:spMkLst>
        </pc:spChg>
        <pc:spChg chg="mod">
          <ac:chgData name="Blake Benz" userId="8a97c15f36056bdc" providerId="Windows Live" clId="Web-{BDCA1666-7559-2641-47CD-DAF8FA6A577D}" dt="2025-07-07T18:03:23.746" v="25" actId="20577"/>
          <ac:spMkLst>
            <pc:docMk/>
            <pc:sldMk cId="1005069057" sldId="363"/>
            <ac:spMk id="3" creationId="{413A3BC8-205E-4A62-82F2-9F4EBC8039D3}"/>
          </ac:spMkLst>
        </pc:spChg>
      </pc:sldChg>
      <pc:sldChg chg="modSp">
        <pc:chgData name="Blake Benz" userId="8a97c15f36056bdc" providerId="Windows Live" clId="Web-{BDCA1666-7559-2641-47CD-DAF8FA6A577D}" dt="2025-07-07T18:01:37.008" v="4" actId="20577"/>
        <pc:sldMkLst>
          <pc:docMk/>
          <pc:sldMk cId="1962637312" sldId="364"/>
        </pc:sldMkLst>
        <pc:spChg chg="mod">
          <ac:chgData name="Blake Benz" userId="8a97c15f36056bdc" providerId="Windows Live" clId="Web-{BDCA1666-7559-2641-47CD-DAF8FA6A577D}" dt="2025-07-07T18:01:37.008" v="4" actId="20577"/>
          <ac:spMkLst>
            <pc:docMk/>
            <pc:sldMk cId="1962637312" sldId="364"/>
            <ac:spMk id="3" creationId="{D7287B5A-46F7-4A39-B78D-75F7A2310B74}"/>
          </ac:spMkLst>
        </pc:spChg>
      </pc:sldChg>
      <pc:sldChg chg="modSp">
        <pc:chgData name="Blake Benz" userId="8a97c15f36056bdc" providerId="Windows Live" clId="Web-{BDCA1666-7559-2641-47CD-DAF8FA6A577D}" dt="2025-07-07T18:37:52.862" v="60" actId="20577"/>
        <pc:sldMkLst>
          <pc:docMk/>
          <pc:sldMk cId="1660442844" sldId="369"/>
        </pc:sldMkLst>
        <pc:spChg chg="mod">
          <ac:chgData name="Blake Benz" userId="8a97c15f36056bdc" providerId="Windows Live" clId="Web-{BDCA1666-7559-2641-47CD-DAF8FA6A577D}" dt="2025-07-07T18:37:52.862" v="60" actId="20577"/>
          <ac:spMkLst>
            <pc:docMk/>
            <pc:sldMk cId="1660442844" sldId="369"/>
            <ac:spMk id="20483" creationId="{00000000-0000-0000-0000-000000000000}"/>
          </ac:spMkLst>
        </pc:spChg>
      </pc:sldChg>
    </pc:docChg>
  </pc:docChgLst>
  <pc:docChgLst>
    <pc:chgData name="Blake Benz" userId="8a97c15f36056bdc" providerId="Windows Live" clId="Web-{ABC40579-42B4-4109-A04F-3220BF3E421B}"/>
    <pc:docChg chg="delSld modSld modSection">
      <pc:chgData name="Blake Benz" userId="8a97c15f36056bdc" providerId="Windows Live" clId="Web-{ABC40579-42B4-4109-A04F-3220BF3E421B}" dt="2024-06-18T18:58:34.201" v="23" actId="20577"/>
      <pc:docMkLst>
        <pc:docMk/>
      </pc:docMkLst>
      <pc:sldChg chg="del">
        <pc:chgData name="Blake Benz" userId="8a97c15f36056bdc" providerId="Windows Live" clId="Web-{ABC40579-42B4-4109-A04F-3220BF3E421B}" dt="2024-06-18T18:58:13.981" v="21"/>
        <pc:sldMkLst>
          <pc:docMk/>
          <pc:sldMk cId="1718994618" sldId="285"/>
        </pc:sldMkLst>
      </pc:sldChg>
      <pc:sldChg chg="modSp">
        <pc:chgData name="Blake Benz" userId="8a97c15f36056bdc" providerId="Windows Live" clId="Web-{ABC40579-42B4-4109-A04F-3220BF3E421B}" dt="2024-06-18T18:53:48.894" v="20" actId="20577"/>
        <pc:sldMkLst>
          <pc:docMk/>
          <pc:sldMk cId="608694774" sldId="352"/>
        </pc:sldMkLst>
      </pc:sldChg>
      <pc:sldChg chg="modSp">
        <pc:chgData name="Blake Benz" userId="8a97c15f36056bdc" providerId="Windows Live" clId="Web-{ABC40579-42B4-4109-A04F-3220BF3E421B}" dt="2024-06-18T18:52:03.468" v="15" actId="20577"/>
        <pc:sldMkLst>
          <pc:docMk/>
          <pc:sldMk cId="1962637312" sldId="364"/>
        </pc:sldMkLst>
      </pc:sldChg>
      <pc:sldChg chg="del">
        <pc:chgData name="Blake Benz" userId="8a97c15f36056bdc" providerId="Windows Live" clId="Web-{ABC40579-42B4-4109-A04F-3220BF3E421B}" dt="2024-06-18T18:58:25.419" v="22"/>
        <pc:sldMkLst>
          <pc:docMk/>
          <pc:sldMk cId="881737310" sldId="368"/>
        </pc:sldMkLst>
      </pc:sldChg>
      <pc:sldChg chg="modSp">
        <pc:chgData name="Blake Benz" userId="8a97c15f36056bdc" providerId="Windows Live" clId="Web-{ABC40579-42B4-4109-A04F-3220BF3E421B}" dt="2024-06-18T18:58:34.201" v="23" actId="20577"/>
        <pc:sldMkLst>
          <pc:docMk/>
          <pc:sldMk cId="1660442844" sldId="369"/>
        </pc:sldMkLst>
      </pc:sldChg>
    </pc:docChg>
  </pc:docChgLst>
  <pc:docChgLst>
    <pc:chgData name="Blake Benz" userId="8a97c15f36056bdc" providerId="LiveId" clId="{B16E5186-55BE-4808-8DA9-FB0791032764}"/>
    <pc:docChg chg="delSld modSection">
      <pc:chgData name="Blake Benz" userId="8a97c15f36056bdc" providerId="LiveId" clId="{B16E5186-55BE-4808-8DA9-FB0791032764}" dt="2025-03-26T17:44:13.845" v="0" actId="47"/>
      <pc:docMkLst>
        <pc:docMk/>
      </pc:docMkLst>
      <pc:sldChg chg="del">
        <pc:chgData name="Blake Benz" userId="8a97c15f36056bdc" providerId="LiveId" clId="{B16E5186-55BE-4808-8DA9-FB0791032764}" dt="2025-03-26T17:44:13.845" v="0" actId="47"/>
        <pc:sldMkLst>
          <pc:docMk/>
          <pc:sldMk cId="233992111" sldId="257"/>
        </pc:sldMkLst>
      </pc:sldChg>
    </pc:docChg>
  </pc:docChgLst>
  <pc:docChgLst>
    <pc:chgData name="Blake Benz" userId="8a97c15f36056bdc" providerId="Windows Live" clId="Web-{7BDF772F-077A-DD66-B71A-6E9C9E8539F4}"/>
    <pc:docChg chg="delSld modSld sldOrd modSection">
      <pc:chgData name="Blake Benz" userId="8a97c15f36056bdc" providerId="Windows Live" clId="Web-{7BDF772F-077A-DD66-B71A-6E9C9E8539F4}" dt="2025-05-23T19:55:50.683" v="66"/>
      <pc:docMkLst>
        <pc:docMk/>
      </pc:docMkLst>
      <pc:sldChg chg="modSp">
        <pc:chgData name="Blake Benz" userId="8a97c15f36056bdc" providerId="Windows Live" clId="Web-{7BDF772F-077A-DD66-B71A-6E9C9E8539F4}" dt="2025-05-23T19:54:07.538" v="65" actId="20577"/>
        <pc:sldMkLst>
          <pc:docMk/>
          <pc:sldMk cId="358573184" sldId="289"/>
        </pc:sldMkLst>
      </pc:sldChg>
      <pc:sldChg chg="del">
        <pc:chgData name="Blake Benz" userId="8a97c15f36056bdc" providerId="Windows Live" clId="Web-{7BDF772F-077A-DD66-B71A-6E9C9E8539F4}" dt="2025-05-23T19:55:50.683" v="66"/>
        <pc:sldMkLst>
          <pc:docMk/>
          <pc:sldMk cId="1239076623" sldId="290"/>
        </pc:sldMkLst>
      </pc:sldChg>
      <pc:sldChg chg="modSp">
        <pc:chgData name="Blake Benz" userId="8a97c15f36056bdc" providerId="Windows Live" clId="Web-{7BDF772F-077A-DD66-B71A-6E9C9E8539F4}" dt="2025-05-23T19:44:29.986" v="20" actId="20577"/>
        <pc:sldMkLst>
          <pc:docMk/>
          <pc:sldMk cId="2046208740" sldId="347"/>
        </pc:sldMkLst>
      </pc:sldChg>
      <pc:sldChg chg="ord">
        <pc:chgData name="Blake Benz" userId="8a97c15f36056bdc" providerId="Windows Live" clId="Web-{7BDF772F-077A-DD66-B71A-6E9C9E8539F4}" dt="2025-05-23T19:28:23.935" v="0"/>
        <pc:sldMkLst>
          <pc:docMk/>
          <pc:sldMk cId="1962637312" sldId="364"/>
        </pc:sldMkLst>
      </pc:sldChg>
    </pc:docChg>
  </pc:docChgLst>
  <pc:docChgLst>
    <pc:chgData name="Blake Benz" userId="8a97c15f36056bdc" providerId="Windows Live" clId="Web-{3859B432-4986-4233-AED8-9A14C6284B87}"/>
    <pc:docChg chg="addSld modSld sldOrd modSection">
      <pc:chgData name="Blake Benz" userId="8a97c15f36056bdc" providerId="Windows Live" clId="Web-{3859B432-4986-4233-AED8-9A14C6284B87}" dt="2024-06-17T21:18:24.779" v="54" actId="20577"/>
      <pc:docMkLst>
        <pc:docMk/>
      </pc:docMkLst>
      <pc:sldChg chg="modSp ord">
        <pc:chgData name="Blake Benz" userId="8a97c15f36056bdc" providerId="Windows Live" clId="Web-{3859B432-4986-4233-AED8-9A14C6284B87}" dt="2024-06-17T21:06:35.922" v="9" actId="20577"/>
        <pc:sldMkLst>
          <pc:docMk/>
          <pc:sldMk cId="135463201" sldId="366"/>
        </pc:sldMkLst>
      </pc:sldChg>
      <pc:sldChg chg="delSp modSp add replId">
        <pc:chgData name="Blake Benz" userId="8a97c15f36056bdc" providerId="Windows Live" clId="Web-{3859B432-4986-4233-AED8-9A14C6284B87}" dt="2024-06-17T21:18:24.779" v="54" actId="20577"/>
        <pc:sldMkLst>
          <pc:docMk/>
          <pc:sldMk cId="1660442844" sldId="369"/>
        </pc:sldMkLst>
      </pc:sldChg>
    </pc:docChg>
  </pc:docChgLst>
  <pc:docChgLst>
    <pc:chgData name="Blake Benz" userId="8a97c15f36056bdc" providerId="Windows Live" clId="Web-{BF502090-BEFD-41A5-B79C-EF1F20587345}"/>
    <pc:docChg chg="modSld">
      <pc:chgData name="Blake Benz" userId="8a97c15f36056bdc" providerId="Windows Live" clId="Web-{BF502090-BEFD-41A5-B79C-EF1F20587345}" dt="2024-06-18T20:46:45.463" v="0" actId="20577"/>
      <pc:docMkLst>
        <pc:docMk/>
      </pc:docMkLst>
      <pc:sldChg chg="modSp">
        <pc:chgData name="Blake Benz" userId="8a97c15f36056bdc" providerId="Windows Live" clId="Web-{BF502090-BEFD-41A5-B79C-EF1F20587345}" dt="2024-06-18T20:46:45.463" v="0" actId="20577"/>
        <pc:sldMkLst>
          <pc:docMk/>
          <pc:sldMk cId="1660442844" sldId="36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7BFB17B-B5EE-F84B-B78D-65A4DE4F5695}" type="datetimeFigureOut">
              <a:rPr lang="en-US" smtClean="0"/>
              <a:t>7/7/2025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1045B88-FF57-BE46-919A-5768C5DEABF2}" type="slidenum">
              <a:rPr lang="en-US" smtClean="0"/>
              <a:t>‹#›</a:t>
            </a:fld>
            <a:endParaRPr lang="en-US"/>
          </a:p>
        </p:txBody>
      </p:sp>
    </p:spTree>
    <p:extLst>
      <p:ext uri="{BB962C8B-B14F-4D97-AF65-F5344CB8AC3E}">
        <p14:creationId xmlns:p14="http://schemas.microsoft.com/office/powerpoint/2010/main" val="38923401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3C9322-8DB2-4FD5-A6B8-A9DB7C64086E}" type="datetimeFigureOut">
              <a:rPr lang="en-US" smtClean="0"/>
              <a:t>7/7/2025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2F3F45-D56C-44AC-A0EC-773749786A67}" type="slidenum">
              <a:rPr lang="en-US" smtClean="0"/>
              <a:t>‹#›</a:t>
            </a:fld>
            <a:endParaRPr lang="en-US"/>
          </a:p>
        </p:txBody>
      </p:sp>
    </p:spTree>
    <p:extLst>
      <p:ext uri="{BB962C8B-B14F-4D97-AF65-F5344CB8AC3E}">
        <p14:creationId xmlns:p14="http://schemas.microsoft.com/office/powerpoint/2010/main" val="2384797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s-I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When the web cam about electronic</a:t>
            </a:r>
            <a:r>
              <a:rPr lang="en-US" baseline="0" dirty="0"/>
              <a:t> submission started to happen</a:t>
            </a:r>
            <a:endParaRPr lang="en-US" dirty="0"/>
          </a:p>
        </p:txBody>
      </p:sp>
      <p:sp>
        <p:nvSpPr>
          <p:cNvPr id="4" name="Slide Number Placeholder 3"/>
          <p:cNvSpPr>
            <a:spLocks noGrp="1"/>
          </p:cNvSpPr>
          <p:nvPr>
            <p:ph type="sldNum" sz="quarter" idx="10"/>
          </p:nvPr>
        </p:nvSpPr>
        <p:spPr/>
        <p:txBody>
          <a:bodyPr/>
          <a:lstStyle/>
          <a:p>
            <a:fld id="{862F3F45-D56C-44AC-A0EC-773749786A67}" type="slidenum">
              <a:rPr lang="en-US" smtClean="0"/>
              <a:t>2</a:t>
            </a:fld>
            <a:endParaRPr lang="en-US"/>
          </a:p>
        </p:txBody>
      </p:sp>
    </p:spTree>
    <p:extLst>
      <p:ext uri="{BB962C8B-B14F-4D97-AF65-F5344CB8AC3E}">
        <p14:creationId xmlns:p14="http://schemas.microsoft.com/office/powerpoint/2010/main" val="2370596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s-IS" baseline="0" dirty="0"/>
              <a:t>In general, employers can not deny people coverage for their pre existing conditions (can refuse to provide benefits for preexisting conditions for 12 months following enrollment or 18 months in case of late enrollment – this period can be reduced by the amount of credible coverage after significant breaks (63 days)). Also requires insurers to issue policies without exclusions to those leaving group health plans with creditable coverage exceeding 18 months</a:t>
            </a:r>
          </a:p>
          <a:p>
            <a:endParaRPr lang="en-US" dirty="0"/>
          </a:p>
        </p:txBody>
      </p:sp>
      <p:sp>
        <p:nvSpPr>
          <p:cNvPr id="4" name="Slide Number Placeholder 3"/>
          <p:cNvSpPr>
            <a:spLocks noGrp="1"/>
          </p:cNvSpPr>
          <p:nvPr>
            <p:ph type="sldNum" sz="quarter" idx="10"/>
          </p:nvPr>
        </p:nvSpPr>
        <p:spPr/>
        <p:txBody>
          <a:bodyPr/>
          <a:lstStyle/>
          <a:p>
            <a:fld id="{862F3F45-D56C-44AC-A0EC-773749786A67}" type="slidenum">
              <a:rPr lang="en-US" smtClean="0"/>
              <a:t>4</a:t>
            </a:fld>
            <a:endParaRPr lang="en-US"/>
          </a:p>
        </p:txBody>
      </p:sp>
    </p:spTree>
    <p:extLst>
      <p:ext uri="{BB962C8B-B14F-4D97-AF65-F5344CB8AC3E}">
        <p14:creationId xmlns:p14="http://schemas.microsoft.com/office/powerpoint/2010/main" val="1482244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s-IS" baseline="0" dirty="0"/>
          </a:p>
          <a:p>
            <a:endParaRPr lang="en-US" dirty="0"/>
          </a:p>
        </p:txBody>
      </p:sp>
      <p:sp>
        <p:nvSpPr>
          <p:cNvPr id="4" name="Slide Number Placeholder 3"/>
          <p:cNvSpPr>
            <a:spLocks noGrp="1"/>
          </p:cNvSpPr>
          <p:nvPr>
            <p:ph type="sldNum" sz="quarter" idx="10"/>
          </p:nvPr>
        </p:nvSpPr>
        <p:spPr/>
        <p:txBody>
          <a:bodyPr/>
          <a:lstStyle/>
          <a:p>
            <a:fld id="{862F3F45-D56C-44AC-A0EC-773749786A67}" type="slidenum">
              <a:rPr lang="en-US" smtClean="0"/>
              <a:t>6</a:t>
            </a:fld>
            <a:endParaRPr lang="en-US"/>
          </a:p>
        </p:txBody>
      </p:sp>
    </p:spTree>
    <p:extLst>
      <p:ext uri="{BB962C8B-B14F-4D97-AF65-F5344CB8AC3E}">
        <p14:creationId xmlns:p14="http://schemas.microsoft.com/office/powerpoint/2010/main" val="25581605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a:t>
            </a:r>
            <a:r>
              <a:rPr lang="en-US" dirty="0" err="1"/>
              <a:t>hippa</a:t>
            </a:r>
            <a:r>
              <a:rPr lang="is-IS" dirty="0"/>
              <a:t>…there are only 2 times </a:t>
            </a:r>
            <a:r>
              <a:rPr lang="is-IS" b="1" dirty="0"/>
              <a:t>required</a:t>
            </a:r>
            <a:r>
              <a:rPr lang="is-IS" dirty="0"/>
              <a:t> to share info....with the patient and secretary</a:t>
            </a:r>
            <a:r>
              <a:rPr lang="is-IS" baseline="0" dirty="0"/>
              <a:t> of HHS if investigated. </a:t>
            </a:r>
            <a:endParaRPr lang="en-US" dirty="0"/>
          </a:p>
        </p:txBody>
      </p:sp>
      <p:sp>
        <p:nvSpPr>
          <p:cNvPr id="4" name="Slide Number Placeholder 3"/>
          <p:cNvSpPr>
            <a:spLocks noGrp="1"/>
          </p:cNvSpPr>
          <p:nvPr>
            <p:ph type="sldNum" sz="quarter" idx="10"/>
          </p:nvPr>
        </p:nvSpPr>
        <p:spPr/>
        <p:txBody>
          <a:bodyPr/>
          <a:lstStyle/>
          <a:p>
            <a:fld id="{862F3F45-D56C-44AC-A0EC-773749786A67}" type="slidenum">
              <a:rPr lang="en-US" smtClean="0"/>
              <a:t>7</a:t>
            </a:fld>
            <a:endParaRPr lang="en-US"/>
          </a:p>
        </p:txBody>
      </p:sp>
    </p:spTree>
    <p:extLst>
      <p:ext uri="{BB962C8B-B14F-4D97-AF65-F5344CB8AC3E}">
        <p14:creationId xmlns:p14="http://schemas.microsoft.com/office/powerpoint/2010/main" val="1371124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8C22146B-7907-457D-915E-2588F4990D79}" type="slidenum">
              <a:rPr lang="en-US" smtClean="0"/>
              <a:pPr/>
              <a:t>8</a:t>
            </a:fld>
            <a:endParaRPr lang="en-US"/>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r>
              <a:rPr lang="en-US" dirty="0"/>
              <a:t>Individual and group plans that provide or pay the cost of medical care are covered entities.</a:t>
            </a:r>
            <a:r>
              <a:rPr lang="en-US" baseline="30000" dirty="0"/>
              <a:t>4</a:t>
            </a:r>
            <a:r>
              <a:rPr lang="en-US" dirty="0"/>
              <a:t> Health plans include health, dental, vision, and prescription drug insurers, health maintenance organizations (“HMOs”), Medicare, Medicaid, </a:t>
            </a:r>
            <a:r>
              <a:rPr lang="en-US" dirty="0" err="1"/>
              <a:t>Medicare+Choice</a:t>
            </a:r>
            <a:r>
              <a:rPr lang="en-US" dirty="0"/>
              <a:t> and Medicare supplement insurers, and long-term care insurers (excluding nursing home fixed-indemnity policies). Health plans also include employer-sponsored group health plans, government and church-sponsored health plans, and multi-employer health plans. There are exceptions—a group health plan with less than 50 participants that is administered solely by the employer that established and maintains the plan is not a covered entity.</a:t>
            </a:r>
          </a:p>
          <a:p>
            <a:pPr eaLnBrk="1" hangingPunct="1"/>
            <a:endParaRPr lang="en-US" dirty="0"/>
          </a:p>
          <a:p>
            <a:pPr eaLnBrk="1" hangingPunct="1"/>
            <a:r>
              <a:rPr lang="en-US" dirty="0"/>
              <a:t>Every health care provider, regardless of size, who electronically transmits health information in connection with certain transactions, is a covered entity. Examples include hospitals, physicians, dentists</a:t>
            </a:r>
          </a:p>
          <a:p>
            <a:pPr eaLnBrk="1" hangingPunct="1"/>
            <a:endParaRPr lang="en-US" dirty="0"/>
          </a:p>
        </p:txBody>
      </p:sp>
    </p:spTree>
    <p:extLst>
      <p:ext uri="{BB962C8B-B14F-4D97-AF65-F5344CB8AC3E}">
        <p14:creationId xmlns:p14="http://schemas.microsoft.com/office/powerpoint/2010/main" val="3316271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BAA</a:t>
            </a:r>
          </a:p>
        </p:txBody>
      </p:sp>
      <p:sp>
        <p:nvSpPr>
          <p:cNvPr id="4" name="Slide Number Placeholder 3"/>
          <p:cNvSpPr>
            <a:spLocks noGrp="1"/>
          </p:cNvSpPr>
          <p:nvPr>
            <p:ph type="sldNum" sz="quarter" idx="5"/>
          </p:nvPr>
        </p:nvSpPr>
        <p:spPr/>
        <p:txBody>
          <a:bodyPr/>
          <a:lstStyle/>
          <a:p>
            <a:fld id="{862F3F45-D56C-44AC-A0EC-773749786A67}" type="slidenum">
              <a:rPr lang="en-US" smtClean="0"/>
              <a:t>10</a:t>
            </a:fld>
            <a:endParaRPr lang="en-US"/>
          </a:p>
        </p:txBody>
      </p:sp>
    </p:spTree>
    <p:extLst>
      <p:ext uri="{BB962C8B-B14F-4D97-AF65-F5344CB8AC3E}">
        <p14:creationId xmlns:p14="http://schemas.microsoft.com/office/powerpoint/2010/main" val="2952509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Ie</a:t>
            </a:r>
            <a:r>
              <a:rPr lang="en-US" dirty="0"/>
              <a:t>- send patient down</a:t>
            </a:r>
            <a:r>
              <a:rPr lang="en-US" baseline="0" dirty="0"/>
              <a:t> the road can share info with other offices and to get paid</a:t>
            </a:r>
            <a:r>
              <a:rPr lang="is-IS" baseline="0" dirty="0"/>
              <a:t>….permitted to do TPO not required </a:t>
            </a:r>
            <a:endParaRPr lang="en-US" dirty="0"/>
          </a:p>
        </p:txBody>
      </p:sp>
      <p:sp>
        <p:nvSpPr>
          <p:cNvPr id="4" name="Slide Number Placeholder 3"/>
          <p:cNvSpPr>
            <a:spLocks noGrp="1"/>
          </p:cNvSpPr>
          <p:nvPr>
            <p:ph type="sldNum" sz="quarter" idx="10"/>
          </p:nvPr>
        </p:nvSpPr>
        <p:spPr/>
        <p:txBody>
          <a:bodyPr/>
          <a:lstStyle/>
          <a:p>
            <a:fld id="{862F3F45-D56C-44AC-A0EC-773749786A67}" type="slidenum">
              <a:rPr lang="en-US" smtClean="0"/>
              <a:t>17</a:t>
            </a:fld>
            <a:endParaRPr lang="en-US"/>
          </a:p>
        </p:txBody>
      </p:sp>
    </p:spTree>
    <p:extLst>
      <p:ext uri="{BB962C8B-B14F-4D97-AF65-F5344CB8AC3E}">
        <p14:creationId xmlns:p14="http://schemas.microsoft.com/office/powerpoint/2010/main" val="833019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2F3F45-D56C-44AC-A0EC-773749786A67}" type="slidenum">
              <a:rPr lang="en-US" smtClean="0"/>
              <a:t>18</a:t>
            </a:fld>
            <a:endParaRPr lang="en-US"/>
          </a:p>
        </p:txBody>
      </p:sp>
    </p:spTree>
    <p:extLst>
      <p:ext uri="{BB962C8B-B14F-4D97-AF65-F5344CB8AC3E}">
        <p14:creationId xmlns:p14="http://schemas.microsoft.com/office/powerpoint/2010/main" val="1456555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policy</a:t>
            </a:r>
            <a:r>
              <a:rPr lang="is-IS" dirty="0"/>
              <a:t>…if there’s exposure. </a:t>
            </a:r>
            <a:r>
              <a:rPr lang="en-US" dirty="0"/>
              <a:t>I</a:t>
            </a:r>
            <a:r>
              <a:rPr lang="is-IS" dirty="0"/>
              <a:t>f a person is getting tested for tb and is sitting in the waiting room</a:t>
            </a:r>
            <a:r>
              <a:rPr lang="is-IS" baseline="0" dirty="0"/>
              <a:t> then comes back poisitive ....everyone in the waiting area now has to get tested. </a:t>
            </a:r>
          </a:p>
          <a:p>
            <a:endParaRPr lang="is-IS" baseline="0" dirty="0"/>
          </a:p>
          <a:p>
            <a:r>
              <a:rPr lang="en-US" baseline="0" dirty="0"/>
              <a:t>I</a:t>
            </a:r>
            <a:r>
              <a:rPr lang="is-IS" baseline="0" dirty="0"/>
              <a:t>ncidental- when patients share a room in the hospital, the other patient may hear the other patients info but when the privacy curtain is pulled it’s “incidental” but when the curtain is not pulled it’s a hippa breach. </a:t>
            </a:r>
          </a:p>
          <a:p>
            <a:r>
              <a:rPr lang="en-US" baseline="0" dirty="0"/>
              <a:t>W</a:t>
            </a:r>
            <a:r>
              <a:rPr lang="is-IS" baseline="0" dirty="0"/>
              <a:t>aiting in a doctors office then calls ur name out</a:t>
            </a:r>
            <a:endParaRPr lang="en-US" dirty="0"/>
          </a:p>
        </p:txBody>
      </p:sp>
      <p:sp>
        <p:nvSpPr>
          <p:cNvPr id="4" name="Slide Number Placeholder 3"/>
          <p:cNvSpPr>
            <a:spLocks noGrp="1"/>
          </p:cNvSpPr>
          <p:nvPr>
            <p:ph type="sldNum" sz="quarter" idx="10"/>
          </p:nvPr>
        </p:nvSpPr>
        <p:spPr/>
        <p:txBody>
          <a:bodyPr/>
          <a:lstStyle/>
          <a:p>
            <a:fld id="{862F3F45-D56C-44AC-A0EC-773749786A67}" type="slidenum">
              <a:rPr lang="en-US" smtClean="0"/>
              <a:t>19</a:t>
            </a:fld>
            <a:endParaRPr lang="en-US"/>
          </a:p>
        </p:txBody>
      </p:sp>
    </p:spTree>
    <p:extLst>
      <p:ext uri="{BB962C8B-B14F-4D97-AF65-F5344CB8AC3E}">
        <p14:creationId xmlns:p14="http://schemas.microsoft.com/office/powerpoint/2010/main" val="3048639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IP address numbers, full face photographic images that  CHS will be using</a:t>
            </a:r>
          </a:p>
        </p:txBody>
      </p:sp>
      <p:sp>
        <p:nvSpPr>
          <p:cNvPr id="4" name="Slide Number Placeholder 3"/>
          <p:cNvSpPr>
            <a:spLocks noGrp="1"/>
          </p:cNvSpPr>
          <p:nvPr>
            <p:ph type="sldNum" sz="quarter" idx="10"/>
          </p:nvPr>
        </p:nvSpPr>
        <p:spPr/>
        <p:txBody>
          <a:bodyPr/>
          <a:lstStyle/>
          <a:p>
            <a:fld id="{862F3F45-D56C-44AC-A0EC-773749786A67}" type="slidenum">
              <a:rPr lang="en-US" smtClean="0"/>
              <a:t>21</a:t>
            </a:fld>
            <a:endParaRPr lang="en-US"/>
          </a:p>
        </p:txBody>
      </p:sp>
    </p:spTree>
    <p:extLst>
      <p:ext uri="{BB962C8B-B14F-4D97-AF65-F5344CB8AC3E}">
        <p14:creationId xmlns:p14="http://schemas.microsoft.com/office/powerpoint/2010/main" val="20516754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 as to what is shared,</a:t>
            </a:r>
            <a:r>
              <a:rPr lang="en-US" baseline="0" dirty="0"/>
              <a:t> what dates, who sending it to </a:t>
            </a:r>
            <a:endParaRPr lang="en-US" dirty="0"/>
          </a:p>
        </p:txBody>
      </p:sp>
      <p:sp>
        <p:nvSpPr>
          <p:cNvPr id="4" name="Slide Number Placeholder 3"/>
          <p:cNvSpPr>
            <a:spLocks noGrp="1"/>
          </p:cNvSpPr>
          <p:nvPr>
            <p:ph type="sldNum" sz="quarter" idx="10"/>
          </p:nvPr>
        </p:nvSpPr>
        <p:spPr/>
        <p:txBody>
          <a:bodyPr/>
          <a:lstStyle/>
          <a:p>
            <a:fld id="{862F3F45-D56C-44AC-A0EC-773749786A67}" type="slidenum">
              <a:rPr lang="en-US" smtClean="0"/>
              <a:t>22</a:t>
            </a:fld>
            <a:endParaRPr lang="en-US"/>
          </a:p>
        </p:txBody>
      </p:sp>
    </p:spTree>
    <p:extLst>
      <p:ext uri="{BB962C8B-B14F-4D97-AF65-F5344CB8AC3E}">
        <p14:creationId xmlns:p14="http://schemas.microsoft.com/office/powerpoint/2010/main" val="2987156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Expiration date, why</a:t>
            </a:r>
          </a:p>
          <a:p>
            <a:endParaRPr lang="en-US" dirty="0"/>
          </a:p>
          <a:p>
            <a:r>
              <a:rPr lang="en-US" dirty="0"/>
              <a:t>Can’t authorize</a:t>
            </a:r>
            <a:r>
              <a:rPr lang="en-US" baseline="0" dirty="0"/>
              <a:t> something that hasn’t happened. </a:t>
            </a:r>
            <a:endParaRPr lang="en-US" dirty="0"/>
          </a:p>
        </p:txBody>
      </p:sp>
      <p:sp>
        <p:nvSpPr>
          <p:cNvPr id="4" name="Slide Number Placeholder 3"/>
          <p:cNvSpPr>
            <a:spLocks noGrp="1"/>
          </p:cNvSpPr>
          <p:nvPr>
            <p:ph type="sldNum" sz="quarter" idx="10"/>
          </p:nvPr>
        </p:nvSpPr>
        <p:spPr/>
        <p:txBody>
          <a:bodyPr/>
          <a:lstStyle/>
          <a:p>
            <a:fld id="{862F3F45-D56C-44AC-A0EC-773749786A67}" type="slidenum">
              <a:rPr lang="en-US" smtClean="0"/>
              <a:t>23</a:t>
            </a:fld>
            <a:endParaRPr lang="en-US"/>
          </a:p>
        </p:txBody>
      </p:sp>
    </p:spTree>
    <p:extLst>
      <p:ext uri="{BB962C8B-B14F-4D97-AF65-F5344CB8AC3E}">
        <p14:creationId xmlns:p14="http://schemas.microsoft.com/office/powerpoint/2010/main" val="322954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a:t>
            </a:r>
            <a:r>
              <a:rPr lang="en-US" dirty="0" err="1"/>
              <a:t>hippa</a:t>
            </a:r>
            <a:r>
              <a:rPr lang="is-IS" dirty="0"/>
              <a:t>…there are only 2 times </a:t>
            </a:r>
            <a:r>
              <a:rPr lang="is-IS" b="1" dirty="0"/>
              <a:t>required</a:t>
            </a:r>
            <a:r>
              <a:rPr lang="is-IS" dirty="0"/>
              <a:t> to share info....with the patient and secretary</a:t>
            </a:r>
            <a:r>
              <a:rPr lang="is-IS" baseline="0" dirty="0"/>
              <a:t> of HHS if investigated. </a:t>
            </a:r>
            <a:endParaRPr lang="en-US" dirty="0"/>
          </a:p>
        </p:txBody>
      </p:sp>
      <p:sp>
        <p:nvSpPr>
          <p:cNvPr id="4" name="Slide Number Placeholder 3"/>
          <p:cNvSpPr>
            <a:spLocks noGrp="1"/>
          </p:cNvSpPr>
          <p:nvPr>
            <p:ph type="sldNum" sz="quarter" idx="10"/>
          </p:nvPr>
        </p:nvSpPr>
        <p:spPr/>
        <p:txBody>
          <a:bodyPr/>
          <a:lstStyle/>
          <a:p>
            <a:fld id="{862F3F45-D56C-44AC-A0EC-773749786A67}" type="slidenum">
              <a:rPr lang="en-US" smtClean="0"/>
              <a:t>24</a:t>
            </a:fld>
            <a:endParaRPr lang="en-US"/>
          </a:p>
        </p:txBody>
      </p:sp>
    </p:spTree>
    <p:extLst>
      <p:ext uri="{BB962C8B-B14F-4D97-AF65-F5344CB8AC3E}">
        <p14:creationId xmlns:p14="http://schemas.microsoft.com/office/powerpoint/2010/main" val="2912151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9545E3-6BEC-49DB-9B2F-905F7D4A0806}"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E4B49-1840-47C3-BEA6-AA4327D7E7D2}" type="slidenum">
              <a:rPr lang="en-US" smtClean="0"/>
              <a:t>‹#›</a:t>
            </a:fld>
            <a:endParaRPr lang="en-US"/>
          </a:p>
        </p:txBody>
      </p:sp>
    </p:spTree>
    <p:extLst>
      <p:ext uri="{BB962C8B-B14F-4D97-AF65-F5344CB8AC3E}">
        <p14:creationId xmlns:p14="http://schemas.microsoft.com/office/powerpoint/2010/main" val="1951981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9545E3-6BEC-49DB-9B2F-905F7D4A0806}"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E4B49-1840-47C3-BEA6-AA4327D7E7D2}" type="slidenum">
              <a:rPr lang="en-US" smtClean="0"/>
              <a:t>‹#›</a:t>
            </a:fld>
            <a:endParaRPr lang="en-US"/>
          </a:p>
        </p:txBody>
      </p:sp>
    </p:spTree>
    <p:extLst>
      <p:ext uri="{BB962C8B-B14F-4D97-AF65-F5344CB8AC3E}">
        <p14:creationId xmlns:p14="http://schemas.microsoft.com/office/powerpoint/2010/main" val="2675852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9545E3-6BEC-49DB-9B2F-905F7D4A0806}"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E4B49-1840-47C3-BEA6-AA4327D7E7D2}" type="slidenum">
              <a:rPr lang="en-US" smtClean="0"/>
              <a:t>‹#›</a:t>
            </a:fld>
            <a:endParaRPr lang="en-US"/>
          </a:p>
        </p:txBody>
      </p:sp>
    </p:spTree>
    <p:extLst>
      <p:ext uri="{BB962C8B-B14F-4D97-AF65-F5344CB8AC3E}">
        <p14:creationId xmlns:p14="http://schemas.microsoft.com/office/powerpoint/2010/main" val="2850793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9545E3-6BEC-49DB-9B2F-905F7D4A0806}"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E4B49-1840-47C3-BEA6-AA4327D7E7D2}" type="slidenum">
              <a:rPr lang="en-US" smtClean="0"/>
              <a:t>‹#›</a:t>
            </a:fld>
            <a:endParaRPr lang="en-US"/>
          </a:p>
        </p:txBody>
      </p:sp>
    </p:spTree>
    <p:extLst>
      <p:ext uri="{BB962C8B-B14F-4D97-AF65-F5344CB8AC3E}">
        <p14:creationId xmlns:p14="http://schemas.microsoft.com/office/powerpoint/2010/main" val="1692528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9545E3-6BEC-49DB-9B2F-905F7D4A0806}" type="datetimeFigureOut">
              <a:rPr lang="en-US" smtClean="0"/>
              <a:t>7/7/2025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AE4B49-1840-47C3-BEA6-AA4327D7E7D2}" type="slidenum">
              <a:rPr lang="en-US" smtClean="0"/>
              <a:t>‹#›</a:t>
            </a:fld>
            <a:endParaRPr lang="en-US"/>
          </a:p>
        </p:txBody>
      </p:sp>
    </p:spTree>
    <p:extLst>
      <p:ext uri="{BB962C8B-B14F-4D97-AF65-F5344CB8AC3E}">
        <p14:creationId xmlns:p14="http://schemas.microsoft.com/office/powerpoint/2010/main" val="324372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9545E3-6BEC-49DB-9B2F-905F7D4A0806}" type="datetimeFigureOut">
              <a:rPr lang="en-US" smtClean="0"/>
              <a:t>7/7/2025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AE4B49-1840-47C3-BEA6-AA4327D7E7D2}" type="slidenum">
              <a:rPr lang="en-US" smtClean="0"/>
              <a:t>‹#›</a:t>
            </a:fld>
            <a:endParaRPr lang="en-US"/>
          </a:p>
        </p:txBody>
      </p:sp>
    </p:spTree>
    <p:extLst>
      <p:ext uri="{BB962C8B-B14F-4D97-AF65-F5344CB8AC3E}">
        <p14:creationId xmlns:p14="http://schemas.microsoft.com/office/powerpoint/2010/main" val="332584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9545E3-6BEC-49DB-9B2F-905F7D4A0806}" type="datetimeFigureOut">
              <a:rPr lang="en-US" smtClean="0"/>
              <a:t>7/7/2025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AE4B49-1840-47C3-BEA6-AA4327D7E7D2}" type="slidenum">
              <a:rPr lang="en-US" smtClean="0"/>
              <a:t>‹#›</a:t>
            </a:fld>
            <a:endParaRPr lang="en-US"/>
          </a:p>
        </p:txBody>
      </p:sp>
    </p:spTree>
    <p:extLst>
      <p:ext uri="{BB962C8B-B14F-4D97-AF65-F5344CB8AC3E}">
        <p14:creationId xmlns:p14="http://schemas.microsoft.com/office/powerpoint/2010/main" val="3519037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9545E3-6BEC-49DB-9B2F-905F7D4A0806}"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E4B49-1840-47C3-BEA6-AA4327D7E7D2}" type="slidenum">
              <a:rPr lang="en-US" smtClean="0"/>
              <a:t>‹#›</a:t>
            </a:fld>
            <a:endParaRPr lang="en-US"/>
          </a:p>
        </p:txBody>
      </p:sp>
    </p:spTree>
    <p:extLst>
      <p:ext uri="{BB962C8B-B14F-4D97-AF65-F5344CB8AC3E}">
        <p14:creationId xmlns:p14="http://schemas.microsoft.com/office/powerpoint/2010/main" val="3670305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9545E3-6BEC-49DB-9B2F-905F7D4A0806}" type="datetimeFigureOut">
              <a:rPr lang="en-US" smtClean="0"/>
              <a:t>7/7/2025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AE4B49-1840-47C3-BEA6-AA4327D7E7D2}" type="slidenum">
              <a:rPr lang="en-US" smtClean="0"/>
              <a:t>‹#›</a:t>
            </a:fld>
            <a:endParaRPr lang="en-US"/>
          </a:p>
        </p:txBody>
      </p:sp>
    </p:spTree>
    <p:extLst>
      <p:ext uri="{BB962C8B-B14F-4D97-AF65-F5344CB8AC3E}">
        <p14:creationId xmlns:p14="http://schemas.microsoft.com/office/powerpoint/2010/main" val="3480702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9545E3-6BEC-49DB-9B2F-905F7D4A0806}"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E4B49-1840-47C3-BEA6-AA4327D7E7D2}" type="slidenum">
              <a:rPr lang="en-US" smtClean="0"/>
              <a:t>‹#›</a:t>
            </a:fld>
            <a:endParaRPr lang="en-US"/>
          </a:p>
        </p:txBody>
      </p:sp>
    </p:spTree>
    <p:extLst>
      <p:ext uri="{BB962C8B-B14F-4D97-AF65-F5344CB8AC3E}">
        <p14:creationId xmlns:p14="http://schemas.microsoft.com/office/powerpoint/2010/main" val="3402991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9545E3-6BEC-49DB-9B2F-905F7D4A0806}"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E4B49-1840-47C3-BEA6-AA4327D7E7D2}"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0980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9545E3-6BEC-49DB-9B2F-905F7D4A0806}"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E4B49-1840-47C3-BEA6-AA4327D7E7D2}" type="slidenum">
              <a:rPr lang="en-US" smtClean="0"/>
              <a:t>‹#›</a:t>
            </a:fld>
            <a:endParaRPr lang="en-US"/>
          </a:p>
        </p:txBody>
      </p:sp>
    </p:spTree>
    <p:extLst>
      <p:ext uri="{BB962C8B-B14F-4D97-AF65-F5344CB8AC3E}">
        <p14:creationId xmlns:p14="http://schemas.microsoft.com/office/powerpoint/2010/main" val="28737753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9545E3-6BEC-49DB-9B2F-905F7D4A0806}"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E4B49-1840-47C3-BEA6-AA4327D7E7D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48187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9545E3-6BEC-49DB-9B2F-905F7D4A0806}"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E4B49-1840-47C3-BEA6-AA4327D7E7D2}" type="slidenum">
              <a:rPr lang="en-US" smtClean="0"/>
              <a:t>‹#›</a:t>
            </a:fld>
            <a:endParaRPr lang="en-US"/>
          </a:p>
        </p:txBody>
      </p:sp>
    </p:spTree>
    <p:extLst>
      <p:ext uri="{BB962C8B-B14F-4D97-AF65-F5344CB8AC3E}">
        <p14:creationId xmlns:p14="http://schemas.microsoft.com/office/powerpoint/2010/main" val="4251405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9545E3-6BEC-49DB-9B2F-905F7D4A0806}"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E4B49-1840-47C3-BEA6-AA4327D7E7D2}" type="slidenum">
              <a:rPr lang="en-US" smtClean="0"/>
              <a:t>‹#›</a:t>
            </a:fld>
            <a:endParaRPr lang="en-US"/>
          </a:p>
        </p:txBody>
      </p:sp>
    </p:spTree>
    <p:extLst>
      <p:ext uri="{BB962C8B-B14F-4D97-AF65-F5344CB8AC3E}">
        <p14:creationId xmlns:p14="http://schemas.microsoft.com/office/powerpoint/2010/main" val="21699206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9545E3-6BEC-49DB-9B2F-905F7D4A0806}" type="datetimeFigureOut">
              <a:rPr lang="en-US" smtClean="0"/>
              <a:t>7/7/2025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AE4B49-1840-47C3-BEA6-AA4327D7E7D2}" type="slidenum">
              <a:rPr lang="en-US" smtClean="0"/>
              <a:t>‹#›</a:t>
            </a:fld>
            <a:endParaRPr lang="en-US"/>
          </a:p>
        </p:txBody>
      </p:sp>
    </p:spTree>
    <p:extLst>
      <p:ext uri="{BB962C8B-B14F-4D97-AF65-F5344CB8AC3E}">
        <p14:creationId xmlns:p14="http://schemas.microsoft.com/office/powerpoint/2010/main" val="28090432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BM Title Slide">
    <p:spTree>
      <p:nvGrpSpPr>
        <p:cNvPr id="1" name=""/>
        <p:cNvGrpSpPr/>
        <p:nvPr/>
      </p:nvGrpSpPr>
      <p:grpSpPr>
        <a:xfrm>
          <a:off x="0" y="0"/>
          <a:ext cx="0" cy="0"/>
          <a:chOff x="0" y="0"/>
          <a:chExt cx="0" cy="0"/>
        </a:xfrm>
      </p:grpSpPr>
      <p:sp>
        <p:nvSpPr>
          <p:cNvPr id="7" name="Text Placeholder 12"/>
          <p:cNvSpPr>
            <a:spLocks noGrp="1"/>
          </p:cNvSpPr>
          <p:nvPr>
            <p:ph type="body" sz="quarter" idx="14"/>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5" name="Text Placeholder 7"/>
          <p:cNvSpPr>
            <a:spLocks noGrp="1"/>
          </p:cNvSpPr>
          <p:nvPr>
            <p:ph type="body" sz="quarter" idx="15"/>
          </p:nvPr>
        </p:nvSpPr>
        <p:spPr>
          <a:xfrm>
            <a:off x="609600" y="165101"/>
            <a:ext cx="10972800" cy="6113617"/>
          </a:xfrm>
        </p:spPr>
        <p:txBody>
          <a:bodyPr tIns="0" rIns="0" bIns="0" anchor="ctr"/>
          <a:lstStyle>
            <a:lvl1pPr algn="ctr">
              <a:buFontTx/>
              <a:buNone/>
              <a:defRPr sz="4400">
                <a:solidFill>
                  <a:srgbClr val="B60225"/>
                </a:solidFill>
              </a:defRPr>
            </a:lvl1pPr>
            <a:lvl2pPr marL="228600" indent="-228600" algn="ctr">
              <a:buClr>
                <a:srgbClr val="C03137"/>
              </a:buClr>
              <a:buFontTx/>
              <a:buNone/>
              <a:defRPr sz="2400"/>
            </a:lvl2pPr>
            <a:lvl3pPr marL="458788" indent="-230188" algn="ctr">
              <a:buFontTx/>
              <a:buNone/>
              <a:defRPr/>
            </a:lvl3pPr>
            <a:lvl4pPr marL="458788" indent="-230188" algn="ctr">
              <a:buFontTx/>
              <a:buNone/>
              <a:defRPr/>
            </a:lvl4pPr>
            <a:lvl5pPr marL="458788" indent="-230188" algn="ctr">
              <a:buFontTx/>
              <a:buNone/>
              <a:defRPr/>
            </a:lvl5pPr>
          </a:lstStyle>
          <a:p>
            <a:pPr lvl="0"/>
            <a:r>
              <a:rPr lang="en-US" dirty="0"/>
              <a:t>Click to edit Master text styles</a:t>
            </a:r>
          </a:p>
          <a:p>
            <a:pPr lvl="1"/>
            <a:r>
              <a:rPr lang="en-US" dirty="0"/>
              <a:t>Second level</a:t>
            </a:r>
          </a:p>
        </p:txBody>
      </p:sp>
      <p:sp>
        <p:nvSpPr>
          <p:cNvPr id="8" name="Text Placeholder 13"/>
          <p:cNvSpPr>
            <a:spLocks noGrp="1"/>
          </p:cNvSpPr>
          <p:nvPr>
            <p:ph type="body" sz="quarter" idx="12" hasCustomPrompt="1"/>
          </p:nvPr>
        </p:nvSpPr>
        <p:spPr>
          <a:xfrm>
            <a:off x="6315027" y="464955"/>
            <a:ext cx="5267373" cy="381684"/>
          </a:xfrm>
          <a:prstGeom prst="rect">
            <a:avLst/>
          </a:prstGeom>
        </p:spPr>
        <p:txBody>
          <a:bodyPr rIns="0">
            <a:noAutofit/>
          </a:bodyPr>
          <a:lstStyle>
            <a:lvl1pPr algn="r">
              <a:buFontTx/>
              <a:buNone/>
              <a:defRPr sz="1500" cap="all">
                <a:solidFill>
                  <a:schemeClr val="tx1"/>
                </a:solidFill>
                <a:latin typeface="Helvetica"/>
                <a:cs typeface="Helvetica"/>
              </a:defRPr>
            </a:lvl1pPr>
          </a:lstStyle>
          <a:p>
            <a:pPr lvl="0"/>
            <a:r>
              <a:rPr lang="en-US" dirty="0"/>
              <a:t>Department Name Here</a:t>
            </a:r>
          </a:p>
        </p:txBody>
      </p:sp>
    </p:spTree>
    <p:extLst>
      <p:ext uri="{BB962C8B-B14F-4D97-AF65-F5344CB8AC3E}">
        <p14:creationId xmlns:p14="http://schemas.microsoft.com/office/powerpoint/2010/main" val="2706204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89545E3-6BEC-49DB-9B2F-905F7D4A0806}" type="datetimeFigureOut">
              <a:rPr lang="en-US" smtClean="0"/>
              <a:t>7/7/2025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2AE4B49-1840-47C3-BEA6-AA4327D7E7D2}" type="slidenum">
              <a:rPr lang="en-US" smtClean="0"/>
              <a:t>‹#›</a:t>
            </a:fld>
            <a:endParaRPr lang="en-US"/>
          </a:p>
        </p:txBody>
      </p:sp>
    </p:spTree>
    <p:extLst>
      <p:ext uri="{BB962C8B-B14F-4D97-AF65-F5344CB8AC3E}">
        <p14:creationId xmlns:p14="http://schemas.microsoft.com/office/powerpoint/2010/main" val="284529591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creativecommons.org/licenses/by-nc-nd/3.0/" TargetMode="External"/><Relationship Id="rId4" Type="http://schemas.openxmlformats.org/officeDocument/2006/relationships/hyperlink" Target="https://internationaljournalofresearch.com/2020/07/01/benchmarking-in-the-healthcare-system-by-nikhil-kumar/"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6267" y="1223434"/>
            <a:ext cx="7766936" cy="2865966"/>
          </a:xfrm>
        </p:spPr>
        <p:txBody>
          <a:bodyPr/>
          <a:lstStyle/>
          <a:p>
            <a:pPr algn="ctr"/>
            <a:r>
              <a:rPr lang="en-US" dirty="0"/>
              <a:t>HIPAA Overview, Title I and Privacy Rule (Part of Title II)</a:t>
            </a:r>
          </a:p>
        </p:txBody>
      </p:sp>
      <p:sp>
        <p:nvSpPr>
          <p:cNvPr id="5" name="Rectangle 4"/>
          <p:cNvSpPr/>
          <p:nvPr/>
        </p:nvSpPr>
        <p:spPr>
          <a:xfrm>
            <a:off x="2715555" y="4692134"/>
            <a:ext cx="5248360" cy="584775"/>
          </a:xfrm>
          <a:prstGeom prst="rect">
            <a:avLst/>
          </a:prstGeom>
        </p:spPr>
        <p:txBody>
          <a:bodyPr wrap="none">
            <a:spAutoFit/>
          </a:bodyPr>
          <a:lstStyle/>
          <a:p>
            <a:r>
              <a:rPr lang="en-US" sz="3200" dirty="0"/>
              <a:t>Enacted on August 21, 1996</a:t>
            </a:r>
          </a:p>
        </p:txBody>
      </p:sp>
    </p:spTree>
    <p:extLst>
      <p:ext uri="{BB962C8B-B14F-4D97-AF65-F5344CB8AC3E}">
        <p14:creationId xmlns:p14="http://schemas.microsoft.com/office/powerpoint/2010/main" val="2193329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2599" y="1803400"/>
            <a:ext cx="9418145" cy="4648200"/>
          </a:xfrm>
        </p:spPr>
        <p:txBody>
          <a:bodyPr>
            <a:normAutofit/>
          </a:bodyPr>
          <a:lstStyle/>
          <a:p>
            <a:r>
              <a:rPr lang="en-US" sz="3200" dirty="0"/>
              <a:t>H = Health</a:t>
            </a:r>
          </a:p>
          <a:p>
            <a:r>
              <a:rPr lang="en-US" sz="3200" dirty="0"/>
              <a:t>I =  Insurance </a:t>
            </a:r>
          </a:p>
          <a:p>
            <a:pPr>
              <a:lnSpc>
                <a:spcPct val="130000"/>
              </a:lnSpc>
            </a:pPr>
            <a:r>
              <a:rPr lang="en-US" sz="3200" dirty="0"/>
              <a:t>P = Portability (Title I Health Care Reform)</a:t>
            </a:r>
          </a:p>
          <a:p>
            <a:pPr>
              <a:lnSpc>
                <a:spcPct val="130000"/>
              </a:lnSpc>
            </a:pPr>
            <a:r>
              <a:rPr lang="en-US" sz="3200" dirty="0"/>
              <a:t>A = Accountability (Title II Administrative Simplification)</a:t>
            </a:r>
          </a:p>
          <a:p>
            <a:pPr>
              <a:lnSpc>
                <a:spcPct val="130000"/>
              </a:lnSpc>
            </a:pPr>
            <a:r>
              <a:rPr lang="en-US" sz="3200" dirty="0"/>
              <a:t>A = Act</a:t>
            </a:r>
          </a:p>
          <a:p>
            <a:pPr>
              <a:lnSpc>
                <a:spcPct val="130000"/>
              </a:lnSpc>
              <a:buFontTx/>
              <a:buNone/>
            </a:pPr>
            <a:endParaRPr lang="en-US" dirty="0"/>
          </a:p>
          <a:p>
            <a:pPr>
              <a:buFontTx/>
              <a:buNone/>
            </a:pPr>
            <a:endParaRPr lang="en-US" sz="3200" dirty="0"/>
          </a:p>
        </p:txBody>
      </p:sp>
      <p:sp>
        <p:nvSpPr>
          <p:cNvPr id="5" name="Title 4">
            <a:extLst>
              <a:ext uri="{FF2B5EF4-FFF2-40B4-BE49-F238E27FC236}">
                <a16:creationId xmlns:a16="http://schemas.microsoft.com/office/drawing/2014/main" id="{52F7818A-3832-6050-58A3-D572BEF0F934}"/>
              </a:ext>
            </a:extLst>
          </p:cNvPr>
          <p:cNvSpPr>
            <a:spLocks noGrp="1"/>
          </p:cNvSpPr>
          <p:nvPr>
            <p:ph type="title"/>
          </p:nvPr>
        </p:nvSpPr>
        <p:spPr>
          <a:xfrm>
            <a:off x="693099" y="168166"/>
            <a:ext cx="8596668" cy="1320800"/>
          </a:xfrm>
        </p:spPr>
        <p:txBody>
          <a:bodyPr>
            <a:normAutofit/>
          </a:bodyPr>
          <a:lstStyle/>
          <a:p>
            <a:pPr algn="ctr"/>
            <a:r>
              <a:rPr lang="en-US" sz="8000" dirty="0"/>
              <a:t>HIPAA</a:t>
            </a:r>
          </a:p>
        </p:txBody>
      </p:sp>
    </p:spTree>
    <p:extLst>
      <p:ext uri="{BB962C8B-B14F-4D97-AF65-F5344CB8AC3E}">
        <p14:creationId xmlns:p14="http://schemas.microsoft.com/office/powerpoint/2010/main" val="1647152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06169-86B7-4403-81D5-7EA456AC1DA8}"/>
              </a:ext>
            </a:extLst>
          </p:cNvPr>
          <p:cNvSpPr>
            <a:spLocks noGrp="1"/>
          </p:cNvSpPr>
          <p:nvPr>
            <p:ph type="title"/>
          </p:nvPr>
        </p:nvSpPr>
        <p:spPr>
          <a:xfrm>
            <a:off x="677334" y="411989"/>
            <a:ext cx="8596668" cy="809297"/>
          </a:xfrm>
        </p:spPr>
        <p:txBody>
          <a:bodyPr>
            <a:normAutofit/>
          </a:bodyPr>
          <a:lstStyle/>
          <a:p>
            <a:pPr algn="ctr"/>
            <a:r>
              <a:rPr lang="en-US" sz="4400" dirty="0"/>
              <a:t>HIPAA Broken out into 5 Titles</a:t>
            </a:r>
          </a:p>
        </p:txBody>
      </p:sp>
      <p:sp>
        <p:nvSpPr>
          <p:cNvPr id="3" name="Content Placeholder 2">
            <a:extLst>
              <a:ext uri="{FF2B5EF4-FFF2-40B4-BE49-F238E27FC236}">
                <a16:creationId xmlns:a16="http://schemas.microsoft.com/office/drawing/2014/main" id="{D7287B5A-46F7-4A39-B78D-75F7A2310B74}"/>
              </a:ext>
            </a:extLst>
          </p:cNvPr>
          <p:cNvSpPr>
            <a:spLocks noGrp="1"/>
          </p:cNvSpPr>
          <p:nvPr>
            <p:ph idx="1"/>
          </p:nvPr>
        </p:nvSpPr>
        <p:spPr>
          <a:xfrm>
            <a:off x="677333" y="1497724"/>
            <a:ext cx="9617549" cy="5092261"/>
          </a:xfrm>
        </p:spPr>
        <p:txBody>
          <a:bodyPr vert="horz" lIns="91440" tIns="45720" rIns="91440" bIns="45720" rtlCol="0" anchor="t">
            <a:normAutofit fontScale="92500"/>
          </a:bodyPr>
          <a:lstStyle/>
          <a:p>
            <a:r>
              <a:rPr lang="en-US" sz="3400" dirty="0"/>
              <a:t>Title I: Health care access, portability and renewability</a:t>
            </a:r>
          </a:p>
          <a:p>
            <a:r>
              <a:rPr lang="en-US" sz="3400" dirty="0"/>
              <a:t>Title II: Protecting Privacy and security, preventing health care fraud and abuse; administrative simplification; medical liability reform</a:t>
            </a:r>
          </a:p>
          <a:p>
            <a:r>
              <a:rPr lang="en-US" sz="3400" dirty="0"/>
              <a:t>Title III: Tax-related health provisions </a:t>
            </a:r>
          </a:p>
          <a:p>
            <a:r>
              <a:rPr lang="en-US" sz="3400" dirty="0"/>
              <a:t>Title IV: Clarifies coverage for individuals w/ pre-existing conditions</a:t>
            </a:r>
          </a:p>
          <a:p>
            <a:r>
              <a:rPr lang="en-US" sz="3400" dirty="0"/>
              <a:t>Title V: Privacy rules for people who leave the US</a:t>
            </a:r>
          </a:p>
          <a:p>
            <a:endParaRPr lang="en-US" sz="2800" b="1" i="1" dirty="0"/>
          </a:p>
        </p:txBody>
      </p:sp>
    </p:spTree>
    <p:extLst>
      <p:ext uri="{BB962C8B-B14F-4D97-AF65-F5344CB8AC3E}">
        <p14:creationId xmlns:p14="http://schemas.microsoft.com/office/powerpoint/2010/main" val="1962637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400" dirty="0"/>
              <a:t>Health Care Access, </a:t>
            </a:r>
            <a:r>
              <a:rPr lang="en-US" sz="4400" b="1" dirty="0"/>
              <a:t>Portability</a:t>
            </a:r>
            <a:r>
              <a:rPr lang="en-US" sz="4400" dirty="0"/>
              <a:t>, and Renewability – Title I</a:t>
            </a:r>
          </a:p>
        </p:txBody>
      </p:sp>
      <p:sp>
        <p:nvSpPr>
          <p:cNvPr id="3" name="Content Placeholder 2"/>
          <p:cNvSpPr>
            <a:spLocks noGrp="1"/>
          </p:cNvSpPr>
          <p:nvPr>
            <p:ph idx="1"/>
          </p:nvPr>
        </p:nvSpPr>
        <p:spPr>
          <a:xfrm>
            <a:off x="677334" y="2380593"/>
            <a:ext cx="8596668" cy="4177862"/>
          </a:xfrm>
        </p:spPr>
        <p:txBody>
          <a:bodyPr vert="horz" lIns="91440" tIns="45720" rIns="91440" bIns="45720" rtlCol="0" anchor="t">
            <a:normAutofit/>
          </a:bodyPr>
          <a:lstStyle/>
          <a:p>
            <a:r>
              <a:rPr lang="en-US" sz="3600" dirty="0"/>
              <a:t>Covers employer provided plans only </a:t>
            </a:r>
          </a:p>
          <a:p>
            <a:pPr lvl="1"/>
            <a:r>
              <a:rPr lang="en-US" sz="2800" dirty="0"/>
              <a:t>Individual purchased plans covered by Affordable Care Act not covered</a:t>
            </a:r>
          </a:p>
          <a:p>
            <a:r>
              <a:rPr lang="en-US" sz="3600" dirty="0"/>
              <a:t>Created to ensure access to health coverage</a:t>
            </a:r>
          </a:p>
          <a:p>
            <a:pPr lvl="1"/>
            <a:r>
              <a:rPr lang="en-US" sz="2800" dirty="0"/>
              <a:t>Allows employees to enroll outside open enrollment period w/ qualifying event</a:t>
            </a:r>
          </a:p>
        </p:txBody>
      </p:sp>
    </p:spTree>
    <p:extLst>
      <p:ext uri="{BB962C8B-B14F-4D97-AF65-F5344CB8AC3E}">
        <p14:creationId xmlns:p14="http://schemas.microsoft.com/office/powerpoint/2010/main" val="2046208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DC522-6E5B-4C1A-BA22-6288B155AE57}"/>
              </a:ext>
            </a:extLst>
          </p:cNvPr>
          <p:cNvSpPr>
            <a:spLocks noGrp="1"/>
          </p:cNvSpPr>
          <p:nvPr>
            <p:ph type="title"/>
          </p:nvPr>
        </p:nvSpPr>
        <p:spPr>
          <a:xfrm>
            <a:off x="677334" y="310055"/>
            <a:ext cx="8596668" cy="1320800"/>
          </a:xfrm>
        </p:spPr>
        <p:txBody>
          <a:bodyPr>
            <a:noAutofit/>
          </a:bodyPr>
          <a:lstStyle/>
          <a:p>
            <a:pPr algn="ctr"/>
            <a:r>
              <a:rPr lang="en-US" sz="4500" dirty="0"/>
              <a:t>Health Care Access, </a:t>
            </a:r>
            <a:r>
              <a:rPr lang="en-US" sz="4500" b="1" dirty="0"/>
              <a:t>Portability</a:t>
            </a:r>
            <a:r>
              <a:rPr lang="en-US" sz="4500" dirty="0"/>
              <a:t>, and Renewability – Title I, IV</a:t>
            </a:r>
          </a:p>
        </p:txBody>
      </p:sp>
      <p:sp>
        <p:nvSpPr>
          <p:cNvPr id="3" name="Content Placeholder 2">
            <a:extLst>
              <a:ext uri="{FF2B5EF4-FFF2-40B4-BE49-F238E27FC236}">
                <a16:creationId xmlns:a16="http://schemas.microsoft.com/office/drawing/2014/main" id="{413A3BC8-205E-4A62-82F2-9F4EBC8039D3}"/>
              </a:ext>
            </a:extLst>
          </p:cNvPr>
          <p:cNvSpPr>
            <a:spLocks noGrp="1"/>
          </p:cNvSpPr>
          <p:nvPr>
            <p:ph idx="1"/>
          </p:nvPr>
        </p:nvSpPr>
        <p:spPr>
          <a:xfrm>
            <a:off x="677334" y="2159876"/>
            <a:ext cx="8596668" cy="4508938"/>
          </a:xfrm>
        </p:spPr>
        <p:txBody>
          <a:bodyPr vert="horz" lIns="91440" tIns="45720" rIns="91440" bIns="45720" rtlCol="0" anchor="t">
            <a:normAutofit/>
          </a:bodyPr>
          <a:lstStyle/>
          <a:p>
            <a:r>
              <a:rPr lang="en-US" sz="4800" dirty="0"/>
              <a:t>Prevents denial due to a pre-existing condition(s)</a:t>
            </a:r>
          </a:p>
          <a:p>
            <a:pPr lvl="1"/>
            <a:r>
              <a:rPr lang="en-US" sz="3600" dirty="0"/>
              <a:t>Requirements</a:t>
            </a:r>
          </a:p>
          <a:p>
            <a:r>
              <a:rPr lang="en-US" sz="4800" dirty="0"/>
              <a:t>Exemptions</a:t>
            </a:r>
          </a:p>
          <a:p>
            <a:endParaRPr lang="en-US" dirty="0"/>
          </a:p>
        </p:txBody>
      </p:sp>
    </p:spTree>
    <p:extLst>
      <p:ext uri="{BB962C8B-B14F-4D97-AF65-F5344CB8AC3E}">
        <p14:creationId xmlns:p14="http://schemas.microsoft.com/office/powerpoint/2010/main" val="1005069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145" y="250166"/>
            <a:ext cx="9365300" cy="1320800"/>
          </a:xfrm>
        </p:spPr>
        <p:txBody>
          <a:bodyPr>
            <a:normAutofit/>
          </a:bodyPr>
          <a:lstStyle/>
          <a:p>
            <a:pPr algn="ctr"/>
            <a:r>
              <a:rPr lang="en-US" sz="4000" dirty="0"/>
              <a:t>Accountability – Title II known as Administrative Simplification Provisions</a:t>
            </a:r>
          </a:p>
        </p:txBody>
      </p:sp>
      <p:sp>
        <p:nvSpPr>
          <p:cNvPr id="3" name="Content Placeholder 2"/>
          <p:cNvSpPr>
            <a:spLocks noGrp="1"/>
          </p:cNvSpPr>
          <p:nvPr>
            <p:ph idx="1"/>
          </p:nvPr>
        </p:nvSpPr>
        <p:spPr>
          <a:xfrm>
            <a:off x="677334" y="1929114"/>
            <a:ext cx="8596668" cy="4628395"/>
          </a:xfrm>
        </p:spPr>
        <p:txBody>
          <a:bodyPr vert="horz" lIns="91440" tIns="45720" rIns="91440" bIns="45720" rtlCol="0" anchor="t">
            <a:normAutofit/>
          </a:bodyPr>
          <a:lstStyle/>
          <a:p>
            <a:r>
              <a:rPr lang="en-US" sz="4000" dirty="0"/>
              <a:t>Includes 5 rules:</a:t>
            </a:r>
          </a:p>
          <a:p>
            <a:pPr lvl="1"/>
            <a:r>
              <a:rPr lang="en-US" sz="3600" dirty="0"/>
              <a:t>Privacy Rule</a:t>
            </a:r>
          </a:p>
          <a:p>
            <a:pPr lvl="1"/>
            <a:r>
              <a:rPr lang="en-US" sz="3600" dirty="0"/>
              <a:t>Security Rule</a:t>
            </a:r>
          </a:p>
          <a:p>
            <a:pPr lvl="1"/>
            <a:r>
              <a:rPr lang="en-US" sz="3600" dirty="0"/>
              <a:t>Transactions and Code Sets Rule</a:t>
            </a:r>
          </a:p>
          <a:p>
            <a:pPr lvl="1"/>
            <a:r>
              <a:rPr lang="en-US" sz="3600" dirty="0"/>
              <a:t>Unique Identifiers Rule</a:t>
            </a:r>
          </a:p>
          <a:p>
            <a:pPr lvl="1"/>
            <a:r>
              <a:rPr lang="en-US" sz="3600" dirty="0"/>
              <a:t>Enforcement Rule</a:t>
            </a:r>
          </a:p>
          <a:p>
            <a:endParaRPr lang="en-US" dirty="0"/>
          </a:p>
        </p:txBody>
      </p:sp>
    </p:spTree>
    <p:extLst>
      <p:ext uri="{BB962C8B-B14F-4D97-AF65-F5344CB8AC3E}">
        <p14:creationId xmlns:p14="http://schemas.microsoft.com/office/powerpoint/2010/main" val="4029029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91347" y="331245"/>
            <a:ext cx="10310647" cy="1051560"/>
          </a:xfrm>
        </p:spPr>
        <p:txBody>
          <a:bodyPr>
            <a:normAutofit/>
          </a:bodyPr>
          <a:lstStyle/>
          <a:p>
            <a:r>
              <a:rPr lang="en-US" b="1" dirty="0"/>
              <a:t> </a:t>
            </a:r>
            <a:r>
              <a:rPr lang="en-US" sz="5200" b="1" dirty="0"/>
              <a:t>What are HIPAA Privacy Goals?</a:t>
            </a:r>
          </a:p>
        </p:txBody>
      </p:sp>
      <p:sp>
        <p:nvSpPr>
          <p:cNvPr id="20483" name="Content Placeholder 2"/>
          <p:cNvSpPr>
            <a:spLocks noGrp="1"/>
          </p:cNvSpPr>
          <p:nvPr>
            <p:ph idx="1"/>
          </p:nvPr>
        </p:nvSpPr>
        <p:spPr>
          <a:xfrm>
            <a:off x="1155700" y="1628775"/>
            <a:ext cx="7239000" cy="4245936"/>
          </a:xfrm>
        </p:spPr>
        <p:txBody>
          <a:bodyPr>
            <a:normAutofit lnSpcReduction="10000"/>
          </a:bodyPr>
          <a:lstStyle/>
          <a:p>
            <a:pPr marL="339725" indent="-339725">
              <a:lnSpc>
                <a:spcPct val="180000"/>
              </a:lnSpc>
              <a:buClr>
                <a:srgbClr val="CC3300"/>
              </a:buClr>
              <a:buFont typeface="Wingdings" pitchFamily="2" charset="2"/>
              <a:buChar char="Ø"/>
              <a:defRPr/>
            </a:pPr>
            <a:r>
              <a:rPr kumimoji="1" lang="en-US" sz="3600" dirty="0">
                <a:latin typeface="Arial" charset="0"/>
              </a:rPr>
              <a:t>Maintain patient’s trust.</a:t>
            </a:r>
          </a:p>
          <a:p>
            <a:pPr marL="339725" indent="-339725">
              <a:lnSpc>
                <a:spcPct val="180000"/>
              </a:lnSpc>
              <a:buClr>
                <a:srgbClr val="CC3300"/>
              </a:buClr>
              <a:buFont typeface="Wingdings" pitchFamily="2" charset="2"/>
              <a:buChar char="Ø"/>
              <a:defRPr/>
            </a:pPr>
            <a:r>
              <a:rPr kumimoji="1" lang="en-US" sz="3600" dirty="0">
                <a:latin typeface="Arial" charset="0"/>
              </a:rPr>
              <a:t>Patient Safety </a:t>
            </a:r>
          </a:p>
          <a:p>
            <a:pPr marL="339725" indent="-339725">
              <a:lnSpc>
                <a:spcPct val="180000"/>
              </a:lnSpc>
              <a:buClr>
                <a:srgbClr val="CC3300"/>
              </a:buClr>
              <a:buFont typeface="Wingdings" pitchFamily="2" charset="2"/>
              <a:buChar char="Ø"/>
              <a:defRPr/>
            </a:pPr>
            <a:r>
              <a:rPr lang="en-US" sz="3600" dirty="0">
                <a:latin typeface="Arial" charset="0"/>
              </a:rPr>
              <a:t>Safeguard patient’s </a:t>
            </a:r>
            <a:r>
              <a:rPr lang="en-US" sz="3600" b="1" dirty="0">
                <a:latin typeface="Arial" charset="0"/>
              </a:rPr>
              <a:t>PHI </a:t>
            </a:r>
          </a:p>
          <a:p>
            <a:pPr marL="339725" indent="-339725">
              <a:lnSpc>
                <a:spcPct val="180000"/>
              </a:lnSpc>
              <a:buClr>
                <a:srgbClr val="CC3300"/>
              </a:buClr>
              <a:buFont typeface="Wingdings" pitchFamily="2" charset="2"/>
              <a:buChar char="Ø"/>
              <a:defRPr/>
            </a:pPr>
            <a:r>
              <a:rPr kumimoji="1" lang="en-US" sz="3600" dirty="0">
                <a:latin typeface="Arial" charset="0"/>
              </a:rPr>
              <a:t>Educate patients of their rights.</a:t>
            </a:r>
          </a:p>
          <a:p>
            <a:pPr marL="339725" indent="-339725">
              <a:lnSpc>
                <a:spcPct val="180000"/>
              </a:lnSpc>
              <a:buClr>
                <a:srgbClr val="CC3300"/>
              </a:buClr>
              <a:buFont typeface="Wingdings" pitchFamily="2" charset="2"/>
              <a:buChar char="Ø"/>
              <a:defRPr/>
            </a:pPr>
            <a:endParaRPr lang="en-US" b="1" dirty="0">
              <a:latin typeface="Arial" charset="0"/>
            </a:endParaRPr>
          </a:p>
          <a:p>
            <a:pPr marL="339725" indent="-339725">
              <a:lnSpc>
                <a:spcPct val="180000"/>
              </a:lnSpc>
              <a:buClr>
                <a:srgbClr val="CC3300"/>
              </a:buClr>
              <a:buFont typeface="Wingdings" pitchFamily="2" charset="2"/>
              <a:buChar char="Ø"/>
              <a:defRPr/>
            </a:pPr>
            <a:endParaRPr lang="en-US" dirty="0">
              <a:latin typeface="Arial" charset="0"/>
            </a:endParaRPr>
          </a:p>
          <a:p>
            <a:pPr>
              <a:buFontTx/>
              <a:buNone/>
              <a:defRPr/>
            </a:pPr>
            <a:endParaRPr lang="en-US" dirty="0"/>
          </a:p>
        </p:txBody>
      </p:sp>
      <p:pic>
        <p:nvPicPr>
          <p:cNvPr id="3" name="Picture 2">
            <a:extLst>
              <a:ext uri="{FF2B5EF4-FFF2-40B4-BE49-F238E27FC236}">
                <a16:creationId xmlns:a16="http://schemas.microsoft.com/office/drawing/2014/main" id="{A3B097CF-A29B-4609-A90F-74533B61A2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9631" y="1628775"/>
            <a:ext cx="4158022" cy="2471277"/>
          </a:xfrm>
          <a:prstGeom prst="rect">
            <a:avLst/>
          </a:prstGeom>
        </p:spPr>
      </p:pic>
    </p:spTree>
    <p:extLst>
      <p:ext uri="{BB962C8B-B14F-4D97-AF65-F5344CB8AC3E}">
        <p14:creationId xmlns:p14="http://schemas.microsoft.com/office/powerpoint/2010/main" val="1718994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660838"/>
            <a:ext cx="10294882" cy="1143000"/>
          </a:xfrm>
        </p:spPr>
        <p:txBody>
          <a:bodyPr>
            <a:noAutofit/>
          </a:bodyPr>
          <a:lstStyle/>
          <a:p>
            <a:pPr>
              <a:defRPr/>
            </a:pPr>
            <a:r>
              <a:rPr lang="en-US" sz="5200" b="1" dirty="0"/>
              <a:t>Privacy Rule – Who Is Covered?</a:t>
            </a:r>
            <a:endParaRPr lang="en-US" sz="5200" dirty="0"/>
          </a:p>
        </p:txBody>
      </p:sp>
      <p:sp>
        <p:nvSpPr>
          <p:cNvPr id="4099" name="Rectangle 3"/>
          <p:cNvSpPr>
            <a:spLocks noGrp="1" noChangeArrowheads="1"/>
          </p:cNvSpPr>
          <p:nvPr>
            <p:ph idx="1"/>
          </p:nvPr>
        </p:nvSpPr>
        <p:spPr>
          <a:xfrm>
            <a:off x="723900" y="2123768"/>
            <a:ext cx="8826500" cy="4277032"/>
          </a:xfrm>
        </p:spPr>
        <p:txBody>
          <a:bodyPr>
            <a:normAutofit/>
          </a:bodyPr>
          <a:lstStyle/>
          <a:p>
            <a:pPr lvl="1">
              <a:defRPr/>
            </a:pPr>
            <a:r>
              <a:rPr lang="en-US" sz="5400" dirty="0"/>
              <a:t>Covered Entities (CEs):</a:t>
            </a:r>
          </a:p>
          <a:p>
            <a:pPr lvl="2">
              <a:defRPr/>
            </a:pPr>
            <a:r>
              <a:rPr lang="en-US" sz="3600" dirty="0"/>
              <a:t>Health Plans</a:t>
            </a:r>
          </a:p>
          <a:p>
            <a:pPr lvl="2">
              <a:defRPr/>
            </a:pPr>
            <a:r>
              <a:rPr lang="en-US" sz="3600" dirty="0"/>
              <a:t>Health Care Providers</a:t>
            </a:r>
          </a:p>
          <a:p>
            <a:pPr lvl="2">
              <a:defRPr/>
            </a:pPr>
            <a:r>
              <a:rPr lang="en-US" sz="3600" dirty="0"/>
              <a:t>Health Care Clearinghouses</a:t>
            </a:r>
          </a:p>
          <a:p>
            <a:pPr lvl="2">
              <a:defRPr/>
            </a:pPr>
            <a:r>
              <a:rPr lang="en-US" sz="3600" dirty="0"/>
              <a:t>Business Associates</a:t>
            </a:r>
          </a:p>
          <a:p>
            <a:pPr lvl="2">
              <a:defRPr/>
            </a:pPr>
            <a:endParaRPr lang="en-US" sz="2400" dirty="0"/>
          </a:p>
        </p:txBody>
      </p:sp>
    </p:spTree>
    <p:extLst>
      <p:ext uri="{BB962C8B-B14F-4D97-AF65-F5344CB8AC3E}">
        <p14:creationId xmlns:p14="http://schemas.microsoft.com/office/powerpoint/2010/main" val="22540317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9697"/>
            <a:ext cx="10673255" cy="1320800"/>
          </a:xfrm>
        </p:spPr>
        <p:txBody>
          <a:bodyPr>
            <a:noAutofit/>
          </a:bodyPr>
          <a:lstStyle/>
          <a:p>
            <a:r>
              <a:rPr lang="en-US" sz="4400" dirty="0"/>
              <a:t>Limits of Business Associate Functions</a:t>
            </a:r>
          </a:p>
        </p:txBody>
      </p:sp>
      <p:sp>
        <p:nvSpPr>
          <p:cNvPr id="3" name="Content Placeholder 2"/>
          <p:cNvSpPr>
            <a:spLocks noGrp="1"/>
          </p:cNvSpPr>
          <p:nvPr>
            <p:ph idx="1"/>
          </p:nvPr>
        </p:nvSpPr>
        <p:spPr>
          <a:xfrm>
            <a:off x="2093835" y="1073258"/>
            <a:ext cx="5627110" cy="5146702"/>
          </a:xfrm>
        </p:spPr>
        <p:txBody>
          <a:bodyPr vert="horz" lIns="91440" tIns="45720" rIns="91440" bIns="45720" rtlCol="0" anchor="t">
            <a:noAutofit/>
          </a:bodyPr>
          <a:lstStyle/>
          <a:p>
            <a:r>
              <a:rPr lang="en-US" sz="2600" dirty="0"/>
              <a:t>Legal</a:t>
            </a:r>
          </a:p>
          <a:p>
            <a:r>
              <a:rPr lang="en-US" sz="2600" dirty="0"/>
              <a:t>Actuarial</a:t>
            </a:r>
          </a:p>
          <a:p>
            <a:r>
              <a:rPr lang="en-US" sz="2600" dirty="0"/>
              <a:t>Accounting</a:t>
            </a:r>
          </a:p>
          <a:p>
            <a:r>
              <a:rPr lang="en-US" sz="2600" dirty="0"/>
              <a:t>Consulting</a:t>
            </a:r>
          </a:p>
          <a:p>
            <a:r>
              <a:rPr lang="en-US" sz="2600" dirty="0"/>
              <a:t>Data Aggregation</a:t>
            </a:r>
          </a:p>
          <a:p>
            <a:r>
              <a:rPr lang="en-US" sz="2600" dirty="0"/>
              <a:t>Management</a:t>
            </a:r>
          </a:p>
          <a:p>
            <a:r>
              <a:rPr lang="en-US" sz="2600" dirty="0"/>
              <a:t>Administrative</a:t>
            </a:r>
          </a:p>
          <a:p>
            <a:r>
              <a:rPr lang="en-US" sz="2600" dirty="0"/>
              <a:t>Accreditation</a:t>
            </a:r>
          </a:p>
          <a:p>
            <a:r>
              <a:rPr lang="en-US" sz="2600" dirty="0"/>
              <a:t>Financial Services</a:t>
            </a:r>
          </a:p>
          <a:p>
            <a:r>
              <a:rPr lang="en-US" sz="2600" dirty="0"/>
              <a:t>Others?</a:t>
            </a:r>
          </a:p>
        </p:txBody>
      </p:sp>
    </p:spTree>
    <p:extLst>
      <p:ext uri="{BB962C8B-B14F-4D97-AF65-F5344CB8AC3E}">
        <p14:creationId xmlns:p14="http://schemas.microsoft.com/office/powerpoint/2010/main" val="2716262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717" y="609600"/>
            <a:ext cx="9412014" cy="1320800"/>
          </a:xfrm>
        </p:spPr>
        <p:txBody>
          <a:bodyPr>
            <a:noAutofit/>
          </a:bodyPr>
          <a:lstStyle/>
          <a:p>
            <a:r>
              <a:rPr lang="en-US" sz="4200" dirty="0"/>
              <a:t>Business Associate Agreements (BAAs)</a:t>
            </a:r>
          </a:p>
        </p:txBody>
      </p:sp>
      <p:sp>
        <p:nvSpPr>
          <p:cNvPr id="3" name="Content Placeholder 2"/>
          <p:cNvSpPr>
            <a:spLocks noGrp="1"/>
          </p:cNvSpPr>
          <p:nvPr>
            <p:ph idx="1"/>
          </p:nvPr>
        </p:nvSpPr>
        <p:spPr>
          <a:xfrm>
            <a:off x="677334" y="1930400"/>
            <a:ext cx="9712142" cy="4470400"/>
          </a:xfrm>
        </p:spPr>
        <p:txBody>
          <a:bodyPr vert="horz" lIns="91440" tIns="45720" rIns="91440" bIns="45720" rtlCol="0" anchor="t">
            <a:normAutofit/>
          </a:bodyPr>
          <a:lstStyle/>
          <a:p>
            <a:r>
              <a:rPr lang="en-US" sz="4000" dirty="0"/>
              <a:t>CE required protections Protected Health Information (PHI)</a:t>
            </a:r>
          </a:p>
          <a:p>
            <a:pPr lvl="1"/>
            <a:r>
              <a:rPr lang="en-US" sz="3400" dirty="0"/>
              <a:t>Permitted uses of Protected Health Information (PHI)</a:t>
            </a:r>
          </a:p>
          <a:p>
            <a:pPr lvl="1"/>
            <a:r>
              <a:rPr lang="en-US" sz="3400" dirty="0"/>
              <a:t>Appropriate safeguards to protect PHI</a:t>
            </a:r>
          </a:p>
          <a:p>
            <a:pPr lvl="1"/>
            <a:r>
              <a:rPr lang="en-US" sz="3400" dirty="0"/>
              <a:t>Steps to cure breaches or end violations</a:t>
            </a:r>
          </a:p>
        </p:txBody>
      </p:sp>
    </p:spTree>
    <p:extLst>
      <p:ext uri="{BB962C8B-B14F-4D97-AF65-F5344CB8AC3E}">
        <p14:creationId xmlns:p14="http://schemas.microsoft.com/office/powerpoint/2010/main" val="608694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95" y="625366"/>
            <a:ext cx="9900745" cy="1320800"/>
          </a:xfrm>
        </p:spPr>
        <p:txBody>
          <a:bodyPr>
            <a:noAutofit/>
          </a:bodyPr>
          <a:lstStyle/>
          <a:p>
            <a:r>
              <a:rPr lang="en-US" sz="5400" dirty="0"/>
              <a:t>What Information is Protected?</a:t>
            </a:r>
          </a:p>
        </p:txBody>
      </p:sp>
      <p:sp>
        <p:nvSpPr>
          <p:cNvPr id="3" name="Content Placeholder 2"/>
          <p:cNvSpPr>
            <a:spLocks noGrp="1"/>
          </p:cNvSpPr>
          <p:nvPr>
            <p:ph idx="1"/>
          </p:nvPr>
        </p:nvSpPr>
        <p:spPr>
          <a:xfrm>
            <a:off x="677334" y="2160589"/>
            <a:ext cx="8596668" cy="4224445"/>
          </a:xfrm>
        </p:spPr>
        <p:txBody>
          <a:bodyPr vert="horz" lIns="91440" tIns="45720" rIns="91440" bIns="45720" rtlCol="0" anchor="t">
            <a:normAutofit/>
          </a:bodyPr>
          <a:lstStyle/>
          <a:p>
            <a:r>
              <a:rPr lang="en-US" sz="5400" dirty="0"/>
              <a:t>PHI</a:t>
            </a:r>
          </a:p>
          <a:p>
            <a:pPr lvl="1"/>
            <a:r>
              <a:rPr lang="en-US" sz="3600" dirty="0"/>
              <a:t>All individually identifiable health information</a:t>
            </a:r>
          </a:p>
          <a:p>
            <a:pPr lvl="1"/>
            <a:r>
              <a:rPr lang="en-US" sz="3600" dirty="0"/>
              <a:t>Any form or media whether electronic, paper or verbal</a:t>
            </a:r>
          </a:p>
        </p:txBody>
      </p:sp>
    </p:spTree>
    <p:extLst>
      <p:ext uri="{BB962C8B-B14F-4D97-AF65-F5344CB8AC3E}">
        <p14:creationId xmlns:p14="http://schemas.microsoft.com/office/powerpoint/2010/main" val="954371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704" y="140473"/>
            <a:ext cx="11051628" cy="1688328"/>
          </a:xfrm>
        </p:spPr>
        <p:txBody>
          <a:bodyPr>
            <a:noAutofit/>
          </a:bodyPr>
          <a:lstStyle/>
          <a:p>
            <a:pPr algn="ctr"/>
            <a:r>
              <a:rPr lang="en-US" sz="5400" dirty="0"/>
              <a:t>Individually Identifiable Health Information</a:t>
            </a:r>
          </a:p>
        </p:txBody>
      </p:sp>
      <p:sp>
        <p:nvSpPr>
          <p:cNvPr id="3" name="Content Placeholder 2"/>
          <p:cNvSpPr>
            <a:spLocks noGrp="1"/>
          </p:cNvSpPr>
          <p:nvPr>
            <p:ph idx="1"/>
          </p:nvPr>
        </p:nvSpPr>
        <p:spPr>
          <a:xfrm>
            <a:off x="202882" y="1815533"/>
            <a:ext cx="9588704" cy="4742922"/>
          </a:xfrm>
        </p:spPr>
        <p:txBody>
          <a:bodyPr vert="horz" lIns="91440" tIns="45720" rIns="91440" bIns="45720" rtlCol="0" anchor="t">
            <a:normAutofit/>
          </a:bodyPr>
          <a:lstStyle/>
          <a:p>
            <a:r>
              <a:rPr lang="en-US" sz="4000" dirty="0"/>
              <a:t>Information (including demographics) that relates to</a:t>
            </a:r>
          </a:p>
          <a:p>
            <a:pPr lvl="1"/>
            <a:r>
              <a:rPr lang="en-US" sz="3200" dirty="0"/>
              <a:t>The individual’s past, present or </a:t>
            </a:r>
            <a:r>
              <a:rPr lang="en-US" sz="3200" dirty="0">
                <a:solidFill>
                  <a:srgbClr val="FF0000"/>
                </a:solidFill>
              </a:rPr>
              <a:t>future</a:t>
            </a:r>
            <a:r>
              <a:rPr lang="en-US" sz="3200" dirty="0">
                <a:solidFill>
                  <a:srgbClr val="404040"/>
                </a:solidFill>
              </a:rPr>
              <a:t> </a:t>
            </a:r>
            <a:r>
              <a:rPr lang="en-US" sz="3200" dirty="0"/>
              <a:t>physical or mental health or condition</a:t>
            </a:r>
          </a:p>
          <a:p>
            <a:pPr lvl="1"/>
            <a:r>
              <a:rPr lang="en-US" sz="3200" dirty="0"/>
              <a:t>The provision of health care to the individual</a:t>
            </a:r>
          </a:p>
          <a:p>
            <a:pPr lvl="1"/>
            <a:r>
              <a:rPr lang="en-US" sz="3200" dirty="0"/>
              <a:t>The past, present or future payment of the provision of health care to the individual</a:t>
            </a:r>
          </a:p>
        </p:txBody>
      </p:sp>
    </p:spTree>
    <p:extLst>
      <p:ext uri="{BB962C8B-B14F-4D97-AF65-F5344CB8AC3E}">
        <p14:creationId xmlns:p14="http://schemas.microsoft.com/office/powerpoint/2010/main" val="2199123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59" y="204952"/>
            <a:ext cx="9163643" cy="1725448"/>
          </a:xfrm>
        </p:spPr>
        <p:txBody>
          <a:bodyPr>
            <a:noAutofit/>
          </a:bodyPr>
          <a:lstStyle/>
          <a:p>
            <a:pPr algn="ctr"/>
            <a:r>
              <a:rPr lang="en-US" sz="5400" dirty="0"/>
              <a:t>Individually Identifiable Health Information</a:t>
            </a:r>
          </a:p>
        </p:txBody>
      </p:sp>
      <p:sp>
        <p:nvSpPr>
          <p:cNvPr id="3" name="Content Placeholder 2"/>
          <p:cNvSpPr>
            <a:spLocks noGrp="1"/>
          </p:cNvSpPr>
          <p:nvPr>
            <p:ph idx="1"/>
          </p:nvPr>
        </p:nvSpPr>
        <p:spPr>
          <a:xfrm>
            <a:off x="677334" y="2159713"/>
            <a:ext cx="9545572" cy="4484622"/>
          </a:xfrm>
        </p:spPr>
        <p:txBody>
          <a:bodyPr vert="horz" lIns="91440" tIns="45720" rIns="91440" bIns="45720" rtlCol="0" anchor="t">
            <a:normAutofit/>
          </a:bodyPr>
          <a:lstStyle/>
          <a:p>
            <a:r>
              <a:rPr lang="en-US" sz="4000" dirty="0"/>
              <a:t>This information may include</a:t>
            </a:r>
          </a:p>
          <a:p>
            <a:pPr lvl="1"/>
            <a:r>
              <a:rPr lang="en-US" sz="3600" dirty="0"/>
              <a:t>Health Plan Information</a:t>
            </a:r>
          </a:p>
          <a:p>
            <a:pPr lvl="1"/>
            <a:r>
              <a:rPr lang="en-US" sz="3600" dirty="0"/>
              <a:t>Test Results</a:t>
            </a:r>
          </a:p>
          <a:p>
            <a:pPr lvl="1"/>
            <a:r>
              <a:rPr lang="en-US" sz="3600" dirty="0"/>
              <a:t>Clinical Notes and Procedural Information</a:t>
            </a:r>
          </a:p>
          <a:p>
            <a:pPr lvl="1"/>
            <a:r>
              <a:rPr lang="en-US" sz="3600" dirty="0"/>
              <a:t>Care Plans</a:t>
            </a:r>
          </a:p>
          <a:p>
            <a:endParaRPr lang="en-US" sz="3200" dirty="0"/>
          </a:p>
          <a:p>
            <a:endParaRPr lang="en-US" dirty="0"/>
          </a:p>
        </p:txBody>
      </p:sp>
    </p:spTree>
    <p:extLst>
      <p:ext uri="{BB962C8B-B14F-4D97-AF65-F5344CB8AC3E}">
        <p14:creationId xmlns:p14="http://schemas.microsoft.com/office/powerpoint/2010/main" val="4102716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445"/>
            <a:ext cx="8596668" cy="1607653"/>
          </a:xfrm>
        </p:spPr>
        <p:txBody>
          <a:bodyPr>
            <a:noAutofit/>
          </a:bodyPr>
          <a:lstStyle/>
          <a:p>
            <a:pPr algn="ctr"/>
            <a:r>
              <a:rPr lang="en-US" sz="5400" dirty="0"/>
              <a:t>Individually Identifiable Health Information</a:t>
            </a:r>
          </a:p>
        </p:txBody>
      </p:sp>
      <p:sp>
        <p:nvSpPr>
          <p:cNvPr id="3" name="Content Placeholder 2"/>
          <p:cNvSpPr>
            <a:spLocks noGrp="1"/>
          </p:cNvSpPr>
          <p:nvPr>
            <p:ph idx="1"/>
          </p:nvPr>
        </p:nvSpPr>
        <p:spPr>
          <a:xfrm>
            <a:off x="677334" y="1718838"/>
            <a:ext cx="8596668" cy="4902679"/>
          </a:xfrm>
        </p:spPr>
        <p:txBody>
          <a:bodyPr vert="horz" lIns="91440" tIns="45720" rIns="91440" bIns="45720" rtlCol="0" anchor="t">
            <a:normAutofit fontScale="92500" lnSpcReduction="10000"/>
          </a:bodyPr>
          <a:lstStyle/>
          <a:p>
            <a:r>
              <a:rPr lang="en-US" sz="3600" dirty="0"/>
              <a:t>Demographic methods of identifying individuals</a:t>
            </a:r>
            <a:endParaRPr lang="en-US" sz="3600"/>
          </a:p>
          <a:p>
            <a:pPr lvl="1"/>
            <a:r>
              <a:rPr lang="en-US" sz="3200" dirty="0"/>
              <a:t>Name</a:t>
            </a:r>
          </a:p>
          <a:p>
            <a:pPr lvl="1"/>
            <a:r>
              <a:rPr lang="en-US" sz="3200" dirty="0"/>
              <a:t>Address</a:t>
            </a:r>
          </a:p>
          <a:p>
            <a:pPr lvl="1"/>
            <a:r>
              <a:rPr lang="en-US" sz="3200" dirty="0"/>
              <a:t>Birth Date</a:t>
            </a:r>
          </a:p>
          <a:p>
            <a:pPr lvl="1"/>
            <a:r>
              <a:rPr lang="en-US" sz="3200" dirty="0"/>
              <a:t>Social Security Number</a:t>
            </a:r>
          </a:p>
          <a:p>
            <a:pPr lvl="1"/>
            <a:r>
              <a:rPr lang="en-US" sz="3200" dirty="0"/>
              <a:t>Phone Number</a:t>
            </a:r>
          </a:p>
          <a:p>
            <a:pPr lvl="1"/>
            <a:r>
              <a:rPr lang="en-US" sz="3200" dirty="0"/>
              <a:t>Fax Number</a:t>
            </a:r>
          </a:p>
          <a:p>
            <a:pPr lvl="1"/>
            <a:r>
              <a:rPr lang="en-US" sz="3200" dirty="0"/>
              <a:t>Email</a:t>
            </a:r>
          </a:p>
        </p:txBody>
      </p:sp>
    </p:spTree>
    <p:extLst>
      <p:ext uri="{BB962C8B-B14F-4D97-AF65-F5344CB8AC3E}">
        <p14:creationId xmlns:p14="http://schemas.microsoft.com/office/powerpoint/2010/main" val="2726837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20717"/>
            <a:ext cx="8596668" cy="1709683"/>
          </a:xfrm>
        </p:spPr>
        <p:txBody>
          <a:bodyPr>
            <a:noAutofit/>
          </a:bodyPr>
          <a:lstStyle/>
          <a:p>
            <a:pPr algn="ctr"/>
            <a:r>
              <a:rPr lang="en-US" sz="5400" dirty="0"/>
              <a:t>Individually Identifiable Health Information</a:t>
            </a:r>
          </a:p>
        </p:txBody>
      </p:sp>
      <p:sp>
        <p:nvSpPr>
          <p:cNvPr id="3" name="Content Placeholder 2"/>
          <p:cNvSpPr>
            <a:spLocks noGrp="1"/>
          </p:cNvSpPr>
          <p:nvPr>
            <p:ph idx="1"/>
          </p:nvPr>
        </p:nvSpPr>
        <p:spPr>
          <a:xfrm>
            <a:off x="677334" y="2507430"/>
            <a:ext cx="8596668" cy="3880773"/>
          </a:xfrm>
        </p:spPr>
        <p:txBody>
          <a:bodyPr vert="horz" lIns="91440" tIns="45720" rIns="91440" bIns="45720" rtlCol="0" anchor="t">
            <a:normAutofit/>
          </a:bodyPr>
          <a:lstStyle/>
          <a:p>
            <a:r>
              <a:rPr lang="en-US" sz="3600" dirty="0"/>
              <a:t>Medical information identifying individuals</a:t>
            </a:r>
          </a:p>
          <a:p>
            <a:pPr lvl="1"/>
            <a:r>
              <a:rPr lang="en-US" sz="2800" dirty="0"/>
              <a:t>Admission/Discharge Dates</a:t>
            </a:r>
          </a:p>
          <a:p>
            <a:pPr lvl="1"/>
            <a:r>
              <a:rPr lang="en-US" sz="2800" dirty="0"/>
              <a:t>Date of Death</a:t>
            </a:r>
          </a:p>
          <a:p>
            <a:pPr lvl="1"/>
            <a:r>
              <a:rPr lang="en-US" sz="2800" dirty="0"/>
              <a:t>Medical Record Number</a:t>
            </a:r>
          </a:p>
          <a:p>
            <a:pPr lvl="1"/>
            <a:r>
              <a:rPr lang="en-US" sz="2800" dirty="0"/>
              <a:t>Health Plan Information</a:t>
            </a:r>
          </a:p>
        </p:txBody>
      </p:sp>
    </p:spTree>
    <p:extLst>
      <p:ext uri="{BB962C8B-B14F-4D97-AF65-F5344CB8AC3E}">
        <p14:creationId xmlns:p14="http://schemas.microsoft.com/office/powerpoint/2010/main" val="590317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46738"/>
            <a:ext cx="8596668" cy="1583662"/>
          </a:xfrm>
        </p:spPr>
        <p:txBody>
          <a:bodyPr>
            <a:noAutofit/>
          </a:bodyPr>
          <a:lstStyle/>
          <a:p>
            <a:pPr algn="ctr"/>
            <a:r>
              <a:rPr lang="en-US" sz="5400" dirty="0"/>
              <a:t>Individually Identifiable Health Information</a:t>
            </a:r>
          </a:p>
        </p:txBody>
      </p:sp>
      <p:sp>
        <p:nvSpPr>
          <p:cNvPr id="3" name="Content Placeholder 2"/>
          <p:cNvSpPr>
            <a:spLocks noGrp="1"/>
          </p:cNvSpPr>
          <p:nvPr>
            <p:ph idx="1"/>
          </p:nvPr>
        </p:nvSpPr>
        <p:spPr>
          <a:xfrm>
            <a:off x="677334" y="2630489"/>
            <a:ext cx="8596668" cy="3880773"/>
          </a:xfrm>
        </p:spPr>
        <p:txBody>
          <a:bodyPr vert="horz" lIns="91440" tIns="45720" rIns="91440" bIns="45720" rtlCol="0" anchor="t">
            <a:normAutofit/>
          </a:bodyPr>
          <a:lstStyle/>
          <a:p>
            <a:r>
              <a:rPr lang="en-US" sz="4000" dirty="0"/>
              <a:t>Technical information identifying individuals</a:t>
            </a:r>
          </a:p>
          <a:p>
            <a:pPr lvl="1"/>
            <a:r>
              <a:rPr lang="en-US" sz="3200" dirty="0"/>
              <a:t>Biometric Identifiers (finger or voice prints)</a:t>
            </a:r>
          </a:p>
          <a:p>
            <a:pPr lvl="1"/>
            <a:r>
              <a:rPr lang="en-US" sz="3200" dirty="0"/>
              <a:t>Full-Facial Photographic Images</a:t>
            </a:r>
          </a:p>
        </p:txBody>
      </p:sp>
    </p:spTree>
    <p:extLst>
      <p:ext uri="{BB962C8B-B14F-4D97-AF65-F5344CB8AC3E}">
        <p14:creationId xmlns:p14="http://schemas.microsoft.com/office/powerpoint/2010/main" val="1301917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61268" y="126646"/>
            <a:ext cx="8229600" cy="1574446"/>
          </a:xfrm>
        </p:spPr>
        <p:txBody>
          <a:bodyPr>
            <a:noAutofit/>
          </a:bodyPr>
          <a:lstStyle/>
          <a:p>
            <a:pPr algn="ctr"/>
            <a:r>
              <a:rPr lang="en-US" sz="5400" b="1" dirty="0"/>
              <a:t>When are we permitted to share PHI?</a:t>
            </a:r>
            <a:endParaRPr lang="en-US" sz="5400" dirty="0"/>
          </a:p>
        </p:txBody>
      </p:sp>
      <p:sp>
        <p:nvSpPr>
          <p:cNvPr id="21507" name="Content Placeholder 2"/>
          <p:cNvSpPr>
            <a:spLocks noGrp="1"/>
          </p:cNvSpPr>
          <p:nvPr>
            <p:ph idx="1"/>
          </p:nvPr>
        </p:nvSpPr>
        <p:spPr>
          <a:xfrm>
            <a:off x="472966" y="1752600"/>
            <a:ext cx="6700344" cy="5105400"/>
          </a:xfrm>
        </p:spPr>
        <p:txBody>
          <a:bodyPr>
            <a:normAutofit lnSpcReduction="10000"/>
          </a:bodyPr>
          <a:lstStyle/>
          <a:p>
            <a:pPr marL="0" indent="0">
              <a:lnSpc>
                <a:spcPct val="140000"/>
              </a:lnSpc>
              <a:buClr>
                <a:schemeClr val="tx1"/>
              </a:buClr>
              <a:buSzPct val="75000"/>
              <a:buNone/>
            </a:pPr>
            <a:r>
              <a:rPr lang="en-US" sz="4800" dirty="0"/>
              <a:t>TPO</a:t>
            </a:r>
          </a:p>
          <a:p>
            <a:pPr marL="586613" lvl="1" indent="-339725">
              <a:lnSpc>
                <a:spcPct val="140000"/>
              </a:lnSpc>
              <a:buClr>
                <a:schemeClr val="tx1"/>
              </a:buClr>
              <a:buSzPct val="75000"/>
            </a:pPr>
            <a:r>
              <a:rPr lang="en-US" sz="4400" dirty="0"/>
              <a:t>Treatment</a:t>
            </a:r>
          </a:p>
          <a:p>
            <a:pPr marL="586613" lvl="1" indent="-339725">
              <a:lnSpc>
                <a:spcPct val="140000"/>
              </a:lnSpc>
              <a:buClr>
                <a:schemeClr val="tx1"/>
              </a:buClr>
              <a:buSzPct val="75000"/>
            </a:pPr>
            <a:r>
              <a:rPr lang="en-US" sz="4400" dirty="0"/>
              <a:t>Payment </a:t>
            </a:r>
          </a:p>
          <a:p>
            <a:pPr marL="586613" lvl="1" indent="-339725">
              <a:lnSpc>
                <a:spcPct val="140000"/>
              </a:lnSpc>
              <a:buClr>
                <a:schemeClr val="tx1"/>
              </a:buClr>
              <a:buSzPct val="75000"/>
            </a:pPr>
            <a:r>
              <a:rPr lang="en-US" sz="4400" dirty="0"/>
              <a:t>Health Care Operations</a:t>
            </a:r>
          </a:p>
          <a:p>
            <a:pPr marL="339725" indent="-339725">
              <a:lnSpc>
                <a:spcPct val="140000"/>
              </a:lnSpc>
              <a:buClr>
                <a:schemeClr val="tx1"/>
              </a:buClr>
              <a:buSzPct val="75000"/>
              <a:buNone/>
            </a:pPr>
            <a:r>
              <a:rPr lang="en-US" sz="4400" dirty="0"/>
              <a:t>	</a:t>
            </a:r>
          </a:p>
          <a:p>
            <a:pPr marL="739775" lvl="1" indent="-339725">
              <a:lnSpc>
                <a:spcPct val="140000"/>
              </a:lnSpc>
              <a:buClr>
                <a:schemeClr val="tx1"/>
              </a:buClr>
              <a:buSzPct val="75000"/>
            </a:pPr>
            <a:endParaRPr lang="en-US" dirty="0"/>
          </a:p>
        </p:txBody>
      </p:sp>
      <p:pic>
        <p:nvPicPr>
          <p:cNvPr id="3" name="Picture 2" descr="A picture containing screenshot, LEGO&#10;&#10;Description automatically generated">
            <a:extLst>
              <a:ext uri="{FF2B5EF4-FFF2-40B4-BE49-F238E27FC236}">
                <a16:creationId xmlns:a16="http://schemas.microsoft.com/office/drawing/2014/main" id="{89EC890D-3A3B-740C-5BE7-521CEEDC159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925059" y="1819603"/>
            <a:ext cx="5105672" cy="3218793"/>
          </a:xfrm>
          <a:prstGeom prst="rect">
            <a:avLst/>
          </a:prstGeom>
        </p:spPr>
      </p:pic>
      <p:sp>
        <p:nvSpPr>
          <p:cNvPr id="4" name="TextBox 3">
            <a:extLst>
              <a:ext uri="{FF2B5EF4-FFF2-40B4-BE49-F238E27FC236}">
                <a16:creationId xmlns:a16="http://schemas.microsoft.com/office/drawing/2014/main" id="{9B39BB1A-D033-FB58-2130-88ECB9DE5512}"/>
              </a:ext>
            </a:extLst>
          </p:cNvPr>
          <p:cNvSpPr txBox="1"/>
          <p:nvPr/>
        </p:nvSpPr>
        <p:spPr>
          <a:xfrm>
            <a:off x="7725102" y="4626135"/>
            <a:ext cx="4305629" cy="230832"/>
          </a:xfrm>
          <a:prstGeom prst="rect">
            <a:avLst/>
          </a:prstGeom>
          <a:noFill/>
        </p:spPr>
        <p:txBody>
          <a:bodyPr wrap="square" rtlCol="0">
            <a:spAutoFit/>
          </a:bodyPr>
          <a:lstStyle/>
          <a:p>
            <a:r>
              <a:rPr lang="en-US" sz="900">
                <a:hlinkClick r:id="rId4" tooltip="https://internationaljournalofresearch.com/2020/07/01/benchmarking-in-the-healthcare-system-by-nikhil-kumar/"/>
              </a:rPr>
              <a:t>This Photo</a:t>
            </a:r>
            <a:r>
              <a:rPr lang="en-US" sz="900"/>
              <a:t> by Unknown Author is licensed under </a:t>
            </a:r>
            <a:r>
              <a:rPr lang="en-US" sz="900">
                <a:hlinkClick r:id="rId5" tooltip="https://creativecommons.org/licenses/by-nc-nd/3.0/"/>
              </a:rPr>
              <a:t>CC BY-NC-ND</a:t>
            </a:r>
            <a:endParaRPr lang="en-US" sz="900"/>
          </a:p>
        </p:txBody>
      </p:sp>
    </p:spTree>
    <p:extLst>
      <p:ext uri="{BB962C8B-B14F-4D97-AF65-F5344CB8AC3E}">
        <p14:creationId xmlns:p14="http://schemas.microsoft.com/office/powerpoint/2010/main" val="105474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117" y="610295"/>
            <a:ext cx="11302267" cy="1103586"/>
          </a:xfrm>
        </p:spPr>
        <p:txBody>
          <a:bodyPr>
            <a:noAutofit/>
          </a:bodyPr>
          <a:lstStyle/>
          <a:p>
            <a:pPr>
              <a:spcBef>
                <a:spcPts val="1000"/>
              </a:spcBef>
            </a:pPr>
            <a:r>
              <a:rPr lang="en-US" sz="5400" dirty="0"/>
              <a:t>Minimum Necessary Standard</a:t>
            </a:r>
          </a:p>
          <a:p>
            <a:pPr algn="ctr"/>
            <a:endParaRPr lang="en-US" sz="6600" dirty="0"/>
          </a:p>
        </p:txBody>
      </p:sp>
      <p:sp>
        <p:nvSpPr>
          <p:cNvPr id="3" name="Content Placeholder 2"/>
          <p:cNvSpPr>
            <a:spLocks noGrp="1"/>
          </p:cNvSpPr>
          <p:nvPr>
            <p:ph idx="1"/>
          </p:nvPr>
        </p:nvSpPr>
        <p:spPr>
          <a:xfrm>
            <a:off x="637163" y="2476277"/>
            <a:ext cx="8375457" cy="2966793"/>
          </a:xfrm>
        </p:spPr>
        <p:txBody>
          <a:bodyPr vert="horz" lIns="91440" tIns="45720" rIns="91440" bIns="45720" rtlCol="0" anchor="t">
            <a:normAutofit/>
          </a:bodyPr>
          <a:lstStyle/>
          <a:p>
            <a:pPr marL="457200" lvl="1" indent="0" algn="ctr">
              <a:buNone/>
            </a:pPr>
            <a:r>
              <a:rPr lang="en-US" sz="4400" dirty="0"/>
              <a:t>Only access what you NEED to treat the patient or obtain payment for the treatment</a:t>
            </a:r>
            <a:endParaRPr lang="en-US"/>
          </a:p>
          <a:p>
            <a:pPr marL="457200" lvl="1" indent="0">
              <a:buNone/>
            </a:pPr>
            <a:endParaRPr lang="en-US" sz="3600" dirty="0"/>
          </a:p>
          <a:p>
            <a:endParaRPr lang="en-US" dirty="0"/>
          </a:p>
        </p:txBody>
      </p:sp>
    </p:spTree>
    <p:extLst>
      <p:ext uri="{BB962C8B-B14F-4D97-AF65-F5344CB8AC3E}">
        <p14:creationId xmlns:p14="http://schemas.microsoft.com/office/powerpoint/2010/main" val="135463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AutoShape 2"/>
          <p:cNvSpPr>
            <a:spLocks noGrp="1" noChangeArrowheads="1"/>
          </p:cNvSpPr>
          <p:nvPr>
            <p:ph type="title"/>
          </p:nvPr>
        </p:nvSpPr>
        <p:spPr>
          <a:xfrm>
            <a:off x="677334" y="268014"/>
            <a:ext cx="8596668" cy="1662386"/>
          </a:xfrm>
        </p:spPr>
        <p:txBody>
          <a:bodyPr>
            <a:noAutofit/>
          </a:bodyPr>
          <a:lstStyle/>
          <a:p>
            <a:pPr algn="ctr"/>
            <a:r>
              <a:rPr lang="en-US" sz="4800" dirty="0"/>
              <a:t>Permitted / Required Uses and Disclosures of PHI</a:t>
            </a:r>
          </a:p>
        </p:txBody>
      </p:sp>
      <p:sp>
        <p:nvSpPr>
          <p:cNvPr id="7171" name="Rectangle 3"/>
          <p:cNvSpPr>
            <a:spLocks noGrp="1" noChangeArrowheads="1"/>
          </p:cNvSpPr>
          <p:nvPr>
            <p:ph idx="1"/>
          </p:nvPr>
        </p:nvSpPr>
        <p:spPr>
          <a:xfrm>
            <a:off x="674208" y="1930400"/>
            <a:ext cx="9374299" cy="4659586"/>
          </a:xfrm>
        </p:spPr>
        <p:txBody>
          <a:bodyPr vert="horz" lIns="91440" tIns="45720" rIns="91440" bIns="45720" rtlCol="0" anchor="t">
            <a:normAutofit/>
          </a:bodyPr>
          <a:lstStyle/>
          <a:p>
            <a:pPr>
              <a:lnSpc>
                <a:spcPct val="90000"/>
              </a:lnSpc>
              <a:buFont typeface="Wingdings" pitchFamily="2" charset="2"/>
              <a:buChar char="Ø"/>
            </a:pPr>
            <a:r>
              <a:rPr lang="en-US" sz="3600" dirty="0"/>
              <a:t>To the Individual </a:t>
            </a:r>
          </a:p>
          <a:p>
            <a:pPr>
              <a:lnSpc>
                <a:spcPct val="90000"/>
              </a:lnSpc>
              <a:buFont typeface="Wingdings" pitchFamily="2" charset="2"/>
              <a:buChar char="Ø"/>
            </a:pPr>
            <a:r>
              <a:rPr lang="en-US" sz="3600" dirty="0"/>
              <a:t>Public Policy</a:t>
            </a:r>
          </a:p>
          <a:p>
            <a:pPr>
              <a:lnSpc>
                <a:spcPct val="90000"/>
              </a:lnSpc>
              <a:buFont typeface="Wingdings" pitchFamily="2" charset="2"/>
              <a:buChar char="Ø"/>
            </a:pPr>
            <a:r>
              <a:rPr lang="en-US" sz="3600" dirty="0"/>
              <a:t>De-identified</a:t>
            </a:r>
          </a:p>
          <a:p>
            <a:pPr>
              <a:lnSpc>
                <a:spcPct val="90000"/>
              </a:lnSpc>
              <a:buFont typeface="Wingdings" pitchFamily="2" charset="2"/>
              <a:buChar char="Ø"/>
            </a:pPr>
            <a:r>
              <a:rPr lang="en-US" sz="3600" dirty="0"/>
              <a:t>“Incidental” - </a:t>
            </a:r>
            <a:r>
              <a:rPr lang="en-US" sz="2800" dirty="0"/>
              <a:t>accidental when safeguards in place</a:t>
            </a:r>
          </a:p>
          <a:p>
            <a:pPr>
              <a:lnSpc>
                <a:spcPct val="90000"/>
              </a:lnSpc>
              <a:buFont typeface="Wingdings" pitchFamily="2" charset="2"/>
              <a:buChar char="Ø"/>
            </a:pPr>
            <a:r>
              <a:rPr lang="en-US" sz="3600" dirty="0"/>
              <a:t>Authorized by patient</a:t>
            </a:r>
          </a:p>
          <a:p>
            <a:pPr>
              <a:lnSpc>
                <a:spcPct val="90000"/>
              </a:lnSpc>
              <a:buFont typeface="Wingdings" pitchFamily="2" charset="2"/>
              <a:buChar char="Ø"/>
            </a:pPr>
            <a:r>
              <a:rPr lang="en-US" sz="3600" dirty="0"/>
              <a:t>Required by court</a:t>
            </a:r>
          </a:p>
          <a:p>
            <a:pPr>
              <a:lnSpc>
                <a:spcPct val="90000"/>
              </a:lnSpc>
              <a:buFont typeface="Wingdings" pitchFamily="2" charset="2"/>
              <a:buChar char="Ø"/>
            </a:pPr>
            <a:r>
              <a:rPr lang="en-US" sz="3600" dirty="0"/>
              <a:t>To the Secretary of HHS upon request</a:t>
            </a:r>
          </a:p>
          <a:p>
            <a:pPr>
              <a:lnSpc>
                <a:spcPct val="90000"/>
              </a:lnSpc>
              <a:buFont typeface="Wingdings" pitchFamily="2" charset="2"/>
              <a:buChar char="Ø"/>
            </a:pPr>
            <a:endParaRPr lang="en-US" sz="3600" dirty="0"/>
          </a:p>
        </p:txBody>
      </p:sp>
    </p:spTree>
    <p:extLst>
      <p:ext uri="{BB962C8B-B14F-4D97-AF65-F5344CB8AC3E}">
        <p14:creationId xmlns:p14="http://schemas.microsoft.com/office/powerpoint/2010/main" val="35857318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De-Identified Health Information</a:t>
            </a:r>
          </a:p>
        </p:txBody>
      </p:sp>
      <p:sp>
        <p:nvSpPr>
          <p:cNvPr id="3" name="Content Placeholder 2"/>
          <p:cNvSpPr>
            <a:spLocks noGrp="1"/>
          </p:cNvSpPr>
          <p:nvPr>
            <p:ph idx="1"/>
          </p:nvPr>
        </p:nvSpPr>
        <p:spPr/>
        <p:txBody>
          <a:bodyPr>
            <a:normAutofit lnSpcReduction="10000"/>
          </a:bodyPr>
          <a:lstStyle/>
          <a:p>
            <a:r>
              <a:rPr lang="en-US" sz="3200" dirty="0"/>
              <a:t>No restricted uses</a:t>
            </a:r>
          </a:p>
          <a:p>
            <a:r>
              <a:rPr lang="en-US" sz="3200" dirty="0"/>
              <a:t>Often used for research</a:t>
            </a:r>
          </a:p>
          <a:p>
            <a:r>
              <a:rPr lang="en-US" sz="3200" dirty="0"/>
              <a:t>Done by formal determination by a qualified statistician or</a:t>
            </a:r>
          </a:p>
          <a:p>
            <a:r>
              <a:rPr lang="en-US" sz="3200" dirty="0"/>
              <a:t>Removal of Specified Identifiers of the individual and of the individuals’ relative, household members and employers</a:t>
            </a:r>
          </a:p>
          <a:p>
            <a:endParaRPr lang="en-US" dirty="0"/>
          </a:p>
        </p:txBody>
      </p:sp>
    </p:spTree>
    <p:extLst>
      <p:ext uri="{BB962C8B-B14F-4D97-AF65-F5344CB8AC3E}">
        <p14:creationId xmlns:p14="http://schemas.microsoft.com/office/powerpoint/2010/main" val="1431137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8001000" cy="930166"/>
          </a:xfrm>
        </p:spPr>
        <p:txBody>
          <a:bodyPr>
            <a:normAutofit fontScale="90000"/>
          </a:bodyPr>
          <a:lstStyle/>
          <a:p>
            <a:pPr lvl="0" algn="ctr"/>
            <a:r>
              <a:rPr lang="en-US" sz="3100" dirty="0">
                <a:solidFill>
                  <a:srgbClr val="FF0000"/>
                </a:solidFill>
                <a:latin typeface="Times New Roman" pitchFamily="18" charset="0"/>
                <a:ea typeface="Calibri" pitchFamily="34" charset="0"/>
                <a:cs typeface="Times New Roman" pitchFamily="18" charset="0"/>
              </a:rPr>
              <a:t>The following is a list of some of the elements that must be removed in order to be completely de-identified (and therefore not subject to HIPAA)</a:t>
            </a:r>
            <a:br>
              <a:rPr lang="en-US" sz="3100" dirty="0">
                <a:solidFill>
                  <a:srgbClr val="FF0000"/>
                </a:solidFill>
                <a:latin typeface="Times New Roman" pitchFamily="18" charset="0"/>
                <a:ea typeface="Calibri" pitchFamily="34" charset="0"/>
                <a:cs typeface="Times New Roman" pitchFamily="18" charset="0"/>
              </a:rPr>
            </a:br>
            <a:br>
              <a:rPr lang="en-US" sz="2200" dirty="0">
                <a:solidFill>
                  <a:srgbClr val="0B629D"/>
                </a:solidFill>
                <a:latin typeface="Times New Roman" pitchFamily="18" charset="0"/>
                <a:ea typeface="Calibri" pitchFamily="34" charset="0"/>
                <a:cs typeface="Times New Roman" pitchFamily="18" charset="0"/>
              </a:rPr>
            </a:br>
            <a:endParaRPr lang="en-US" dirty="0"/>
          </a:p>
        </p:txBody>
      </p:sp>
      <p:sp>
        <p:nvSpPr>
          <p:cNvPr id="3" name="Content Placeholder 2"/>
          <p:cNvSpPr>
            <a:spLocks noGrp="1"/>
          </p:cNvSpPr>
          <p:nvPr>
            <p:ph idx="1"/>
          </p:nvPr>
        </p:nvSpPr>
        <p:spPr>
          <a:xfrm>
            <a:off x="197159" y="1576552"/>
            <a:ext cx="10696812" cy="5123794"/>
          </a:xfrm>
        </p:spPr>
        <p:txBody>
          <a:bodyPr vert="horz" lIns="91440" tIns="45720" rIns="91440" bIns="45720" rtlCol="0" anchor="t">
            <a:normAutofit/>
          </a:bodyPr>
          <a:lstStyle/>
          <a:p>
            <a:pPr marL="0" indent="0" eaLnBrk="0" fontAlgn="base" hangingPunct="0">
              <a:spcBef>
                <a:spcPct val="0"/>
              </a:spcBef>
              <a:spcAft>
                <a:spcPct val="0"/>
              </a:spcAft>
            </a:pPr>
            <a:r>
              <a:rPr lang="en-US" sz="3000" dirty="0">
                <a:solidFill>
                  <a:schemeClr val="tx1"/>
                </a:solidFill>
                <a:latin typeface="Times New Roman"/>
                <a:ea typeface="Calibri" pitchFamily="34" charset="0"/>
                <a:cs typeface="Times New Roman"/>
              </a:rPr>
              <a:t>All individual identifiable health information discussed earlier</a:t>
            </a:r>
            <a:r>
              <a:rPr lang="en-US" sz="3000" dirty="0">
                <a:solidFill>
                  <a:srgbClr val="0B629D"/>
                </a:solidFill>
                <a:latin typeface="Times New Roman"/>
                <a:ea typeface="Calibri" pitchFamily="34" charset="0"/>
                <a:cs typeface="Times New Roman"/>
              </a:rPr>
              <a:t> </a:t>
            </a:r>
            <a:endParaRPr lang="en-US" sz="3000">
              <a:solidFill>
                <a:srgbClr val="404040"/>
              </a:solidFill>
              <a:latin typeface="Times New Roman"/>
              <a:ea typeface="Calibri" pitchFamily="34" charset="0"/>
              <a:cs typeface="Times New Roman"/>
            </a:endParaRPr>
          </a:p>
          <a:p>
            <a:pPr marL="3086100" lvl="7" indent="0">
              <a:spcBef>
                <a:spcPct val="0"/>
              </a:spcBef>
              <a:spcAft>
                <a:spcPct val="0"/>
              </a:spcAft>
              <a:buNone/>
            </a:pPr>
            <a:r>
              <a:rPr lang="en-US" sz="3200" dirty="0">
                <a:solidFill>
                  <a:schemeClr val="tx1"/>
                </a:solidFill>
                <a:latin typeface="Times New Roman"/>
                <a:ea typeface="Calibri" pitchFamily="34" charset="0"/>
                <a:cs typeface="Times New Roman"/>
              </a:rPr>
              <a:t>             PLUS</a:t>
            </a:r>
          </a:p>
          <a:p>
            <a:pPr marL="0" indent="0">
              <a:spcBef>
                <a:spcPct val="0"/>
              </a:spcBef>
              <a:spcAft>
                <a:spcPct val="0"/>
              </a:spcAft>
            </a:pPr>
            <a:r>
              <a:rPr lang="en-US" sz="3000" dirty="0">
                <a:solidFill>
                  <a:schemeClr val="tx1"/>
                </a:solidFill>
                <a:latin typeface="Times New Roman"/>
                <a:ea typeface="Calibri" pitchFamily="34" charset="0"/>
                <a:cs typeface="Times New Roman"/>
              </a:rPr>
              <a:t>All geographic subdivisions smaller than a State, including street address, city, county, precinct, zip code</a:t>
            </a:r>
            <a:endParaRPr lang="en-US" sz="3000">
              <a:solidFill>
                <a:schemeClr val="tx1"/>
              </a:solidFill>
              <a:latin typeface="Times New Roman"/>
              <a:cs typeface="Times New Roman"/>
            </a:endParaRPr>
          </a:p>
          <a:p>
            <a:pPr marL="0" indent="0" eaLnBrk="0" fontAlgn="base" hangingPunct="0">
              <a:spcBef>
                <a:spcPct val="0"/>
              </a:spcBef>
              <a:spcAft>
                <a:spcPct val="0"/>
              </a:spcAft>
            </a:pPr>
            <a:r>
              <a:rPr lang="en-US" sz="3000" dirty="0">
                <a:solidFill>
                  <a:schemeClr val="tx1"/>
                </a:solidFill>
                <a:latin typeface="Times New Roman"/>
                <a:ea typeface="Calibri" pitchFamily="34" charset="0"/>
                <a:cs typeface="Times New Roman"/>
              </a:rPr>
              <a:t>Vehicle identifiers and serial numbers, including license plate numbers; </a:t>
            </a:r>
          </a:p>
          <a:p>
            <a:pPr marL="0" indent="0" eaLnBrk="0" fontAlgn="base" hangingPunct="0">
              <a:spcBef>
                <a:spcPct val="0"/>
              </a:spcBef>
              <a:spcAft>
                <a:spcPct val="0"/>
              </a:spcAft>
            </a:pPr>
            <a:r>
              <a:rPr lang="en-US" sz="3000" dirty="0">
                <a:solidFill>
                  <a:schemeClr val="tx1"/>
                </a:solidFill>
                <a:latin typeface="Times New Roman"/>
                <a:ea typeface="Calibri" pitchFamily="34" charset="0"/>
                <a:cs typeface="Times New Roman"/>
              </a:rPr>
              <a:t>Web Universal Resource Locators (URLs);</a:t>
            </a:r>
          </a:p>
          <a:p>
            <a:pPr marL="0" indent="0" eaLnBrk="0" fontAlgn="base" hangingPunct="0">
              <a:spcBef>
                <a:spcPct val="0"/>
              </a:spcBef>
              <a:spcAft>
                <a:spcPct val="0"/>
              </a:spcAft>
            </a:pPr>
            <a:r>
              <a:rPr lang="en-US" sz="3000" dirty="0">
                <a:solidFill>
                  <a:schemeClr val="tx1"/>
                </a:solidFill>
                <a:latin typeface="Times New Roman"/>
                <a:ea typeface="Calibri" pitchFamily="34" charset="0"/>
                <a:cs typeface="Times New Roman"/>
              </a:rPr>
              <a:t>Internet Protocol (IP) address numbers; </a:t>
            </a:r>
            <a:endParaRPr lang="en-US" sz="3000">
              <a:solidFill>
                <a:schemeClr val="tx1"/>
              </a:solidFill>
              <a:latin typeface="Times New Roman" pitchFamily="18" charset="0"/>
              <a:ea typeface="Calibri" pitchFamily="34" charset="0"/>
              <a:cs typeface="Times New Roman" pitchFamily="18" charset="0"/>
            </a:endParaRPr>
          </a:p>
          <a:p>
            <a:pPr marL="0" indent="0" eaLnBrk="0" fontAlgn="base" hangingPunct="0">
              <a:spcBef>
                <a:spcPct val="0"/>
              </a:spcBef>
              <a:spcAft>
                <a:spcPct val="0"/>
              </a:spcAft>
            </a:pPr>
            <a:r>
              <a:rPr lang="en-US" sz="3000" dirty="0">
                <a:solidFill>
                  <a:schemeClr val="tx1"/>
                </a:solidFill>
                <a:latin typeface="Times New Roman"/>
                <a:ea typeface="Calibri" pitchFamily="34" charset="0"/>
                <a:cs typeface="Times New Roman"/>
              </a:rPr>
              <a:t>Full face photographic images</a:t>
            </a:r>
            <a:endParaRPr lang="en-US" sz="3000">
              <a:solidFill>
                <a:schemeClr val="tx1"/>
              </a:solidFill>
              <a:latin typeface="Times New Roman"/>
              <a:cs typeface="Times New Roman"/>
            </a:endParaRPr>
          </a:p>
          <a:p>
            <a:pPr marL="0" indent="0" eaLnBrk="0" fontAlgn="base" hangingPunct="0">
              <a:spcBef>
                <a:spcPct val="0"/>
              </a:spcBef>
              <a:spcAft>
                <a:spcPct val="0"/>
              </a:spcAft>
              <a:buNone/>
            </a:pPr>
            <a:endParaRPr lang="en-US" sz="4400" dirty="0">
              <a:solidFill>
                <a:srgbClr val="0B629D"/>
              </a:solidFill>
              <a:latin typeface="Times New Roman" pitchFamily="18" charset="0"/>
              <a:ea typeface="Calibri" pitchFamily="34" charset="0"/>
              <a:cs typeface="Times New Roman" pitchFamily="18" charset="0"/>
            </a:endParaRPr>
          </a:p>
          <a:p>
            <a:endParaRPr lang="en-US" dirty="0"/>
          </a:p>
        </p:txBody>
      </p:sp>
    </p:spTree>
    <p:extLst>
      <p:ext uri="{BB962C8B-B14F-4D97-AF65-F5344CB8AC3E}">
        <p14:creationId xmlns:p14="http://schemas.microsoft.com/office/powerpoint/2010/main" val="4067169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02264"/>
            <a:ext cx="8596668" cy="1190053"/>
          </a:xfrm>
        </p:spPr>
        <p:txBody>
          <a:bodyPr>
            <a:normAutofit/>
          </a:bodyPr>
          <a:lstStyle/>
          <a:p>
            <a:r>
              <a:rPr lang="en-US" sz="6600" dirty="0"/>
              <a:t>Authorizations</a:t>
            </a:r>
          </a:p>
        </p:txBody>
      </p:sp>
      <p:sp>
        <p:nvSpPr>
          <p:cNvPr id="3" name="Content Placeholder 2"/>
          <p:cNvSpPr>
            <a:spLocks noGrp="1"/>
          </p:cNvSpPr>
          <p:nvPr>
            <p:ph idx="1"/>
          </p:nvPr>
        </p:nvSpPr>
        <p:spPr>
          <a:xfrm>
            <a:off x="851338" y="1905000"/>
            <a:ext cx="8368862" cy="4550736"/>
          </a:xfrm>
        </p:spPr>
        <p:txBody>
          <a:bodyPr>
            <a:normAutofit/>
          </a:bodyPr>
          <a:lstStyle/>
          <a:p>
            <a:r>
              <a:rPr lang="en-US" sz="2800" dirty="0"/>
              <a:t>A vehicle in which a patient provides consent for the release of their health information.</a:t>
            </a:r>
          </a:p>
          <a:p>
            <a:r>
              <a:rPr lang="en-US" sz="2800" dirty="0"/>
              <a:t>HIPAA requires that an Authorization contain certain core elements and statements.</a:t>
            </a:r>
          </a:p>
          <a:p>
            <a:r>
              <a:rPr lang="en-US" sz="2800" dirty="0"/>
              <a:t>Authorization must be signed and dated by the patient.</a:t>
            </a:r>
          </a:p>
          <a:p>
            <a:r>
              <a:rPr lang="en-US" sz="2800" dirty="0"/>
              <a:t>An incomplete Authorization is not sufficient and must be rejected</a:t>
            </a:r>
          </a:p>
          <a:p>
            <a:pPr>
              <a:buNone/>
            </a:pPr>
            <a:endParaRPr lang="en-US" dirty="0"/>
          </a:p>
        </p:txBody>
      </p:sp>
    </p:spTree>
    <p:extLst>
      <p:ext uri="{BB962C8B-B14F-4D97-AF65-F5344CB8AC3E}">
        <p14:creationId xmlns:p14="http://schemas.microsoft.com/office/powerpoint/2010/main" val="3473894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532" y="213078"/>
            <a:ext cx="8596668" cy="1142757"/>
          </a:xfrm>
        </p:spPr>
        <p:txBody>
          <a:bodyPr>
            <a:normAutofit/>
          </a:bodyPr>
          <a:lstStyle/>
          <a:p>
            <a:r>
              <a:rPr lang="en-US" sz="6600" dirty="0"/>
              <a:t>Authorization</a:t>
            </a:r>
          </a:p>
        </p:txBody>
      </p:sp>
      <p:sp>
        <p:nvSpPr>
          <p:cNvPr id="3" name="Content Placeholder 2"/>
          <p:cNvSpPr>
            <a:spLocks noGrp="1"/>
          </p:cNvSpPr>
          <p:nvPr>
            <p:ph idx="1"/>
          </p:nvPr>
        </p:nvSpPr>
        <p:spPr>
          <a:xfrm>
            <a:off x="1981200" y="1497724"/>
            <a:ext cx="7239000" cy="4958012"/>
          </a:xfrm>
        </p:spPr>
        <p:txBody>
          <a:bodyPr>
            <a:normAutofit/>
          </a:bodyPr>
          <a:lstStyle/>
          <a:p>
            <a:r>
              <a:rPr lang="en-US" sz="3600" dirty="0"/>
              <a:t>Required elements:</a:t>
            </a:r>
          </a:p>
          <a:p>
            <a:pPr lvl="1"/>
            <a:r>
              <a:rPr lang="en-US" sz="2400" dirty="0"/>
              <a:t>Contains either an expiration date or an expiration event that relates to the individual or the purpose of the use and disclosure.  For example, one year from the date the Authorization is signed, upon a minor’s age of majority, or 90 days after treatment concludes.</a:t>
            </a:r>
          </a:p>
          <a:p>
            <a:pPr lvl="1"/>
            <a:r>
              <a:rPr lang="en-US" sz="2400" dirty="0"/>
              <a:t>An Authorization remains valid until its expiration date or event, unless effectively revoked in writing by the individual before the date or event.</a:t>
            </a:r>
          </a:p>
          <a:p>
            <a:pPr lvl="1"/>
            <a:endParaRPr lang="en-US" dirty="0"/>
          </a:p>
        </p:txBody>
      </p:sp>
    </p:spTree>
    <p:extLst>
      <p:ext uri="{BB962C8B-B14F-4D97-AF65-F5344CB8AC3E}">
        <p14:creationId xmlns:p14="http://schemas.microsoft.com/office/powerpoint/2010/main" val="1805325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155700" y="320040"/>
            <a:ext cx="8650452" cy="1051560"/>
          </a:xfrm>
        </p:spPr>
        <p:txBody>
          <a:bodyPr>
            <a:normAutofit/>
          </a:bodyPr>
          <a:lstStyle/>
          <a:p>
            <a:r>
              <a:rPr lang="en-US" b="1" dirty="0"/>
              <a:t> </a:t>
            </a:r>
            <a:r>
              <a:rPr lang="en-US" sz="4400" b="1" dirty="0"/>
              <a:t>Assignments</a:t>
            </a:r>
          </a:p>
        </p:txBody>
      </p:sp>
      <p:sp>
        <p:nvSpPr>
          <p:cNvPr id="20483" name="Content Placeholder 2"/>
          <p:cNvSpPr>
            <a:spLocks noGrp="1"/>
          </p:cNvSpPr>
          <p:nvPr>
            <p:ph idx="1"/>
          </p:nvPr>
        </p:nvSpPr>
        <p:spPr>
          <a:xfrm>
            <a:off x="1155700" y="1628775"/>
            <a:ext cx="7239000" cy="4245936"/>
          </a:xfrm>
        </p:spPr>
        <p:txBody>
          <a:bodyPr vert="horz" lIns="91440" tIns="45720" rIns="91440" bIns="45720" rtlCol="0" anchor="t">
            <a:normAutofit/>
          </a:bodyPr>
          <a:lstStyle/>
          <a:p>
            <a:pPr marL="339725" indent="-339725">
              <a:lnSpc>
                <a:spcPct val="180000"/>
              </a:lnSpc>
              <a:buClr>
                <a:srgbClr val="CC3300"/>
              </a:buClr>
              <a:buFont typeface="Wingdings" pitchFamily="2" charset="2"/>
              <a:buChar char="Ø"/>
              <a:defRPr/>
            </a:pPr>
            <a:r>
              <a:rPr lang="en-US" sz="3200" dirty="0">
                <a:latin typeface="Arial"/>
                <a:cs typeface="Arial"/>
              </a:rPr>
              <a:t>Student article presentation (6)</a:t>
            </a:r>
            <a:endParaRPr lang="en-US" dirty="0"/>
          </a:p>
          <a:p>
            <a:pPr marL="739775" lvl="1">
              <a:lnSpc>
                <a:spcPct val="180000"/>
              </a:lnSpc>
              <a:buClr>
                <a:srgbClr val="CC3300"/>
              </a:buClr>
              <a:buFont typeface="Courier New" pitchFamily="2" charset="2"/>
              <a:buChar char="o"/>
              <a:defRPr/>
            </a:pPr>
            <a:r>
              <a:rPr lang="en-US" sz="3000" dirty="0">
                <a:latin typeface="Arial"/>
                <a:cs typeface="Arial"/>
              </a:rPr>
              <a:t>See Excel file</a:t>
            </a:r>
          </a:p>
          <a:p>
            <a:pPr marL="339725" indent="-339725">
              <a:lnSpc>
                <a:spcPct val="180000"/>
              </a:lnSpc>
              <a:buClr>
                <a:srgbClr val="CC3300"/>
              </a:buClr>
              <a:buFont typeface="Wingdings" pitchFamily="2" charset="2"/>
              <a:buChar char="Ø"/>
              <a:defRPr/>
            </a:pPr>
            <a:endParaRPr lang="en-US" b="1" dirty="0">
              <a:latin typeface="Arial" charset="0"/>
              <a:cs typeface="Arial" charset="0"/>
            </a:endParaRPr>
          </a:p>
          <a:p>
            <a:pPr marL="339725" indent="-339725">
              <a:lnSpc>
                <a:spcPct val="180000"/>
              </a:lnSpc>
              <a:buClr>
                <a:srgbClr val="CC3300"/>
              </a:buClr>
              <a:buFont typeface="Wingdings" pitchFamily="2" charset="2"/>
              <a:buChar char="Ø"/>
              <a:defRPr/>
            </a:pPr>
            <a:endParaRPr lang="en-US" dirty="0">
              <a:latin typeface="Arial" charset="0"/>
              <a:cs typeface="Arial" charset="0"/>
            </a:endParaRPr>
          </a:p>
          <a:p>
            <a:pPr>
              <a:buNone/>
              <a:defRPr/>
            </a:pPr>
            <a:endParaRPr lang="en-US" dirty="0"/>
          </a:p>
        </p:txBody>
      </p:sp>
    </p:spTree>
    <p:extLst>
      <p:ext uri="{BB962C8B-B14F-4D97-AF65-F5344CB8AC3E}">
        <p14:creationId xmlns:p14="http://schemas.microsoft.com/office/powerpoint/2010/main" val="1660442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9F622-CBF7-48B4-84DB-A2E67E76FA21}"/>
              </a:ext>
            </a:extLst>
          </p:cNvPr>
          <p:cNvSpPr>
            <a:spLocks noGrp="1"/>
          </p:cNvSpPr>
          <p:nvPr>
            <p:ph type="ctrTitle"/>
          </p:nvPr>
        </p:nvSpPr>
        <p:spPr>
          <a:xfrm>
            <a:off x="-409903" y="1364009"/>
            <a:ext cx="10310648" cy="1646302"/>
          </a:xfrm>
        </p:spPr>
        <p:txBody>
          <a:bodyPr/>
          <a:lstStyle/>
          <a:p>
            <a:r>
              <a:rPr lang="en-US" dirty="0"/>
              <a:t>Group Assignment Discussion</a:t>
            </a:r>
          </a:p>
        </p:txBody>
      </p:sp>
    </p:spTree>
    <p:extLst>
      <p:ext uri="{BB962C8B-B14F-4D97-AF65-F5344CB8AC3E}">
        <p14:creationId xmlns:p14="http://schemas.microsoft.com/office/powerpoint/2010/main" val="130630374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3624</TotalTime>
  <Words>1375</Words>
  <Application>Microsoft Office PowerPoint</Application>
  <PresentationFormat>Widescreen</PresentationFormat>
  <Paragraphs>185</Paragraphs>
  <Slides>25</Slides>
  <Notes>13</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Facet</vt:lpstr>
      <vt:lpstr>HIPAA Overview, Title I and Privacy Rule (Part of Title II)</vt:lpstr>
      <vt:lpstr>HIPAA</vt:lpstr>
      <vt:lpstr>HIPAA Broken out into 5 Titles</vt:lpstr>
      <vt:lpstr>Health Care Access, Portability, and Renewability – Title I</vt:lpstr>
      <vt:lpstr>Health Care Access, Portability, and Renewability – Title I, IV</vt:lpstr>
      <vt:lpstr>Accountability – Title II known as Administrative Simplification Provisions</vt:lpstr>
      <vt:lpstr> What are HIPAA Privacy Goals?</vt:lpstr>
      <vt:lpstr>Privacy Rule – Who Is Covered?</vt:lpstr>
      <vt:lpstr>Limits of Business Associate Functions</vt:lpstr>
      <vt:lpstr>Business Associate Agreements (BAAs)</vt:lpstr>
      <vt:lpstr>What Information is Protected?</vt:lpstr>
      <vt:lpstr>Individually Identifiable Health Information</vt:lpstr>
      <vt:lpstr>Individually Identifiable Health Information</vt:lpstr>
      <vt:lpstr>Individually Identifiable Health Information</vt:lpstr>
      <vt:lpstr>Individually Identifiable Health Information</vt:lpstr>
      <vt:lpstr>Individually Identifiable Health Information</vt:lpstr>
      <vt:lpstr>When are we permitted to share PHI?</vt:lpstr>
      <vt:lpstr>Minimum Necessary Standard </vt:lpstr>
      <vt:lpstr>Permitted / Required Uses and Disclosures of PHI</vt:lpstr>
      <vt:lpstr>De-Identified Health Information</vt:lpstr>
      <vt:lpstr>The following is a list of some of the elements that must be removed in order to be completely de-identified (and therefore not subject to HIPAA)  </vt:lpstr>
      <vt:lpstr>Authorizations</vt:lpstr>
      <vt:lpstr>Authorization</vt:lpstr>
      <vt:lpstr> Assignments</vt:lpstr>
      <vt:lpstr>Group Assignment Discussion</vt:lpstr>
    </vt:vector>
  </TitlesOfParts>
  <Company>SUNY Stony Brook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HIPAA Privacy</dc:title>
  <dc:creator>Musso, Stephanie</dc:creator>
  <cp:lastModifiedBy>Blake Benz</cp:lastModifiedBy>
  <cp:revision>281</cp:revision>
  <dcterms:created xsi:type="dcterms:W3CDTF">2014-08-25T14:32:51Z</dcterms:created>
  <dcterms:modified xsi:type="dcterms:W3CDTF">2025-07-07T18:37:53Z</dcterms:modified>
</cp:coreProperties>
</file>