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51"/>
  </p:notesMasterIdLst>
  <p:sldIdLst>
    <p:sldId id="326" r:id="rId2"/>
    <p:sldId id="296" r:id="rId3"/>
    <p:sldId id="294" r:id="rId4"/>
    <p:sldId id="257" r:id="rId5"/>
    <p:sldId id="260" r:id="rId6"/>
    <p:sldId id="261" r:id="rId7"/>
    <p:sldId id="264" r:id="rId8"/>
    <p:sldId id="265" r:id="rId9"/>
    <p:sldId id="299" r:id="rId10"/>
    <p:sldId id="297" r:id="rId11"/>
    <p:sldId id="300" r:id="rId12"/>
    <p:sldId id="298" r:id="rId13"/>
    <p:sldId id="301" r:id="rId14"/>
    <p:sldId id="302" r:id="rId15"/>
    <p:sldId id="303" r:id="rId16"/>
    <p:sldId id="304" r:id="rId17"/>
    <p:sldId id="266" r:id="rId18"/>
    <p:sldId id="307" r:id="rId19"/>
    <p:sldId id="267" r:id="rId20"/>
    <p:sldId id="269" r:id="rId21"/>
    <p:sldId id="270" r:id="rId22"/>
    <p:sldId id="310" r:id="rId23"/>
    <p:sldId id="271" r:id="rId24"/>
    <p:sldId id="305" r:id="rId25"/>
    <p:sldId id="272" r:id="rId26"/>
    <p:sldId id="335" r:id="rId27"/>
    <p:sldId id="315" r:id="rId28"/>
    <p:sldId id="308" r:id="rId29"/>
    <p:sldId id="309" r:id="rId30"/>
    <p:sldId id="327" r:id="rId31"/>
    <p:sldId id="312" r:id="rId32"/>
    <p:sldId id="328" r:id="rId33"/>
    <p:sldId id="314" r:id="rId34"/>
    <p:sldId id="329" r:id="rId35"/>
    <p:sldId id="316" r:id="rId36"/>
    <p:sldId id="337" r:id="rId37"/>
    <p:sldId id="317" r:id="rId38"/>
    <p:sldId id="321" r:id="rId39"/>
    <p:sldId id="330" r:id="rId40"/>
    <p:sldId id="318" r:id="rId41"/>
    <p:sldId id="319" r:id="rId42"/>
    <p:sldId id="320" r:id="rId43"/>
    <p:sldId id="324" r:id="rId44"/>
    <p:sldId id="325" r:id="rId45"/>
    <p:sldId id="322" r:id="rId46"/>
    <p:sldId id="331" r:id="rId47"/>
    <p:sldId id="332" r:id="rId48"/>
    <p:sldId id="333" r:id="rId49"/>
    <p:sldId id="286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587B8-960A-147C-9B0D-00AF7964DF1C}" v="61" dt="2025-07-22T17:45:21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872" autoAdjust="0"/>
  </p:normalViewPr>
  <p:slideViewPr>
    <p:cSldViewPr>
      <p:cViewPr varScale="1">
        <p:scale>
          <a:sx n="70" d="100"/>
          <a:sy n="70" d="100"/>
        </p:scale>
        <p:origin x="181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ake Benz" userId="8a97c15f36056bdc" providerId="LiveId" clId="{D436AF8F-D662-4A5B-80D8-628B2C91B9D5}"/>
    <pc:docChg chg="modSld">
      <pc:chgData name="Blake Benz" userId="8a97c15f36056bdc" providerId="LiveId" clId="{D436AF8F-D662-4A5B-80D8-628B2C91B9D5}" dt="2024-11-04T21:18:52.131" v="0" actId="20577"/>
      <pc:docMkLst>
        <pc:docMk/>
      </pc:docMkLst>
      <pc:sldChg chg="modSp mod">
        <pc:chgData name="Blake Benz" userId="8a97c15f36056bdc" providerId="LiveId" clId="{D436AF8F-D662-4A5B-80D8-628B2C91B9D5}" dt="2024-11-04T21:18:52.131" v="0" actId="20577"/>
        <pc:sldMkLst>
          <pc:docMk/>
          <pc:sldMk cId="3306581616" sldId="329"/>
        </pc:sldMkLst>
      </pc:sldChg>
    </pc:docChg>
  </pc:docChgLst>
  <pc:docChgLst>
    <pc:chgData name="Blake Benz" userId="8a97c15f36056bdc" providerId="Windows Live" clId="Web-{18B587B8-960A-147C-9B0D-00AF7964DF1C}"/>
    <pc:docChg chg="delSld modSld sldOrd">
      <pc:chgData name="Blake Benz" userId="8a97c15f36056bdc" providerId="Windows Live" clId="Web-{18B587B8-960A-147C-9B0D-00AF7964DF1C}" dt="2025-07-22T17:45:21.083" v="57"/>
      <pc:docMkLst>
        <pc:docMk/>
      </pc:docMkLst>
      <pc:sldChg chg="modSp">
        <pc:chgData name="Blake Benz" userId="8a97c15f36056bdc" providerId="Windows Live" clId="Web-{18B587B8-960A-147C-9B0D-00AF7964DF1C}" dt="2025-07-21T21:43:54.642" v="53" actId="20577"/>
        <pc:sldMkLst>
          <pc:docMk/>
          <pc:sldMk cId="2425212480" sldId="266"/>
        </pc:sldMkLst>
        <pc:spChg chg="mod">
          <ac:chgData name="Blake Benz" userId="8a97c15f36056bdc" providerId="Windows Live" clId="Web-{18B587B8-960A-147C-9B0D-00AF7964DF1C}" dt="2025-07-21T21:41:26.626" v="13" actId="20577"/>
          <ac:spMkLst>
            <pc:docMk/>
            <pc:sldMk cId="2425212480" sldId="266"/>
            <ac:spMk id="4" creationId="{00000000-0000-0000-0000-000000000000}"/>
          </ac:spMkLst>
        </pc:spChg>
        <pc:spChg chg="mod">
          <ac:chgData name="Blake Benz" userId="8a97c15f36056bdc" providerId="Windows Live" clId="Web-{18B587B8-960A-147C-9B0D-00AF7964DF1C}" dt="2025-07-21T21:43:54.642" v="53" actId="20577"/>
          <ac:spMkLst>
            <pc:docMk/>
            <pc:sldMk cId="2425212480" sldId="266"/>
            <ac:spMk id="5" creationId="{00000000-0000-0000-0000-000000000000}"/>
          </ac:spMkLst>
        </pc:spChg>
      </pc:sldChg>
      <pc:sldChg chg="mod modShow">
        <pc:chgData name="Blake Benz" userId="8a97c15f36056bdc" providerId="Windows Live" clId="Web-{18B587B8-960A-147C-9B0D-00AF7964DF1C}" dt="2025-07-21T21:40:30.532" v="5"/>
        <pc:sldMkLst>
          <pc:docMk/>
          <pc:sldMk cId="3807302792" sldId="297"/>
        </pc:sldMkLst>
      </pc:sldChg>
      <pc:sldChg chg="mod modShow">
        <pc:chgData name="Blake Benz" userId="8a97c15f36056bdc" providerId="Windows Live" clId="Web-{18B587B8-960A-147C-9B0D-00AF7964DF1C}" dt="2025-07-21T21:40:42.047" v="7"/>
        <pc:sldMkLst>
          <pc:docMk/>
          <pc:sldMk cId="1877091497" sldId="298"/>
        </pc:sldMkLst>
      </pc:sldChg>
      <pc:sldChg chg="mod modShow">
        <pc:chgData name="Blake Benz" userId="8a97c15f36056bdc" providerId="Windows Live" clId="Web-{18B587B8-960A-147C-9B0D-00AF7964DF1C}" dt="2025-07-21T21:40:24.953" v="4"/>
        <pc:sldMkLst>
          <pc:docMk/>
          <pc:sldMk cId="2648890631" sldId="299"/>
        </pc:sldMkLst>
      </pc:sldChg>
      <pc:sldChg chg="mod modShow">
        <pc:chgData name="Blake Benz" userId="8a97c15f36056bdc" providerId="Windows Live" clId="Web-{18B587B8-960A-147C-9B0D-00AF7964DF1C}" dt="2025-07-21T21:40:36.829" v="6"/>
        <pc:sldMkLst>
          <pc:docMk/>
          <pc:sldMk cId="2509535558" sldId="300"/>
        </pc:sldMkLst>
      </pc:sldChg>
      <pc:sldChg chg="mod modShow">
        <pc:chgData name="Blake Benz" userId="8a97c15f36056bdc" providerId="Windows Live" clId="Web-{18B587B8-960A-147C-9B0D-00AF7964DF1C}" dt="2025-07-21T21:40:44.547" v="8"/>
        <pc:sldMkLst>
          <pc:docMk/>
          <pc:sldMk cId="2539648821" sldId="301"/>
        </pc:sldMkLst>
      </pc:sldChg>
      <pc:sldChg chg="mod modShow">
        <pc:chgData name="Blake Benz" userId="8a97c15f36056bdc" providerId="Windows Live" clId="Web-{18B587B8-960A-147C-9B0D-00AF7964DF1C}" dt="2025-07-21T21:40:47.500" v="9"/>
        <pc:sldMkLst>
          <pc:docMk/>
          <pc:sldMk cId="1204386953" sldId="302"/>
        </pc:sldMkLst>
      </pc:sldChg>
      <pc:sldChg chg="mod modShow">
        <pc:chgData name="Blake Benz" userId="8a97c15f36056bdc" providerId="Windows Live" clId="Web-{18B587B8-960A-147C-9B0D-00AF7964DF1C}" dt="2025-07-21T21:40:49.766" v="10"/>
        <pc:sldMkLst>
          <pc:docMk/>
          <pc:sldMk cId="3567243229" sldId="303"/>
        </pc:sldMkLst>
      </pc:sldChg>
      <pc:sldChg chg="mod modShow">
        <pc:chgData name="Blake Benz" userId="8a97c15f36056bdc" providerId="Windows Live" clId="Web-{18B587B8-960A-147C-9B0D-00AF7964DF1C}" dt="2025-07-21T21:41:02.141" v="11"/>
        <pc:sldMkLst>
          <pc:docMk/>
          <pc:sldMk cId="1277778542" sldId="304"/>
        </pc:sldMkLst>
      </pc:sldChg>
      <pc:sldChg chg="ord">
        <pc:chgData name="Blake Benz" userId="8a97c15f36056bdc" providerId="Windows Live" clId="Web-{18B587B8-960A-147C-9B0D-00AF7964DF1C}" dt="2025-07-21T21:48:30.002" v="54"/>
        <pc:sldMkLst>
          <pc:docMk/>
          <pc:sldMk cId="2075516427" sldId="315"/>
        </pc:sldMkLst>
      </pc:sldChg>
      <pc:sldChg chg="ord">
        <pc:chgData name="Blake Benz" userId="8a97c15f36056bdc" providerId="Windows Live" clId="Web-{18B587B8-960A-147C-9B0D-00AF7964DF1C}" dt="2025-07-22T17:45:21.083" v="57"/>
        <pc:sldMkLst>
          <pc:docMk/>
          <pc:sldMk cId="461744965" sldId="335"/>
        </pc:sldMkLst>
      </pc:sldChg>
      <pc:sldChg chg="delSp modSp del mod modShow">
        <pc:chgData name="Blake Benz" userId="8a97c15f36056bdc" providerId="Windows Live" clId="Web-{18B587B8-960A-147C-9B0D-00AF7964DF1C}" dt="2025-07-22T00:13:53.616" v="55"/>
        <pc:sldMkLst>
          <pc:docMk/>
          <pc:sldMk cId="2567346958" sldId="338"/>
        </pc:sldMkLst>
        <pc:spChg chg="del mod">
          <ac:chgData name="Blake Benz" userId="8a97c15f36056bdc" providerId="Windows Live" clId="Web-{18B587B8-960A-147C-9B0D-00AF7964DF1C}" dt="2025-07-21T21:39:10.453" v="2"/>
          <ac:spMkLst>
            <pc:docMk/>
            <pc:sldMk cId="2567346958" sldId="338"/>
            <ac:spMk id="4" creationId="{F18AEE10-50F8-9E5A-B50F-AF0882707246}"/>
          </ac:spMkLst>
        </pc:spChg>
      </pc:sldChg>
    </pc:docChg>
  </pc:docChgLst>
  <pc:docChgLst>
    <pc:chgData name="Blake Benz" userId="8a97c15f36056bdc" providerId="LiveId" clId="{BAFDA687-18FF-401C-A79D-CE946F414E6A}"/>
    <pc:docChg chg="undo custSel addSld delSld modSld sldOrd">
      <pc:chgData name="Blake Benz" userId="8a97c15f36056bdc" providerId="LiveId" clId="{BAFDA687-18FF-401C-A79D-CE946F414E6A}" dt="2024-07-01T19:45:09.558" v="338" actId="47"/>
      <pc:docMkLst>
        <pc:docMk/>
      </pc:docMkLst>
      <pc:sldChg chg="modSp mod">
        <pc:chgData name="Blake Benz" userId="8a97c15f36056bdc" providerId="LiveId" clId="{BAFDA687-18FF-401C-A79D-CE946F414E6A}" dt="2024-07-01T19:30:37.327" v="311" actId="1076"/>
        <pc:sldMkLst>
          <pc:docMk/>
          <pc:sldMk cId="476369052" sldId="286"/>
        </pc:sldMkLst>
      </pc:sldChg>
      <pc:sldChg chg="ord">
        <pc:chgData name="Blake Benz" userId="8a97c15f36056bdc" providerId="LiveId" clId="{BAFDA687-18FF-401C-A79D-CE946F414E6A}" dt="2024-07-01T19:29:57.041" v="308"/>
        <pc:sldMkLst>
          <pc:docMk/>
          <pc:sldMk cId="905405050" sldId="322"/>
        </pc:sldMkLst>
      </pc:sldChg>
      <pc:sldChg chg="addSp delSp modSp del mod">
        <pc:chgData name="Blake Benz" userId="8a97c15f36056bdc" providerId="LiveId" clId="{BAFDA687-18FF-401C-A79D-CE946F414E6A}" dt="2024-07-01T19:29:39.550" v="305" actId="47"/>
        <pc:sldMkLst>
          <pc:docMk/>
          <pc:sldMk cId="1114025069" sldId="323"/>
        </pc:sldMkLst>
      </pc:sldChg>
      <pc:sldChg chg="modSp mod">
        <pc:chgData name="Blake Benz" userId="8a97c15f36056bdc" providerId="LiveId" clId="{BAFDA687-18FF-401C-A79D-CE946F414E6A}" dt="2024-07-01T19:29:45.619" v="306" actId="255"/>
        <pc:sldMkLst>
          <pc:docMk/>
          <pc:sldMk cId="2911614365" sldId="324"/>
        </pc:sldMkLst>
      </pc:sldChg>
      <pc:sldChg chg="ord">
        <pc:chgData name="Blake Benz" userId="8a97c15f36056bdc" providerId="LiveId" clId="{BAFDA687-18FF-401C-A79D-CE946F414E6A}" dt="2024-07-01T19:30:03.700" v="310"/>
        <pc:sldMkLst>
          <pc:docMk/>
          <pc:sldMk cId="2266368540" sldId="325"/>
        </pc:sldMkLst>
      </pc:sldChg>
      <pc:sldChg chg="modSp add mod">
        <pc:chgData name="Blake Benz" userId="8a97c15f36056bdc" providerId="LiveId" clId="{BAFDA687-18FF-401C-A79D-CE946F414E6A}" dt="2024-07-01T19:19:03.492" v="165" actId="20577"/>
        <pc:sldMkLst>
          <pc:docMk/>
          <pc:sldMk cId="3432236241" sldId="331"/>
        </pc:sldMkLst>
      </pc:sldChg>
      <pc:sldChg chg="addSp delSp modSp add mod">
        <pc:chgData name="Blake Benz" userId="8a97c15f36056bdc" providerId="LiveId" clId="{BAFDA687-18FF-401C-A79D-CE946F414E6A}" dt="2024-07-01T19:14:19.403" v="119" actId="20577"/>
        <pc:sldMkLst>
          <pc:docMk/>
          <pc:sldMk cId="3519419693" sldId="332"/>
        </pc:sldMkLst>
      </pc:sldChg>
      <pc:sldChg chg="addSp delSp modSp add mod">
        <pc:chgData name="Blake Benz" userId="8a97c15f36056bdc" providerId="LiveId" clId="{BAFDA687-18FF-401C-A79D-CE946F414E6A}" dt="2024-07-01T19:14:17.088" v="118" actId="20577"/>
        <pc:sldMkLst>
          <pc:docMk/>
          <pc:sldMk cId="4015943664" sldId="333"/>
        </pc:sldMkLst>
      </pc:sldChg>
      <pc:sldChg chg="addSp modSp add mod">
        <pc:chgData name="Blake Benz" userId="8a97c15f36056bdc" providerId="LiveId" clId="{BAFDA687-18FF-401C-A79D-CE946F414E6A}" dt="2024-07-01T19:41:51.091" v="322" actId="14100"/>
        <pc:sldMkLst>
          <pc:docMk/>
          <pc:sldMk cId="837221512" sldId="334"/>
        </pc:sldMkLst>
      </pc:sldChg>
      <pc:sldChg chg="delSp modSp add mod">
        <pc:chgData name="Blake Benz" userId="8a97c15f36056bdc" providerId="LiveId" clId="{BAFDA687-18FF-401C-A79D-CE946F414E6A}" dt="2024-07-01T19:44:11.189" v="327" actId="478"/>
        <pc:sldMkLst>
          <pc:docMk/>
          <pc:sldMk cId="461744965" sldId="335"/>
        </pc:sldMkLst>
      </pc:sldChg>
      <pc:sldChg chg="add del">
        <pc:chgData name="Blake Benz" userId="8a97c15f36056bdc" providerId="LiveId" clId="{BAFDA687-18FF-401C-A79D-CE946F414E6A}" dt="2024-07-01T19:45:09.558" v="338" actId="47"/>
        <pc:sldMkLst>
          <pc:docMk/>
          <pc:sldMk cId="1531456206" sldId="336"/>
        </pc:sldMkLst>
      </pc:sldChg>
      <pc:sldChg chg="add ord">
        <pc:chgData name="Blake Benz" userId="8a97c15f36056bdc" providerId="LiveId" clId="{BAFDA687-18FF-401C-A79D-CE946F414E6A}" dt="2024-07-01T19:45:07.797" v="337"/>
        <pc:sldMkLst>
          <pc:docMk/>
          <pc:sldMk cId="3184588133" sldId="337"/>
        </pc:sldMkLst>
      </pc:sldChg>
    </pc:docChg>
  </pc:docChgLst>
  <pc:docChgLst>
    <pc:chgData name="Blake Benz" userId="8a97c15f36056bdc" providerId="Windows Live" clId="Web-{02DC2651-2879-4055-BF6A-1B18D75CA36F}"/>
    <pc:docChg chg="delSld">
      <pc:chgData name="Blake Benz" userId="8a97c15f36056bdc" providerId="Windows Live" clId="Web-{02DC2651-2879-4055-BF6A-1B18D75CA36F}" dt="2024-07-22T19:54:39.876" v="1"/>
      <pc:docMkLst>
        <pc:docMk/>
      </pc:docMkLst>
      <pc:sldChg chg="del">
        <pc:chgData name="Blake Benz" userId="8a97c15f36056bdc" providerId="Windows Live" clId="Web-{02DC2651-2879-4055-BF6A-1B18D75CA36F}" dt="2024-07-22T19:54:37.532" v="0"/>
        <pc:sldMkLst>
          <pc:docMk/>
          <pc:sldMk cId="144751602" sldId="295"/>
        </pc:sldMkLst>
      </pc:sldChg>
      <pc:sldChg chg="del">
        <pc:chgData name="Blake Benz" userId="8a97c15f36056bdc" providerId="Windows Live" clId="Web-{02DC2651-2879-4055-BF6A-1B18D75CA36F}" dt="2024-07-22T19:54:39.876" v="1"/>
        <pc:sldMkLst>
          <pc:docMk/>
          <pc:sldMk cId="837221512" sldId="334"/>
        </pc:sldMkLst>
      </pc:sldChg>
    </pc:docChg>
  </pc:docChgLst>
  <pc:docChgLst>
    <pc:chgData name="Blake Benz" userId="8a97c15f36056bdc" providerId="Windows Live" clId="Web-{56386470-A7A9-4982-8A22-321663CE0639}"/>
    <pc:docChg chg="addSld modSld">
      <pc:chgData name="Blake Benz" userId="8a97c15f36056bdc" providerId="Windows Live" clId="Web-{56386470-A7A9-4982-8A22-321663CE0639}" dt="2024-07-29T14:42:28.404" v="53" actId="20577"/>
      <pc:docMkLst>
        <pc:docMk/>
      </pc:docMkLst>
      <pc:sldChg chg="addSp delSp modSp add replId">
        <pc:chgData name="Blake Benz" userId="8a97c15f36056bdc" providerId="Windows Live" clId="Web-{56386470-A7A9-4982-8A22-321663CE0639}" dt="2024-07-29T14:42:28.404" v="53" actId="20577"/>
        <pc:sldMkLst>
          <pc:docMk/>
          <pc:sldMk cId="2567346958" sldId="338"/>
        </pc:sldMkLst>
      </pc:sldChg>
    </pc:docChg>
  </pc:docChgLst>
  <pc:docChgLst>
    <pc:chgData name="Blake Benz" userId="8a97c15f36056bdc" providerId="Windows Live" clId="Web-{7A78C95D-264F-4A54-A6EA-B9D07E3E5B61}"/>
    <pc:docChg chg="addSld delSld modSld sldOrd">
      <pc:chgData name="Blake Benz" userId="8a97c15f36056bdc" providerId="Windows Live" clId="Web-{7A78C95D-264F-4A54-A6EA-B9D07E3E5B61}" dt="2024-06-20T21:10:58.434" v="482" actId="1076"/>
      <pc:docMkLst>
        <pc:docMk/>
      </pc:docMkLst>
      <pc:sldChg chg="modSp">
        <pc:chgData name="Blake Benz" userId="8a97c15f36056bdc" providerId="Windows Live" clId="Web-{7A78C95D-264F-4A54-A6EA-B9D07E3E5B61}" dt="2024-06-20T20:27:24.905" v="31" actId="1076"/>
        <pc:sldMkLst>
          <pc:docMk/>
          <pc:sldMk cId="3556137491" sldId="256"/>
        </pc:sldMkLst>
      </pc:sldChg>
      <pc:sldChg chg="modSp">
        <pc:chgData name="Blake Benz" userId="8a97c15f36056bdc" providerId="Windows Live" clId="Web-{7A78C95D-264F-4A54-A6EA-B9D07E3E5B61}" dt="2024-06-20T20:36:11.958" v="143" actId="14100"/>
        <pc:sldMkLst>
          <pc:docMk/>
          <pc:sldMk cId="626736799" sldId="257"/>
        </pc:sldMkLst>
      </pc:sldChg>
      <pc:sldChg chg="modSp">
        <pc:chgData name="Blake Benz" userId="8a97c15f36056bdc" providerId="Windows Live" clId="Web-{7A78C95D-264F-4A54-A6EA-B9D07E3E5B61}" dt="2024-06-20T20:39:54.233" v="164" actId="20577"/>
        <pc:sldMkLst>
          <pc:docMk/>
          <pc:sldMk cId="1167479519" sldId="260"/>
        </pc:sldMkLst>
      </pc:sldChg>
      <pc:sldChg chg="modSp">
        <pc:chgData name="Blake Benz" userId="8a97c15f36056bdc" providerId="Windows Live" clId="Web-{7A78C95D-264F-4A54-A6EA-B9D07E3E5B61}" dt="2024-06-20T20:41:04.939" v="177" actId="20577"/>
        <pc:sldMkLst>
          <pc:docMk/>
          <pc:sldMk cId="502743080" sldId="261"/>
        </pc:sldMkLst>
      </pc:sldChg>
      <pc:sldChg chg="modSp">
        <pc:chgData name="Blake Benz" userId="8a97c15f36056bdc" providerId="Windows Live" clId="Web-{7A78C95D-264F-4A54-A6EA-B9D07E3E5B61}" dt="2024-06-20T20:44:05.603" v="208" actId="20577"/>
        <pc:sldMkLst>
          <pc:docMk/>
          <pc:sldMk cId="1352077580" sldId="264"/>
        </pc:sldMkLst>
      </pc:sldChg>
      <pc:sldChg chg="modSp">
        <pc:chgData name="Blake Benz" userId="8a97c15f36056bdc" providerId="Windows Live" clId="Web-{7A78C95D-264F-4A54-A6EA-B9D07E3E5B61}" dt="2024-06-20T20:44:56.995" v="211" actId="20577"/>
        <pc:sldMkLst>
          <pc:docMk/>
          <pc:sldMk cId="2843786104" sldId="265"/>
        </pc:sldMkLst>
      </pc:sldChg>
      <pc:sldChg chg="modSp">
        <pc:chgData name="Blake Benz" userId="8a97c15f36056bdc" providerId="Windows Live" clId="Web-{7A78C95D-264F-4A54-A6EA-B9D07E3E5B61}" dt="2024-06-20T20:52:39.921" v="250" actId="14100"/>
        <pc:sldMkLst>
          <pc:docMk/>
          <pc:sldMk cId="2425212480" sldId="266"/>
        </pc:sldMkLst>
      </pc:sldChg>
      <pc:sldChg chg="modSp">
        <pc:chgData name="Blake Benz" userId="8a97c15f36056bdc" providerId="Windows Live" clId="Web-{7A78C95D-264F-4A54-A6EA-B9D07E3E5B61}" dt="2024-06-20T20:53:50.080" v="259" actId="14100"/>
        <pc:sldMkLst>
          <pc:docMk/>
          <pc:sldMk cId="4204555212" sldId="267"/>
        </pc:sldMkLst>
      </pc:sldChg>
      <pc:sldChg chg="modSp">
        <pc:chgData name="Blake Benz" userId="8a97c15f36056bdc" providerId="Windows Live" clId="Web-{7A78C95D-264F-4A54-A6EA-B9D07E3E5B61}" dt="2024-06-20T20:55:29.053" v="278" actId="14100"/>
        <pc:sldMkLst>
          <pc:docMk/>
          <pc:sldMk cId="2215515888" sldId="269"/>
        </pc:sldMkLst>
      </pc:sldChg>
      <pc:sldChg chg="modSp">
        <pc:chgData name="Blake Benz" userId="8a97c15f36056bdc" providerId="Windows Live" clId="Web-{7A78C95D-264F-4A54-A6EA-B9D07E3E5B61}" dt="2024-06-20T20:56:55.587" v="306" actId="14100"/>
        <pc:sldMkLst>
          <pc:docMk/>
          <pc:sldMk cId="1867099001" sldId="270"/>
        </pc:sldMkLst>
      </pc:sldChg>
      <pc:sldChg chg="modSp">
        <pc:chgData name="Blake Benz" userId="8a97c15f36056bdc" providerId="Windows Live" clId="Web-{7A78C95D-264F-4A54-A6EA-B9D07E3E5B61}" dt="2024-06-20T20:58:30.076" v="325" actId="1076"/>
        <pc:sldMkLst>
          <pc:docMk/>
          <pc:sldMk cId="1625364257" sldId="271"/>
        </pc:sldMkLst>
      </pc:sldChg>
      <pc:sldChg chg="modSp">
        <pc:chgData name="Blake Benz" userId="8a97c15f36056bdc" providerId="Windows Live" clId="Web-{7A78C95D-264F-4A54-A6EA-B9D07E3E5B61}" dt="2024-06-20T20:59:31.125" v="333" actId="14100"/>
        <pc:sldMkLst>
          <pc:docMk/>
          <pc:sldMk cId="2281249589" sldId="272"/>
        </pc:sldMkLst>
      </pc:sldChg>
      <pc:sldChg chg="del">
        <pc:chgData name="Blake Benz" userId="8a97c15f36056bdc" providerId="Windows Live" clId="Web-{7A78C95D-264F-4A54-A6EA-B9D07E3E5B61}" dt="2024-06-20T21:09:15.821" v="456"/>
        <pc:sldMkLst>
          <pc:docMk/>
          <pc:sldMk cId="2720118276" sldId="293"/>
        </pc:sldMkLst>
      </pc:sldChg>
      <pc:sldChg chg="modSp">
        <pc:chgData name="Blake Benz" userId="8a97c15f36056bdc" providerId="Windows Live" clId="Web-{7A78C95D-264F-4A54-A6EA-B9D07E3E5B61}" dt="2024-06-20T20:34:08.938" v="120" actId="14100"/>
        <pc:sldMkLst>
          <pc:docMk/>
          <pc:sldMk cId="798388815" sldId="294"/>
        </pc:sldMkLst>
      </pc:sldChg>
      <pc:sldChg chg="addSp delSp modSp ord">
        <pc:chgData name="Blake Benz" userId="8a97c15f36056bdc" providerId="Windows Live" clId="Web-{7A78C95D-264F-4A54-A6EA-B9D07E3E5B61}" dt="2024-06-20T20:25:38.229" v="25" actId="1076"/>
        <pc:sldMkLst>
          <pc:docMk/>
          <pc:sldMk cId="144751602" sldId="295"/>
        </pc:sldMkLst>
      </pc:sldChg>
      <pc:sldChg chg="modSp">
        <pc:chgData name="Blake Benz" userId="8a97c15f36056bdc" providerId="Windows Live" clId="Web-{7A78C95D-264F-4A54-A6EA-B9D07E3E5B61}" dt="2024-06-20T20:47:36.689" v="214" actId="20577"/>
        <pc:sldMkLst>
          <pc:docMk/>
          <pc:sldMk cId="1877091497" sldId="298"/>
        </pc:sldMkLst>
      </pc:sldChg>
      <pc:sldChg chg="modSp">
        <pc:chgData name="Blake Benz" userId="8a97c15f36056bdc" providerId="Windows Live" clId="Web-{7A78C95D-264F-4A54-A6EA-B9D07E3E5B61}" dt="2024-06-20T20:49:01.115" v="215" actId="20577"/>
        <pc:sldMkLst>
          <pc:docMk/>
          <pc:sldMk cId="3567243229" sldId="303"/>
        </pc:sldMkLst>
      </pc:sldChg>
      <pc:sldChg chg="modSp">
        <pc:chgData name="Blake Benz" userId="8a97c15f36056bdc" providerId="Windows Live" clId="Web-{7A78C95D-264F-4A54-A6EA-B9D07E3E5B61}" dt="2024-06-20T20:50:35.697" v="235" actId="20577"/>
        <pc:sldMkLst>
          <pc:docMk/>
          <pc:sldMk cId="1277778542" sldId="304"/>
        </pc:sldMkLst>
      </pc:sldChg>
      <pc:sldChg chg="modSp">
        <pc:chgData name="Blake Benz" userId="8a97c15f36056bdc" providerId="Windows Live" clId="Web-{7A78C95D-264F-4A54-A6EA-B9D07E3E5B61}" dt="2024-06-20T20:58:58.405" v="330" actId="14100"/>
        <pc:sldMkLst>
          <pc:docMk/>
          <pc:sldMk cId="987741151" sldId="305"/>
        </pc:sldMkLst>
      </pc:sldChg>
      <pc:sldChg chg="modSp">
        <pc:chgData name="Blake Benz" userId="8a97c15f36056bdc" providerId="Windows Live" clId="Web-{7A78C95D-264F-4A54-A6EA-B9D07E3E5B61}" dt="2024-06-20T20:53:06.094" v="256" actId="14100"/>
        <pc:sldMkLst>
          <pc:docMk/>
          <pc:sldMk cId="4080238358" sldId="307"/>
        </pc:sldMkLst>
      </pc:sldChg>
      <pc:sldChg chg="modSp">
        <pc:chgData name="Blake Benz" userId="8a97c15f36056bdc" providerId="Windows Live" clId="Web-{7A78C95D-264F-4A54-A6EA-B9D07E3E5B61}" dt="2024-06-20T20:59:50.141" v="338" actId="14100"/>
        <pc:sldMkLst>
          <pc:docMk/>
          <pc:sldMk cId="1170267137" sldId="308"/>
        </pc:sldMkLst>
      </pc:sldChg>
      <pc:sldChg chg="modSp">
        <pc:chgData name="Blake Benz" userId="8a97c15f36056bdc" providerId="Windows Live" clId="Web-{7A78C95D-264F-4A54-A6EA-B9D07E3E5B61}" dt="2024-06-20T21:01:13.176" v="353" actId="20577"/>
        <pc:sldMkLst>
          <pc:docMk/>
          <pc:sldMk cId="935363315" sldId="309"/>
        </pc:sldMkLst>
      </pc:sldChg>
      <pc:sldChg chg="modSp">
        <pc:chgData name="Blake Benz" userId="8a97c15f36056bdc" providerId="Windows Live" clId="Web-{7A78C95D-264F-4A54-A6EA-B9D07E3E5B61}" dt="2024-06-20T20:57:50.652" v="315" actId="14100"/>
        <pc:sldMkLst>
          <pc:docMk/>
          <pc:sldMk cId="3138634231" sldId="310"/>
        </pc:sldMkLst>
      </pc:sldChg>
      <pc:sldChg chg="modSp">
        <pc:chgData name="Blake Benz" userId="8a97c15f36056bdc" providerId="Windows Live" clId="Web-{7A78C95D-264F-4A54-A6EA-B9D07E3E5B61}" dt="2024-06-20T21:02:53.914" v="372" actId="14100"/>
        <pc:sldMkLst>
          <pc:docMk/>
          <pc:sldMk cId="2090974487" sldId="312"/>
        </pc:sldMkLst>
      </pc:sldChg>
      <pc:sldChg chg="modSp">
        <pc:chgData name="Blake Benz" userId="8a97c15f36056bdc" providerId="Windows Live" clId="Web-{7A78C95D-264F-4A54-A6EA-B9D07E3E5B61}" dt="2024-06-20T21:04:23.794" v="392" actId="14100"/>
        <pc:sldMkLst>
          <pc:docMk/>
          <pc:sldMk cId="2898309144" sldId="314"/>
        </pc:sldMkLst>
      </pc:sldChg>
      <pc:sldChg chg="modSp">
        <pc:chgData name="Blake Benz" userId="8a97c15f36056bdc" providerId="Windows Live" clId="Web-{7A78C95D-264F-4A54-A6EA-B9D07E3E5B61}" dt="2024-06-20T21:00:37.018" v="348" actId="1076"/>
        <pc:sldMkLst>
          <pc:docMk/>
          <pc:sldMk cId="2075516427" sldId="315"/>
        </pc:sldMkLst>
      </pc:sldChg>
      <pc:sldChg chg="modSp">
        <pc:chgData name="Blake Benz" userId="8a97c15f36056bdc" providerId="Windows Live" clId="Web-{7A78C95D-264F-4A54-A6EA-B9D07E3E5B61}" dt="2024-06-20T21:04:57.279" v="400" actId="20577"/>
        <pc:sldMkLst>
          <pc:docMk/>
          <pc:sldMk cId="796333006" sldId="316"/>
        </pc:sldMkLst>
      </pc:sldChg>
      <pc:sldChg chg="modSp">
        <pc:chgData name="Blake Benz" userId="8a97c15f36056bdc" providerId="Windows Live" clId="Web-{7A78C95D-264F-4A54-A6EA-B9D07E3E5B61}" dt="2024-06-20T21:05:55.266" v="413" actId="14100"/>
        <pc:sldMkLst>
          <pc:docMk/>
          <pc:sldMk cId="942140970" sldId="317"/>
        </pc:sldMkLst>
      </pc:sldChg>
      <pc:sldChg chg="modSp">
        <pc:chgData name="Blake Benz" userId="8a97c15f36056bdc" providerId="Windows Live" clId="Web-{7A78C95D-264F-4A54-A6EA-B9D07E3E5B61}" dt="2024-06-20T21:08:36.085" v="451" actId="20577"/>
        <pc:sldMkLst>
          <pc:docMk/>
          <pc:sldMk cId="2938166374" sldId="318"/>
        </pc:sldMkLst>
      </pc:sldChg>
      <pc:sldChg chg="modSp">
        <pc:chgData name="Blake Benz" userId="8a97c15f36056bdc" providerId="Windows Live" clId="Web-{7A78C95D-264F-4A54-A6EA-B9D07E3E5B61}" dt="2024-06-20T21:08:46.007" v="453" actId="14100"/>
        <pc:sldMkLst>
          <pc:docMk/>
          <pc:sldMk cId="3752626578" sldId="319"/>
        </pc:sldMkLst>
      </pc:sldChg>
      <pc:sldChg chg="modSp">
        <pc:chgData name="Blake Benz" userId="8a97c15f36056bdc" providerId="Windows Live" clId="Web-{7A78C95D-264F-4A54-A6EA-B9D07E3E5B61}" dt="2024-06-20T21:08:58.742" v="455" actId="20577"/>
        <pc:sldMkLst>
          <pc:docMk/>
          <pc:sldMk cId="3321382897" sldId="320"/>
        </pc:sldMkLst>
      </pc:sldChg>
      <pc:sldChg chg="modSp">
        <pc:chgData name="Blake Benz" userId="8a97c15f36056bdc" providerId="Windows Live" clId="Web-{7A78C95D-264F-4A54-A6EA-B9D07E3E5B61}" dt="2024-06-20T21:07:41.426" v="438" actId="14100"/>
        <pc:sldMkLst>
          <pc:docMk/>
          <pc:sldMk cId="2378482027" sldId="321"/>
        </pc:sldMkLst>
      </pc:sldChg>
      <pc:sldChg chg="modSp">
        <pc:chgData name="Blake Benz" userId="8a97c15f36056bdc" providerId="Windows Live" clId="Web-{7A78C95D-264F-4A54-A6EA-B9D07E3E5B61}" dt="2024-06-20T21:09:44.541" v="464" actId="20577"/>
        <pc:sldMkLst>
          <pc:docMk/>
          <pc:sldMk cId="905405050" sldId="322"/>
        </pc:sldMkLst>
      </pc:sldChg>
      <pc:sldChg chg="modSp">
        <pc:chgData name="Blake Benz" userId="8a97c15f36056bdc" providerId="Windows Live" clId="Web-{7A78C95D-264F-4A54-A6EA-B9D07E3E5B61}" dt="2024-06-20T21:10:02.307" v="468" actId="14100"/>
        <pc:sldMkLst>
          <pc:docMk/>
          <pc:sldMk cId="1114025069" sldId="323"/>
        </pc:sldMkLst>
      </pc:sldChg>
      <pc:sldChg chg="modSp">
        <pc:chgData name="Blake Benz" userId="8a97c15f36056bdc" providerId="Windows Live" clId="Web-{7A78C95D-264F-4A54-A6EA-B9D07E3E5B61}" dt="2024-06-20T21:10:58.434" v="482" actId="1076"/>
        <pc:sldMkLst>
          <pc:docMk/>
          <pc:sldMk cId="2911614365" sldId="324"/>
        </pc:sldMkLst>
      </pc:sldChg>
      <pc:sldChg chg="modSp">
        <pc:chgData name="Blake Benz" userId="8a97c15f36056bdc" providerId="Windows Live" clId="Web-{7A78C95D-264F-4A54-A6EA-B9D07E3E5B61}" dt="2024-06-20T21:10:26.761" v="472" actId="20577"/>
        <pc:sldMkLst>
          <pc:docMk/>
          <pc:sldMk cId="2266368540" sldId="325"/>
        </pc:sldMkLst>
      </pc:sldChg>
      <pc:sldChg chg="modSp add replId">
        <pc:chgData name="Blake Benz" userId="8a97c15f36056bdc" providerId="Windows Live" clId="Web-{7A78C95D-264F-4A54-A6EA-B9D07E3E5B61}" dt="2024-06-20T20:30:13.584" v="75" actId="20577"/>
        <pc:sldMkLst>
          <pc:docMk/>
          <pc:sldMk cId="2941541108" sldId="326"/>
        </pc:sldMkLst>
      </pc:sldChg>
      <pc:sldChg chg="modSp add replId">
        <pc:chgData name="Blake Benz" userId="8a97c15f36056bdc" providerId="Windows Live" clId="Web-{7A78C95D-264F-4A54-A6EA-B9D07E3E5B61}" dt="2024-06-20T21:01:05.426" v="351" actId="20577"/>
        <pc:sldMkLst>
          <pc:docMk/>
          <pc:sldMk cId="2858632839" sldId="327"/>
        </pc:sldMkLst>
      </pc:sldChg>
      <pc:sldChg chg="modSp add replId">
        <pc:chgData name="Blake Benz" userId="8a97c15f36056bdc" providerId="Windows Live" clId="Web-{7A78C95D-264F-4A54-A6EA-B9D07E3E5B61}" dt="2024-06-20T21:02:24.632" v="366" actId="14100"/>
        <pc:sldMkLst>
          <pc:docMk/>
          <pc:sldMk cId="1073832886" sldId="328"/>
        </pc:sldMkLst>
      </pc:sldChg>
      <pc:sldChg chg="modSp add replId">
        <pc:chgData name="Blake Benz" userId="8a97c15f36056bdc" providerId="Windows Live" clId="Web-{7A78C95D-264F-4A54-A6EA-B9D07E3E5B61}" dt="2024-06-20T21:04:34.841" v="394" actId="14100"/>
        <pc:sldMkLst>
          <pc:docMk/>
          <pc:sldMk cId="3306581616" sldId="329"/>
        </pc:sldMkLst>
      </pc:sldChg>
      <pc:sldChg chg="modSp add replId">
        <pc:chgData name="Blake Benz" userId="8a97c15f36056bdc" providerId="Windows Live" clId="Web-{7A78C95D-264F-4A54-A6EA-B9D07E3E5B61}" dt="2024-06-20T21:07:49.724" v="439" actId="1076"/>
        <pc:sldMkLst>
          <pc:docMk/>
          <pc:sldMk cId="2861607057" sldId="330"/>
        </pc:sldMkLst>
      </pc:sldChg>
    </pc:docChg>
  </pc:docChgLst>
  <pc:docChgLst>
    <pc:chgData name="Blake Benz" userId="8a97c15f36056bdc" providerId="Windows Live" clId="Web-{AF6B9A02-4414-4DB1-B3B3-62AC5BCA2A2C}"/>
    <pc:docChg chg="modSld">
      <pc:chgData name="Blake Benz" userId="8a97c15f36056bdc" providerId="Windows Live" clId="Web-{AF6B9A02-4414-4DB1-B3B3-62AC5BCA2A2C}" dt="2024-06-19T20:36:52.747" v="9" actId="20577"/>
      <pc:docMkLst>
        <pc:docMk/>
      </pc:docMkLst>
      <pc:sldChg chg="delSp modSp">
        <pc:chgData name="Blake Benz" userId="8a97c15f36056bdc" providerId="Windows Live" clId="Web-{AF6B9A02-4414-4DB1-B3B3-62AC5BCA2A2C}" dt="2024-06-19T20:10:11.810" v="4"/>
        <pc:sldMkLst>
          <pc:docMk/>
          <pc:sldMk cId="3556137491" sldId="256"/>
        </pc:sldMkLst>
      </pc:sldChg>
      <pc:sldChg chg="modSp">
        <pc:chgData name="Blake Benz" userId="8a97c15f36056bdc" providerId="Windows Live" clId="Web-{AF6B9A02-4414-4DB1-B3B3-62AC5BCA2A2C}" dt="2024-06-19T20:09:45.982" v="2" actId="14100"/>
        <pc:sldMkLst>
          <pc:docMk/>
          <pc:sldMk cId="144751602" sldId="295"/>
        </pc:sldMkLst>
      </pc:sldChg>
      <pc:sldChg chg="modSp">
        <pc:chgData name="Blake Benz" userId="8a97c15f36056bdc" providerId="Windows Live" clId="Web-{AF6B9A02-4414-4DB1-B3B3-62AC5BCA2A2C}" dt="2024-06-19T20:36:52.747" v="9" actId="20577"/>
        <pc:sldMkLst>
          <pc:docMk/>
          <pc:sldMk cId="1221804812" sldId="296"/>
        </pc:sldMkLst>
      </pc:sldChg>
    </pc:docChg>
  </pc:docChgLst>
  <pc:docChgLst>
    <pc:chgData name="Blake Benz" userId="8a97c15f36056bdc" providerId="Windows Live" clId="Web-{A33C98FF-781E-4948-BC95-CDEA4C304140}"/>
    <pc:docChg chg="modSld">
      <pc:chgData name="Blake Benz" userId="8a97c15f36056bdc" providerId="Windows Live" clId="Web-{A33C98FF-781E-4948-BC95-CDEA4C304140}" dt="2024-07-29T22:18:32.068" v="9" actId="20577"/>
      <pc:docMkLst>
        <pc:docMk/>
      </pc:docMkLst>
      <pc:sldChg chg="modSp">
        <pc:chgData name="Blake Benz" userId="8a97c15f36056bdc" providerId="Windows Live" clId="Web-{A33C98FF-781E-4948-BC95-CDEA4C304140}" dt="2024-07-29T22:18:32.068" v="9" actId="20577"/>
        <pc:sldMkLst>
          <pc:docMk/>
          <pc:sldMk cId="626736799" sldId="257"/>
        </pc:sldMkLst>
      </pc:sldChg>
      <pc:sldChg chg="mod modShow">
        <pc:chgData name="Blake Benz" userId="8a97c15f36056bdc" providerId="Windows Live" clId="Web-{A33C98FF-781E-4948-BC95-CDEA4C304140}" dt="2024-07-29T21:55:40.780" v="0"/>
        <pc:sldMkLst>
          <pc:docMk/>
          <pc:sldMk cId="4204555212" sldId="267"/>
        </pc:sldMkLst>
      </pc:sldChg>
      <pc:sldChg chg="modSp">
        <pc:chgData name="Blake Benz" userId="8a97c15f36056bdc" providerId="Windows Live" clId="Web-{A33C98FF-781E-4948-BC95-CDEA4C304140}" dt="2024-07-29T21:57:00.786" v="4" actId="20577"/>
        <pc:sldMkLst>
          <pc:docMk/>
          <pc:sldMk cId="1867099001" sldId="270"/>
        </pc:sldMkLst>
      </pc:sldChg>
      <pc:sldChg chg="mod modShow">
        <pc:chgData name="Blake Benz" userId="8a97c15f36056bdc" providerId="Windows Live" clId="Web-{A33C98FF-781E-4948-BC95-CDEA4C304140}" dt="2024-07-29T21:58:45.794" v="5"/>
        <pc:sldMkLst>
          <pc:docMk/>
          <pc:sldMk cId="2281249589" sldId="272"/>
        </pc:sldMkLst>
      </pc:sldChg>
    </pc:docChg>
  </pc:docChgLst>
  <pc:docChgLst>
    <pc:chgData name="Blake Benz" userId="8a97c15f36056bdc" providerId="Windows Live" clId="Web-{3116C268-5386-4EB6-A6E6-90A04FFF16FB}"/>
    <pc:docChg chg="delSld modSld">
      <pc:chgData name="Blake Benz" userId="8a97c15f36056bdc" providerId="Windows Live" clId="Web-{3116C268-5386-4EB6-A6E6-90A04FFF16FB}" dt="2024-07-29T14:47:22.187" v="60"/>
      <pc:docMkLst>
        <pc:docMk/>
      </pc:docMkLst>
      <pc:sldChg chg="del">
        <pc:chgData name="Blake Benz" userId="8a97c15f36056bdc" providerId="Windows Live" clId="Web-{3116C268-5386-4EB6-A6E6-90A04FFF16FB}" dt="2024-07-29T14:47:22.187" v="60"/>
        <pc:sldMkLst>
          <pc:docMk/>
          <pc:sldMk cId="3556137491" sldId="256"/>
        </pc:sldMkLst>
      </pc:sldChg>
      <pc:sldChg chg="modSp">
        <pc:chgData name="Blake Benz" userId="8a97c15f36056bdc" providerId="Windows Live" clId="Web-{3116C268-5386-4EB6-A6E6-90A04FFF16FB}" dt="2024-07-29T14:45:50.140" v="59" actId="20577"/>
        <pc:sldMkLst>
          <pc:docMk/>
          <pc:sldMk cId="2567346958" sldId="3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59BED-F59E-964C-99D4-420AD353E4D6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7948F-0CBD-9A4E-9D18-A1CD5ADCE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33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Penalties</a:t>
            </a:r>
            <a:r>
              <a:rPr lang="is-IS" dirty="0"/>
              <a:t>…md’s would only be getting 99% of payment</a:t>
            </a:r>
            <a:r>
              <a:rPr lang="is-IS" baseline="0" dirty="0"/>
              <a:t> then 98%....etc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A652F-4DF2-40D7-9A55-8B5145B147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60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were</a:t>
            </a:r>
            <a:r>
              <a:rPr lang="en-US" baseline="0" dirty="0"/>
              <a:t> 3 stages of meaningful 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7948F-0CBD-9A4E-9D18-A1CD5ADCE9F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10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Had to fund the</a:t>
            </a:r>
            <a:r>
              <a:rPr lang="en-US" baseline="0" dirty="0"/>
              <a:t> health IT. </a:t>
            </a:r>
          </a:p>
          <a:p>
            <a:endParaRPr lang="en-US" baseline="0" dirty="0"/>
          </a:p>
          <a:p>
            <a:r>
              <a:rPr lang="en-US" baseline="0" dirty="0"/>
              <a:t>Clinical </a:t>
            </a:r>
            <a:r>
              <a:rPr lang="en-US" baseline="0" dirty="0" err="1"/>
              <a:t>edu</a:t>
            </a:r>
            <a:r>
              <a:rPr lang="is-IS" baseline="0" dirty="0"/>
              <a:t>….people needed to learn how to use this, they were used to using paper. </a:t>
            </a:r>
          </a:p>
          <a:p>
            <a:endParaRPr lang="is-IS" baseline="0" dirty="0"/>
          </a:p>
          <a:p>
            <a:r>
              <a:rPr lang="en-US" baseline="0" dirty="0"/>
              <a:t>P</a:t>
            </a:r>
            <a:r>
              <a:rPr lang="is-IS" baseline="0" dirty="0"/>
              <a:t>eople who were going to assist at quality reporting and initiatives.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7948F-0CBD-9A4E-9D18-A1CD5ADCE9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70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Figured that hospitals</a:t>
            </a:r>
            <a:r>
              <a:rPr lang="en-US" baseline="0" dirty="0"/>
              <a:t> would be the leaders </a:t>
            </a:r>
            <a:r>
              <a:rPr lang="en-US" baseline="0" dirty="0" err="1"/>
              <a:t>bc</a:t>
            </a:r>
            <a:r>
              <a:rPr lang="en-US" baseline="0" dirty="0"/>
              <a:t> they had the money and the man power to lead this </a:t>
            </a:r>
          </a:p>
          <a:p>
            <a:endParaRPr lang="en-US" baseline="0" dirty="0"/>
          </a:p>
          <a:p>
            <a:r>
              <a:rPr lang="en-US" baseline="0" dirty="0"/>
              <a:t>Critical access hospital</a:t>
            </a:r>
            <a:r>
              <a:rPr lang="is-IS" baseline="0" dirty="0"/>
              <a:t>….in very rural settings and has 100 beds but treat everyone in the area b/c would be the only hospital around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7948F-0CBD-9A4E-9D18-A1CD5ADCE9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21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have to memorize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7948F-0CBD-9A4E-9D18-A1CD5ADCE9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9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later you started the</a:t>
            </a:r>
            <a:r>
              <a:rPr lang="en-US" baseline="0" dirty="0"/>
              <a:t> less reimbursement you got 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7948F-0CBD-9A4E-9D18-A1CD5ADCE9F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36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Payments will be ceased but penalties may continue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97948F-0CBD-9A4E-9D18-A1CD5ADCE9F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73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1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4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6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109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83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80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9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02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3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68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63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5768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95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62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04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73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91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94C7A-87FF-4A24-B4EF-C652FB3B0380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89C73-0DBC-4A91-B883-2D28A7082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267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"/>
            <a:ext cx="6969919" cy="886012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HITECH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7" y="1308848"/>
            <a:ext cx="7243622" cy="53205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First Part strengthened HIPAA laws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Second part modernized health care infrastructure – move toward electronic medical records</a:t>
            </a:r>
          </a:p>
          <a:p>
            <a:r>
              <a:rPr lang="en-US" sz="2800" dirty="0">
                <a:solidFill>
                  <a:schemeClr val="tx1"/>
                </a:solidFill>
              </a:rPr>
              <a:t>Financial incentives created to push this modernization forward called meaningful use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54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708" y="237518"/>
            <a:ext cx="8005551" cy="147857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Concept of Meaningful Use Rested on the “5 Pillars” of Health Outcomes policy priorities: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565928"/>
            <a:ext cx="7429499" cy="46062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/>
              <a:t>Improving quality, safety, efficiency, and reducing health disparities</a:t>
            </a:r>
          </a:p>
          <a:p>
            <a:r>
              <a:rPr lang="en-US" sz="3200" dirty="0"/>
              <a:t>Engage patients and families in their health</a:t>
            </a:r>
          </a:p>
          <a:p>
            <a:r>
              <a:rPr lang="en-US" sz="3200" dirty="0"/>
              <a:t>Improve care coordination</a:t>
            </a:r>
          </a:p>
          <a:p>
            <a:r>
              <a:rPr lang="en-US" sz="3200" dirty="0"/>
              <a:t>Improve population and public health</a:t>
            </a:r>
          </a:p>
          <a:p>
            <a:r>
              <a:rPr lang="en-US" sz="3200" dirty="0"/>
              <a:t>Ensure adequate privacy and security protection for personal health information</a:t>
            </a:r>
          </a:p>
        </p:txBody>
      </p:sp>
    </p:spTree>
    <p:extLst>
      <p:ext uri="{BB962C8B-B14F-4D97-AF65-F5344CB8AC3E}">
        <p14:creationId xmlns:p14="http://schemas.microsoft.com/office/powerpoint/2010/main" val="1221804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041" y="114300"/>
            <a:ext cx="7671796" cy="525451"/>
          </a:xfrm>
        </p:spPr>
        <p:txBody>
          <a:bodyPr>
            <a:noAutofit/>
          </a:bodyPr>
          <a:lstStyle/>
          <a:p>
            <a:r>
              <a:rPr lang="en-US" sz="4000" dirty="0"/>
              <a:t>Meaningful use and Stimulus $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762001"/>
            <a:ext cx="7004812" cy="60037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/>
              <a:t>2 payment programs one thru Medicare and the other thru Medicaid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Providers could only submit for incentive payment  from one program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Payor mix analyzed to determine where greatest benefit was attained. </a:t>
            </a:r>
          </a:p>
          <a:p>
            <a:r>
              <a:rPr lang="en-US" sz="3200" dirty="0"/>
              <a:t>Incentive payments began in 2011</a:t>
            </a:r>
          </a:p>
          <a:p>
            <a:r>
              <a:rPr lang="en-US" sz="3200" dirty="0"/>
              <a:t>Penalties began in 2015 payment reductions 99%&gt;2016 98%&gt;2017 and thereafter 97%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98388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72" y="147871"/>
            <a:ext cx="8415616" cy="753082"/>
          </a:xfrm>
        </p:spPr>
        <p:txBody>
          <a:bodyPr>
            <a:noAutofit/>
          </a:bodyPr>
          <a:lstStyle/>
          <a:p>
            <a:r>
              <a:rPr lang="en-US" sz="4400" dirty="0"/>
              <a:t>Overview of Meaningful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609" y="1409701"/>
            <a:ext cx="7772400" cy="530710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/>
              <a:t>Total of $28B in HIT Funding</a:t>
            </a:r>
          </a:p>
          <a:p>
            <a:r>
              <a:rPr lang="en-US" sz="2800" dirty="0"/>
              <a:t>$2B for HIT infrastructure and adoption</a:t>
            </a:r>
          </a:p>
          <a:p>
            <a:pPr lvl="1"/>
            <a:r>
              <a:rPr lang="en-US" sz="2400" dirty="0"/>
              <a:t>administration, planning,  adoption assistance, education and loan program.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$26B for Medicare/Medicaid payment incentives </a:t>
            </a:r>
            <a:r>
              <a:rPr lang="en-US" sz="2800" dirty="0"/>
              <a:t>for “meaningful use” of certified EHR technology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“Meaningful Use” includes the use of a certified EHR technology that can provide for exchange of health information and reporting of quality measures.</a:t>
            </a:r>
          </a:p>
        </p:txBody>
      </p:sp>
    </p:spTree>
    <p:extLst>
      <p:ext uri="{BB962C8B-B14F-4D97-AF65-F5344CB8AC3E}">
        <p14:creationId xmlns:p14="http://schemas.microsoft.com/office/powerpoint/2010/main" val="62673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662" y="239806"/>
            <a:ext cx="8146675" cy="7726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Grant and Loan Funding for HIT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019736"/>
            <a:ext cx="7772400" cy="569931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dirty="0"/>
              <a:t>HIT Infrastructure Grants</a:t>
            </a:r>
          </a:p>
          <a:p>
            <a:pPr lvl="1"/>
            <a:r>
              <a:rPr lang="en-US" sz="2400" dirty="0"/>
              <a:t>Fund specific areas of HIT including adoption for providers not eligible for incentive payments</a:t>
            </a:r>
          </a:p>
          <a:p>
            <a:r>
              <a:rPr lang="en-US" sz="3200" dirty="0"/>
              <a:t>HIT Implementation Assistance</a:t>
            </a:r>
          </a:p>
          <a:p>
            <a:pPr lvl="1"/>
            <a:r>
              <a:rPr lang="en-US" sz="2400" dirty="0"/>
              <a:t>Funding for an HIT Research Center</a:t>
            </a:r>
          </a:p>
          <a:p>
            <a:pPr lvl="1"/>
            <a:r>
              <a:rPr lang="en-US" sz="2400" dirty="0"/>
              <a:t>Funding for HIT Regional Extension Centers</a:t>
            </a:r>
          </a:p>
          <a:p>
            <a:pPr lvl="2"/>
            <a:r>
              <a:rPr lang="en-US" sz="2400" dirty="0"/>
              <a:t>Up to 4 years of funding and covering up to 50% of capitol and operating costs</a:t>
            </a:r>
          </a:p>
          <a:p>
            <a:r>
              <a:rPr lang="en-US" sz="3200" dirty="0"/>
              <a:t>State Planning and Implementation Grants</a:t>
            </a:r>
          </a:p>
          <a:p>
            <a:pPr lvl="1"/>
            <a:r>
              <a:rPr lang="en-US" sz="2400" dirty="0"/>
              <a:t>Funding to expand health information exchange</a:t>
            </a:r>
          </a:p>
          <a:p>
            <a:pPr lvl="1"/>
            <a:r>
              <a:rPr lang="en-US" sz="2400" dirty="0"/>
              <a:t>Requires state to match federal funds</a:t>
            </a:r>
          </a:p>
        </p:txBody>
      </p:sp>
    </p:spTree>
    <p:extLst>
      <p:ext uri="{BB962C8B-B14F-4D97-AF65-F5344CB8AC3E}">
        <p14:creationId xmlns:p14="http://schemas.microsoft.com/office/powerpoint/2010/main" val="116747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60511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Grants and Loan Funding for HIT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79395"/>
            <a:ext cx="7772400" cy="564552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dirty="0"/>
              <a:t>State Loan Program for Adoption</a:t>
            </a:r>
          </a:p>
          <a:p>
            <a:pPr lvl="1"/>
            <a:r>
              <a:rPr lang="en-US" sz="2800" dirty="0"/>
              <a:t>Funding for establishing programs for purchase of technologies, training, upgrades, etc. </a:t>
            </a:r>
          </a:p>
          <a:p>
            <a:pPr lvl="1"/>
            <a:r>
              <a:rPr lang="en-US" sz="2800" dirty="0"/>
              <a:t>Requires state to match federal funds</a:t>
            </a:r>
          </a:p>
          <a:p>
            <a:r>
              <a:rPr lang="en-US" sz="3200" dirty="0"/>
              <a:t>Funding for Clinical Education</a:t>
            </a:r>
          </a:p>
          <a:p>
            <a:pPr lvl="1"/>
            <a:r>
              <a:rPr lang="en-US" sz="2800" dirty="0"/>
              <a:t>Funding to universities for development of curricula to integrate HIT into clinical education</a:t>
            </a:r>
          </a:p>
          <a:p>
            <a:r>
              <a:rPr lang="en-US" dirty="0"/>
              <a:t> </a:t>
            </a:r>
            <a:r>
              <a:rPr lang="en-US" sz="3200" dirty="0"/>
              <a:t>Funding for Informatics Education Programs</a:t>
            </a:r>
          </a:p>
          <a:p>
            <a:pPr lvl="1"/>
            <a:r>
              <a:rPr lang="en-US" sz="2800" dirty="0"/>
              <a:t>Funding for universities to establish and expand medical informatics programs</a:t>
            </a:r>
          </a:p>
        </p:txBody>
      </p:sp>
    </p:spTree>
    <p:extLst>
      <p:ext uri="{BB962C8B-B14F-4D97-AF65-F5344CB8AC3E}">
        <p14:creationId xmlns:p14="http://schemas.microsoft.com/office/powerpoint/2010/main" val="50274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159077"/>
            <a:ext cx="7429499" cy="72777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/>
              <a:t>Who Qualifies?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56058" y="1263369"/>
            <a:ext cx="3703614" cy="516656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4000" dirty="0"/>
              <a:t>Medicare</a:t>
            </a:r>
          </a:p>
          <a:p>
            <a:pPr lvl="1"/>
            <a:r>
              <a:rPr lang="en-US" sz="2800" dirty="0"/>
              <a:t>Section D Hospitals (excludes rehab, psych, cancer, etc.)</a:t>
            </a:r>
          </a:p>
          <a:p>
            <a:pPr lvl="1"/>
            <a:r>
              <a:rPr lang="en-US" sz="2800"/>
              <a:t>Critical Access Hospital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573123" y="1263369"/>
            <a:ext cx="3712436" cy="516656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4000" dirty="0"/>
              <a:t>Medicaid</a:t>
            </a:r>
          </a:p>
          <a:p>
            <a:pPr lvl="1"/>
            <a:r>
              <a:rPr lang="en-US" sz="2800" dirty="0"/>
              <a:t>Acute care hospitals with 10% Medicaid volume</a:t>
            </a:r>
          </a:p>
          <a:p>
            <a:pPr lvl="1"/>
            <a:r>
              <a:rPr lang="en-US" sz="2800" dirty="0"/>
              <a:t>Children’s hospitals</a:t>
            </a:r>
          </a:p>
          <a:p>
            <a:pPr lvl="1"/>
            <a:r>
              <a:rPr lang="en-US" sz="2800" dirty="0"/>
              <a:t>Year one must be EHR user or working towards adoption of EHR </a:t>
            </a:r>
          </a:p>
          <a:p>
            <a:pPr lvl="1"/>
            <a:r>
              <a:rPr lang="en-US" sz="2800" dirty="0"/>
              <a:t>After year one must be meaningful user</a:t>
            </a:r>
          </a:p>
        </p:txBody>
      </p:sp>
    </p:spTree>
    <p:extLst>
      <p:ext uri="{BB962C8B-B14F-4D97-AF65-F5344CB8AC3E}">
        <p14:creationId xmlns:p14="http://schemas.microsoft.com/office/powerpoint/2010/main" val="1352077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Medicare Incentive payments - hospitals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752600"/>
            <a:ext cx="7239000" cy="396240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68580" indent="0" algn="ctr">
              <a:buNone/>
            </a:pPr>
            <a:r>
              <a:rPr lang="en-US" sz="4000" dirty="0"/>
              <a:t>Medicare Formula</a:t>
            </a:r>
          </a:p>
          <a:p>
            <a:pPr marL="68580" indent="0">
              <a:buNone/>
            </a:pPr>
            <a:r>
              <a:rPr lang="en-US" sz="3200" dirty="0"/>
              <a:t>The Product of three factors:</a:t>
            </a:r>
          </a:p>
          <a:p>
            <a:pPr marL="582930" indent="-514350">
              <a:buAutoNum type="arabicParenR"/>
            </a:pPr>
            <a:r>
              <a:rPr lang="en-US" sz="3200" dirty="0"/>
              <a:t>An Initial Amount</a:t>
            </a:r>
          </a:p>
          <a:p>
            <a:pPr marL="582930" indent="-514350">
              <a:buAutoNum type="arabicParenR"/>
            </a:pPr>
            <a:r>
              <a:rPr lang="en-US" sz="3200" dirty="0"/>
              <a:t>The Medicare Share</a:t>
            </a:r>
          </a:p>
          <a:p>
            <a:pPr marL="582930" indent="-514350">
              <a:buAutoNum type="arabicParenR"/>
            </a:pPr>
            <a:r>
              <a:rPr lang="en-US" sz="3200" dirty="0"/>
              <a:t>A Transition Factor applicable to the payment year</a:t>
            </a:r>
          </a:p>
          <a:p>
            <a:pPr marL="68580" indent="0">
              <a:buNone/>
            </a:pPr>
            <a:endParaRPr lang="en-US" sz="3200" dirty="0"/>
          </a:p>
          <a:p>
            <a:pPr marL="68580" indent="0">
              <a:buNone/>
            </a:pPr>
            <a:r>
              <a:rPr lang="en-US" sz="3200" dirty="0"/>
              <a:t>Data from most recently filed 12 month cost report used</a:t>
            </a:r>
          </a:p>
        </p:txBody>
      </p:sp>
    </p:spTree>
    <p:extLst>
      <p:ext uri="{BB962C8B-B14F-4D97-AF65-F5344CB8AC3E}">
        <p14:creationId xmlns:p14="http://schemas.microsoft.com/office/powerpoint/2010/main" val="2843786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hospital (Benz hospital)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10,000 total discharges in most recent cost report</a:t>
            </a:r>
          </a:p>
          <a:p>
            <a:r>
              <a:rPr lang="en-US" dirty="0"/>
              <a:t>4,000 Medicare (Part A and Part C combined) discharges</a:t>
            </a:r>
          </a:p>
          <a:p>
            <a:r>
              <a:rPr lang="en-US" dirty="0"/>
              <a:t>1,000 Medicaid discharges</a:t>
            </a:r>
          </a:p>
          <a:p>
            <a:r>
              <a:rPr lang="en-US" dirty="0"/>
              <a:t>$100,000,000 Total charges in most recent cost report</a:t>
            </a:r>
          </a:p>
          <a:p>
            <a:r>
              <a:rPr lang="en-US" dirty="0"/>
              <a:t>$7,000,000 in charity care in most recent cost report</a:t>
            </a:r>
          </a:p>
          <a:p>
            <a:r>
              <a:rPr lang="en-US" dirty="0"/>
              <a:t>2014 First year eligible for incentive payment</a:t>
            </a:r>
          </a:p>
          <a:p>
            <a:r>
              <a:rPr lang="en-US" dirty="0"/>
              <a:t>Amazingly, all data was exactly the same for cost reports in 2013, 2014 and 2015</a:t>
            </a:r>
          </a:p>
        </p:txBody>
      </p:sp>
    </p:spTree>
    <p:extLst>
      <p:ext uri="{BB962C8B-B14F-4D97-AF65-F5344CB8AC3E}">
        <p14:creationId xmlns:p14="http://schemas.microsoft.com/office/powerpoint/2010/main" val="264889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 amount calculation - Hospitals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161787"/>
              </p:ext>
            </p:extLst>
          </p:nvPr>
        </p:nvGraphicFramePr>
        <p:xfrm>
          <a:off x="381000" y="2067890"/>
          <a:ext cx="845819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4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6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Type of Hospital </a:t>
                      </a:r>
                      <a:endParaRPr 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Hospitals with 1,149 or fewer discharges during the payment year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Hospitals with at least 1,150 but no more than 23,000 discharges during the payment year </a:t>
                      </a:r>
                      <a:endParaRPr 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Hospitals with 23,001 or </a:t>
                      </a:r>
                      <a:endParaRPr 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more discharges during the </a:t>
                      </a:r>
                      <a:endParaRPr 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payment year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 Amount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$2,000,000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$2,000,000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Discharge-Related Amount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$200 x (n – 1,149) </a:t>
                      </a:r>
                    </a:p>
                    <a:p>
                      <a:r>
                        <a:rPr lang="en-US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(n is the number of discharges during the payment year)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$200 x (23,001 – 1,149)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Initial Amount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Between $2M and $6,370,400 depending on the number of discharges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Limited by law to $6,370,400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30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Benz hospital initial amount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$2,000,000 + $200 x (10,000 – 1149) </a:t>
            </a:r>
          </a:p>
          <a:p>
            <a:pPr marL="0" indent="0">
              <a:buNone/>
            </a:pPr>
            <a:r>
              <a:rPr lang="en-US" dirty="0"/>
              <a:t>= $2,000,000 + $200 x 8851</a:t>
            </a:r>
          </a:p>
          <a:p>
            <a:pPr marL="0" indent="0">
              <a:buNone/>
            </a:pPr>
            <a:r>
              <a:rPr lang="en-US" dirty="0"/>
              <a:t>= $2,000,000 + $1,770,200</a:t>
            </a:r>
          </a:p>
          <a:p>
            <a:pPr marL="0" indent="0">
              <a:buNone/>
            </a:pPr>
            <a:r>
              <a:rPr lang="en-US" dirty="0"/>
              <a:t>= $3,770,200</a:t>
            </a:r>
          </a:p>
        </p:txBody>
      </p:sp>
    </p:spTree>
    <p:extLst>
      <p:ext uri="{BB962C8B-B14F-4D97-AF65-F5344CB8AC3E}">
        <p14:creationId xmlns:p14="http://schemas.microsoft.com/office/powerpoint/2010/main" val="2509535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Medicare share - hospitals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/>
              <a:t># of IP Part A Bed days + # of IP Part C Days) /</a:t>
            </a:r>
          </a:p>
          <a:p>
            <a:pPr marL="0" indent="0">
              <a:buNone/>
            </a:pPr>
            <a:r>
              <a:rPr lang="en-US" sz="2800" dirty="0"/>
              <a:t>Total IP Bed Days x ((Total Charges – Charges Attributable to charity care total charges) / Total hospital charges))</a:t>
            </a:r>
          </a:p>
        </p:txBody>
      </p:sp>
    </p:spTree>
    <p:extLst>
      <p:ext uri="{BB962C8B-B14F-4D97-AF65-F5344CB8AC3E}">
        <p14:creationId xmlns:p14="http://schemas.microsoft.com/office/powerpoint/2010/main" val="1877091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Benz Hospital Medicare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906940" cy="35417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4000 / 10,000 x ((100,000,000 – 7,000,000)/100,000,000)</a:t>
            </a:r>
          </a:p>
          <a:p>
            <a:pPr marL="0" indent="0">
              <a:buNone/>
            </a:pPr>
            <a:r>
              <a:rPr lang="en-US" dirty="0"/>
              <a:t>= 4000 / 10,000 x (93,000,000 / 100,000,000) </a:t>
            </a:r>
          </a:p>
          <a:p>
            <a:pPr marL="0" indent="0">
              <a:buNone/>
            </a:pPr>
            <a:r>
              <a:rPr lang="en-US" dirty="0"/>
              <a:t>= 4000 / 10,000 x .93</a:t>
            </a:r>
          </a:p>
          <a:p>
            <a:pPr marL="0" indent="0">
              <a:buNone/>
            </a:pPr>
            <a:r>
              <a:rPr lang="en-US" dirty="0"/>
              <a:t>= 4000  / 9,300</a:t>
            </a:r>
          </a:p>
          <a:p>
            <a:pPr marL="0" indent="0">
              <a:buNone/>
            </a:pPr>
            <a:r>
              <a:rPr lang="en-US" dirty="0"/>
              <a:t>= .43 (43%)</a:t>
            </a:r>
          </a:p>
        </p:txBody>
      </p:sp>
    </p:spTree>
    <p:extLst>
      <p:ext uri="{BB962C8B-B14F-4D97-AF65-F5344CB8AC3E}">
        <p14:creationId xmlns:p14="http://schemas.microsoft.com/office/powerpoint/2010/main" val="2539648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factor - hospitals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840448"/>
              </p:ext>
            </p:extLst>
          </p:nvPr>
        </p:nvGraphicFramePr>
        <p:xfrm>
          <a:off x="855663" y="2249488"/>
          <a:ext cx="74295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Fiscal </a:t>
                      </a:r>
                      <a:r>
                        <a:rPr lang="en-US" dirty="0" err="1"/>
                        <a:t>Yr</a:t>
                      </a:r>
                      <a:r>
                        <a:rPr lang="en-US" baseline="0" dirty="0"/>
                        <a:t> of 1</a:t>
                      </a:r>
                      <a:r>
                        <a:rPr lang="en-US" baseline="30000" dirty="0"/>
                        <a:t>st</a:t>
                      </a:r>
                      <a:r>
                        <a:rPr lang="en-US" baseline="0" dirty="0"/>
                        <a:t> Payment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XXXXXXXX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386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Benz Hospital transition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2014: 0.75</a:t>
            </a:r>
          </a:p>
          <a:p>
            <a:r>
              <a:rPr lang="en-US" sz="3200" dirty="0"/>
              <a:t>2015: 0.50</a:t>
            </a:r>
          </a:p>
          <a:p>
            <a:r>
              <a:rPr lang="en-US" sz="3200" dirty="0"/>
              <a:t>2016: 0.25</a:t>
            </a:r>
          </a:p>
        </p:txBody>
      </p:sp>
    </p:spTree>
    <p:extLst>
      <p:ext uri="{BB962C8B-B14F-4D97-AF65-F5344CB8AC3E}">
        <p14:creationId xmlns:p14="http://schemas.microsoft.com/office/powerpoint/2010/main" val="3567243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43" y="125459"/>
            <a:ext cx="8897468" cy="47004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Benz hospital total incentive payments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13430"/>
            <a:ext cx="7675959" cy="60182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700" dirty="0"/>
              <a:t>Year 1: Initial amount x Medicare Share x Transition Factor</a:t>
            </a:r>
          </a:p>
          <a:p>
            <a:r>
              <a:rPr lang="en-US" sz="2700" dirty="0"/>
              <a:t>Year 1 = $3,770,200 x 0.43 x 0.75 = $1,215,889.50</a:t>
            </a:r>
          </a:p>
          <a:p>
            <a:r>
              <a:rPr lang="en-US" sz="2700" dirty="0"/>
              <a:t>Years 2 and 3: Initial amounts and Medicare Share the same because data was same</a:t>
            </a:r>
          </a:p>
          <a:p>
            <a:r>
              <a:rPr lang="en-US" sz="2700" dirty="0"/>
              <a:t>Year 2 = $3,770,200 x 0.43 x 0.50 = $810,592.00</a:t>
            </a:r>
          </a:p>
          <a:p>
            <a:r>
              <a:rPr lang="en-US" sz="2700" dirty="0"/>
              <a:t>Year 3 =  $3,770,200 x 0.43 x 0.25 = $405,296.50</a:t>
            </a:r>
          </a:p>
          <a:p>
            <a:r>
              <a:rPr lang="en-US" sz="2700" dirty="0"/>
              <a:t>Total Payments = $2,431,778.00 over 3 years</a:t>
            </a:r>
          </a:p>
          <a:p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277778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9154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Medicare Incentive payments and penalties - Hospitals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08676" y="1420251"/>
            <a:ext cx="4050996" cy="515535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68580" indent="0" algn="ctr">
              <a:buNone/>
            </a:pPr>
            <a:r>
              <a:rPr lang="en-US" sz="2400" u="sng" dirty="0"/>
              <a:t>Medicare Incentive Payments</a:t>
            </a:r>
          </a:p>
          <a:p>
            <a:r>
              <a:rPr lang="en-US" dirty="0"/>
              <a:t>Paid as a lump sum or periodic lump sums</a:t>
            </a:r>
            <a:endParaRPr lang="en-US"/>
          </a:p>
          <a:p>
            <a:r>
              <a:rPr lang="en-US" dirty="0"/>
              <a:t>Hospitals that first qualify in 2014 can receive only 3 years of payment beginning with year two transition factors</a:t>
            </a:r>
            <a:endParaRPr lang="en-US"/>
          </a:p>
          <a:p>
            <a:r>
              <a:rPr lang="en-US" dirty="0"/>
              <a:t>Hospitals that first quality in 2015 can receive only 2 years of payment beginning with year 3 transition factor</a:t>
            </a:r>
            <a:endParaRPr lang="en-US"/>
          </a:p>
          <a:p>
            <a:r>
              <a:rPr lang="en-US" dirty="0"/>
              <a:t>No payments after 2016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584329" y="1308193"/>
            <a:ext cx="4178670" cy="52674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68580" indent="0" algn="ctr">
              <a:buNone/>
            </a:pPr>
            <a:r>
              <a:rPr lang="en-US" sz="2000" u="sng" dirty="0"/>
              <a:t>Medicare Penalties</a:t>
            </a:r>
          </a:p>
          <a:p>
            <a:r>
              <a:rPr lang="en-US" sz="2000" dirty="0"/>
              <a:t>2015: hospital that did not qualify as meaningful users are subject to penalties:</a:t>
            </a:r>
          </a:p>
          <a:p>
            <a:pPr lvl="1"/>
            <a:r>
              <a:rPr lang="en-US" dirty="0"/>
              <a:t>Inpatient Prospective Payment System increases reduced by following percentages:</a:t>
            </a:r>
          </a:p>
          <a:p>
            <a:pPr lvl="1"/>
            <a:r>
              <a:rPr lang="en-US" dirty="0"/>
              <a:t>25% in 2015 for 2013 reporting period</a:t>
            </a:r>
          </a:p>
          <a:p>
            <a:pPr lvl="1"/>
            <a:r>
              <a:rPr lang="en-US" dirty="0"/>
              <a:t>50% in 2016 for 2014 </a:t>
            </a:r>
          </a:p>
          <a:p>
            <a:pPr lvl="1"/>
            <a:r>
              <a:rPr lang="en-US" dirty="0"/>
              <a:t>75% in 2017+ for 2015</a:t>
            </a:r>
          </a:p>
          <a:p>
            <a:pPr lvl="1"/>
            <a:r>
              <a:rPr lang="en-US" dirty="0"/>
              <a:t>2018: moved to promoting interoperability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12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203900"/>
            <a:ext cx="7429499" cy="72777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Hospitals can apply for hardship exceptions to avoid penalties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117693"/>
            <a:ext cx="7429499" cy="551394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/>
              <a:t>Infrastructure </a:t>
            </a:r>
            <a:r>
              <a:rPr lang="en-US" dirty="0"/>
              <a:t>— Eligible hospitals must demonstrate that they are in an area without sufficient internet access or face insurmountable barriers to obtaining infrastructure (e.g., lack of broadband). </a:t>
            </a:r>
          </a:p>
          <a:p>
            <a:r>
              <a:rPr lang="en-US" b="1" dirty="0"/>
              <a:t>New eligible hospitals </a:t>
            </a:r>
            <a:r>
              <a:rPr lang="en-US" dirty="0"/>
              <a:t>— Eligible hospitals with new CMS Certification Numbers (CCNs) that do not have the time to become meaningful EHR users can apply for an exception for one full cost reporting period. </a:t>
            </a:r>
          </a:p>
          <a:p>
            <a:r>
              <a:rPr lang="en-US" b="1" dirty="0"/>
              <a:t>Unforeseen Circumstances </a:t>
            </a:r>
            <a:r>
              <a:rPr lang="en-US" dirty="0"/>
              <a:t>— Examples may include a natural disaster or other unforeseeable barriers. </a:t>
            </a:r>
          </a:p>
          <a:p>
            <a:r>
              <a:rPr lang="en-US" b="1" dirty="0"/>
              <a:t>EHR Vendor Issues </a:t>
            </a:r>
            <a:r>
              <a:rPr lang="en-US" dirty="0"/>
              <a:t>— an eligible hospital’s EHR vendor was unable to obtain certification, or the hospital was unable to implement meaningful use due to EHR certification delays.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238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43000" y="152400"/>
            <a:ext cx="7696200" cy="605118"/>
          </a:xfrm>
        </p:spPr>
        <p:txBody>
          <a:bodyPr>
            <a:normAutofit/>
          </a:bodyPr>
          <a:lstStyle/>
          <a:p>
            <a:r>
              <a:rPr lang="en-US" sz="3000" dirty="0"/>
              <a:t>Medicaid Incentive Payments – Hospital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3400" y="896471"/>
            <a:ext cx="8612840" cy="57979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Statute authorizes states to make incentive payments to hospitals to encourage the adoption and use of EHR’s </a:t>
            </a:r>
          </a:p>
          <a:p>
            <a:pPr lvl="1"/>
            <a:r>
              <a:rPr lang="en-US" sz="2000" dirty="0"/>
              <a:t>Incentive payments funded 100% FMAP (90% for state administration) subject to caps:</a:t>
            </a:r>
          </a:p>
          <a:p>
            <a:pPr lvl="2"/>
            <a:r>
              <a:rPr lang="en-US" sz="2000" dirty="0"/>
              <a:t>Aggregate 4 year cap = Medicare formula using Medicaid days in the share calculation</a:t>
            </a:r>
          </a:p>
          <a:p>
            <a:pPr lvl="2"/>
            <a:r>
              <a:rPr lang="en-US" sz="2000" dirty="0"/>
              <a:t>Annual cap = 50% of aggregate cap</a:t>
            </a:r>
          </a:p>
          <a:p>
            <a:pPr lvl="2"/>
            <a:r>
              <a:rPr lang="en-US" sz="2000" dirty="0"/>
              <a:t>Two year cap = 90% of aggregate cap</a:t>
            </a:r>
          </a:p>
          <a:p>
            <a:pPr lvl="1"/>
            <a:r>
              <a:rPr lang="en-US" sz="2100" dirty="0"/>
              <a:t>First payment year incentives may be paid to providers who engage in efforts to adopt, implement or upgrade certified EHR technology</a:t>
            </a:r>
          </a:p>
          <a:p>
            <a:pPr lvl="1"/>
            <a:r>
              <a:rPr lang="en-US" sz="2100" dirty="0"/>
              <a:t>After first year, providers must be meaningful users to qualify for incentive payments</a:t>
            </a:r>
          </a:p>
          <a:p>
            <a:pPr lvl="1"/>
            <a:r>
              <a:rPr lang="en-US" sz="2100" dirty="0"/>
              <a:t>To find out how New York ran it’s EHR Incentive Program visit https://www.health.ny.gov/health_care/medicaid/redesign/ehr/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04555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228600"/>
            <a:ext cx="7989794" cy="78380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HIT Incentive payment - physicians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96790"/>
            <a:ext cx="7772400" cy="58382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Hospital based physicians are NOT eligible for HIT incentive payments</a:t>
            </a:r>
          </a:p>
          <a:p>
            <a:pPr lvl="1"/>
            <a:r>
              <a:rPr lang="en-US" sz="2800" dirty="0"/>
              <a:t>Physicians that furnish substantially all services (inpatient and outpatient) in a hospital setting using the facilities and equipment, including EHR of the hospital </a:t>
            </a:r>
          </a:p>
          <a:p>
            <a:r>
              <a:rPr lang="en-US" sz="3200" dirty="0"/>
              <a:t>Qualifying non-hospital physicians are eligible for Medicare or Medicaid  HIT incentive payments but not both</a:t>
            </a:r>
          </a:p>
        </p:txBody>
      </p:sp>
    </p:spTree>
    <p:extLst>
      <p:ext uri="{BB962C8B-B14F-4D97-AF65-F5344CB8AC3E}">
        <p14:creationId xmlns:p14="http://schemas.microsoft.com/office/powerpoint/2010/main" val="2215515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114253"/>
            <a:ext cx="7429499" cy="108636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Medicare Payment – eligible professionals (Eps)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609" y="1200619"/>
            <a:ext cx="7772400" cy="556932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200" dirty="0"/>
              <a:t>Medicare HIT incentive payments based on 75% of estimated allowed charges for all covered services</a:t>
            </a:r>
          </a:p>
          <a:p>
            <a:pPr lvl="2"/>
            <a:r>
              <a:rPr lang="en-US" sz="2400" dirty="0"/>
              <a:t>Capped at specific amounts each year up to up to $44,000 in total</a:t>
            </a:r>
          </a:p>
          <a:p>
            <a:pPr lvl="2"/>
            <a:r>
              <a:rPr lang="en-US" sz="2400" dirty="0"/>
              <a:t>Incentive payments increased by 10% for services provided in designated health professional shortage area</a:t>
            </a:r>
          </a:p>
          <a:p>
            <a:r>
              <a:rPr lang="en-US" sz="3200" dirty="0"/>
              <a:t>Incentive payments begin in 2011</a:t>
            </a:r>
          </a:p>
          <a:p>
            <a:pPr lvl="2"/>
            <a:r>
              <a:rPr lang="en-US" sz="2200" dirty="0"/>
              <a:t>Maximum period of benefit is 5 years</a:t>
            </a:r>
          </a:p>
          <a:p>
            <a:pPr lvl="2"/>
            <a:r>
              <a:rPr lang="en-US" sz="2200" dirty="0"/>
              <a:t>Final year to receive 5 years of benefits is 2012</a:t>
            </a:r>
          </a:p>
          <a:p>
            <a:pPr marL="68580" indent="0">
              <a:buNone/>
            </a:pPr>
            <a:r>
              <a:rPr lang="en-US" dirty="0"/>
              <a:t>		 </a:t>
            </a:r>
          </a:p>
        </p:txBody>
      </p:sp>
    </p:spTree>
    <p:extLst>
      <p:ext uri="{BB962C8B-B14F-4D97-AF65-F5344CB8AC3E}">
        <p14:creationId xmlns:p14="http://schemas.microsoft.com/office/powerpoint/2010/main" val="1867099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42" y="315959"/>
            <a:ext cx="8919811" cy="940688"/>
          </a:xfrm>
        </p:spPr>
        <p:txBody>
          <a:bodyPr>
            <a:normAutofit/>
          </a:bodyPr>
          <a:lstStyle/>
          <a:p>
            <a:r>
              <a:rPr lang="en-US" sz="4800" dirty="0"/>
              <a:t>Medicare Payment - physicians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857993"/>
              </p:ext>
            </p:extLst>
          </p:nvPr>
        </p:nvGraphicFramePr>
        <p:xfrm>
          <a:off x="616323" y="1490382"/>
          <a:ext cx="7911250" cy="5042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0409">
                <a:tc>
                  <a:txBody>
                    <a:bodyPr/>
                    <a:lstStyle/>
                    <a:p>
                      <a:r>
                        <a:rPr lang="en-US" sz="1600" dirty="0"/>
                        <a:t>Max payout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First Year of participation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First Year of participation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First Year of participation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First Year of participation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67">
                <a:tc>
                  <a:txBody>
                    <a:bodyPr/>
                    <a:lstStyle/>
                    <a:p>
                      <a:r>
                        <a:rPr lang="en-US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67">
                <a:tc>
                  <a:txBody>
                    <a:bodyPr/>
                    <a:lstStyle/>
                    <a:p>
                      <a:r>
                        <a:rPr lang="en-US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67">
                <a:tc>
                  <a:txBody>
                    <a:bodyPr/>
                    <a:lstStyle/>
                    <a:p>
                      <a:r>
                        <a:rPr lang="en-US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$11,760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$14,700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67">
                <a:tc>
                  <a:txBody>
                    <a:bodyPr/>
                    <a:lstStyle/>
                    <a:p>
                      <a:r>
                        <a:rPr lang="en-US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$11,760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$11,760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67">
                <a:tc>
                  <a:txBody>
                    <a:bodyPr/>
                    <a:lstStyle/>
                    <a:p>
                      <a:r>
                        <a:rPr lang="en-US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$7840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067">
                <a:tc>
                  <a:txBody>
                    <a:bodyPr/>
                    <a:lstStyle/>
                    <a:p>
                      <a:r>
                        <a:rPr lang="en-US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$3920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067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$43,720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$43,480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$38,220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$23,520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634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00" y="450430"/>
            <a:ext cx="8494058" cy="76139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Medicare penalties – physicians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828" y="1207996"/>
            <a:ext cx="8498544" cy="14029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Beginning in 2015, non-hospital based physicians that are not meaningful users of HIT will be subject to reductions in the Physician Fee Schedule amount 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649630"/>
              </p:ext>
            </p:extLst>
          </p:nvPr>
        </p:nvGraphicFramePr>
        <p:xfrm>
          <a:off x="739587" y="2610970"/>
          <a:ext cx="7666430" cy="3949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8723">
                <a:tc>
                  <a:txBody>
                    <a:bodyPr/>
                    <a:lstStyle/>
                    <a:p>
                      <a:r>
                        <a:rPr lang="en-US" dirty="0"/>
                        <a:t>Payment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</a:t>
                      </a:r>
                      <a:r>
                        <a:rPr lang="en-US" baseline="0" dirty="0"/>
                        <a:t> Point Reduction to the Physician Fee Schedule Amount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886">
                <a:tc>
                  <a:txBody>
                    <a:bodyPr/>
                    <a:lstStyle/>
                    <a:p>
                      <a:r>
                        <a:rPr lang="en-US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886">
                <a:tc>
                  <a:txBody>
                    <a:bodyPr/>
                    <a:lstStyle/>
                    <a:p>
                      <a:r>
                        <a:rPr lang="en-US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1357">
                <a:tc>
                  <a:txBody>
                    <a:bodyPr/>
                    <a:lstStyle/>
                    <a:p>
                      <a:r>
                        <a:rPr lang="en-US" dirty="0"/>
                        <a:t>2017 and</a:t>
                      </a:r>
                      <a:r>
                        <a:rPr lang="en-US" baseline="0" dirty="0"/>
                        <a:t> subsequent years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364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237518"/>
            <a:ext cx="7429499" cy="99671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Avoiding penalties through hardship exceptions - physicians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241613"/>
            <a:ext cx="7429499" cy="5401234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sz="3600" b="1" dirty="0"/>
              <a:t>Lack of Infrastructure: </a:t>
            </a:r>
            <a:r>
              <a:rPr lang="en-US" sz="3600" dirty="0"/>
              <a:t>Eligible professionals must demonstrate that they are in an area without sufficient internet access or face insurmountable barriers to obtaining infrastructure (e.g., lack of broadband). </a:t>
            </a:r>
          </a:p>
          <a:p>
            <a:r>
              <a:rPr lang="en-US" sz="3600" b="1" dirty="0"/>
              <a:t>Extreme and Uncontrollable Circumstances: </a:t>
            </a:r>
            <a:r>
              <a:rPr lang="en-US" sz="3600" dirty="0"/>
              <a:t>Examples may include a natural disaster or other unforeseeable barrier. </a:t>
            </a:r>
          </a:p>
          <a:p>
            <a:pPr lvl="1"/>
            <a:r>
              <a:rPr lang="en-US" sz="3600" b="1" dirty="0"/>
              <a:t>EHR Vendor Issues: </a:t>
            </a:r>
            <a:r>
              <a:rPr lang="en-US" sz="3600" dirty="0"/>
              <a:t>The eligible professional’s EHR vendor was unable to obtain certification or the eligible professional switched vendors. </a:t>
            </a:r>
          </a:p>
          <a:p>
            <a:r>
              <a:rPr lang="en-US" sz="3600" b="1" dirty="0"/>
              <a:t>Patient Interaction: </a:t>
            </a:r>
          </a:p>
          <a:p>
            <a:pPr lvl="1"/>
            <a:r>
              <a:rPr lang="en-US" sz="3600" dirty="0"/>
              <a:t>Lack of face-to-face or telemedicine interaction with patient </a:t>
            </a:r>
          </a:p>
          <a:p>
            <a:pPr lvl="1"/>
            <a:r>
              <a:rPr lang="en-US" sz="3600" dirty="0"/>
              <a:t>Lack of follow-up need with patients </a:t>
            </a:r>
          </a:p>
          <a:p>
            <a:r>
              <a:rPr lang="en-US" sz="3600" b="1" dirty="0"/>
              <a:t>Practice at Multiple Locations: </a:t>
            </a:r>
            <a:r>
              <a:rPr lang="en-US" sz="3600" dirty="0"/>
              <a:t>Lack of control over availability of CEHRT for more than 50% of patient encounters. </a:t>
            </a:r>
          </a:p>
        </p:txBody>
      </p:sp>
    </p:spTree>
    <p:extLst>
      <p:ext uri="{BB962C8B-B14F-4D97-AF65-F5344CB8AC3E}">
        <p14:creationId xmlns:p14="http://schemas.microsoft.com/office/powerpoint/2010/main" val="987741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28600"/>
            <a:ext cx="7429499" cy="593306"/>
          </a:xfrm>
        </p:spPr>
        <p:txBody>
          <a:bodyPr/>
          <a:lstStyle/>
          <a:p>
            <a:r>
              <a:rPr lang="en-US" dirty="0"/>
              <a:t>Medicaid Payments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01200"/>
            <a:ext cx="8153400" cy="5623110"/>
          </a:xfrm>
        </p:spPr>
        <p:txBody>
          <a:bodyPr>
            <a:normAutofit/>
          </a:bodyPr>
          <a:lstStyle/>
          <a:p>
            <a:r>
              <a:rPr lang="en-US" sz="2400" dirty="0"/>
              <a:t>Eligibility requirements for Medicaid HIT incentive payments </a:t>
            </a:r>
          </a:p>
          <a:p>
            <a:pPr lvl="1"/>
            <a:r>
              <a:rPr lang="en-US" sz="2000" dirty="0"/>
              <a:t>At least 30% of patient volume attributed to Medicaid patients (20% for pediatricians)</a:t>
            </a:r>
          </a:p>
          <a:p>
            <a:r>
              <a:rPr lang="en-US" sz="2400" dirty="0"/>
              <a:t>Medicaid HIT incentive payments are designed to reimburse for the cost associated with the purchase of certified EHR technology </a:t>
            </a:r>
          </a:p>
          <a:p>
            <a:pPr lvl="1"/>
            <a:r>
              <a:rPr lang="en-US" sz="2000" dirty="0"/>
              <a:t>Up to 85% of the net average allowable costs</a:t>
            </a:r>
          </a:p>
          <a:p>
            <a:pPr lvl="1"/>
            <a:r>
              <a:rPr lang="en-US" sz="2000" dirty="0"/>
              <a:t>Can include costs associated with maintenance and training </a:t>
            </a:r>
          </a:p>
          <a:p>
            <a:pPr lvl="1"/>
            <a:r>
              <a:rPr lang="en-US" sz="2000" dirty="0"/>
              <a:t>First year payment cannot exceed $25,000 (Secretary of HHS has the authority to reduce this amount)</a:t>
            </a:r>
          </a:p>
          <a:p>
            <a:pPr lvl="1"/>
            <a:r>
              <a:rPr lang="en-US" sz="2000" dirty="0"/>
              <a:t>Payments are available for up to five additional years capped at $10,000/year </a:t>
            </a:r>
          </a:p>
          <a:p>
            <a:pPr lvl="1"/>
            <a:r>
              <a:rPr lang="en-US" sz="2000" dirty="0"/>
              <a:t>Payments can begin no later than 2016</a:t>
            </a:r>
          </a:p>
        </p:txBody>
      </p:sp>
    </p:spTree>
    <p:extLst>
      <p:ext uri="{BB962C8B-B14F-4D97-AF65-F5344CB8AC3E}">
        <p14:creationId xmlns:p14="http://schemas.microsoft.com/office/powerpoint/2010/main" val="2281249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795012"/>
          </a:xfrm>
        </p:spPr>
        <p:txBody>
          <a:bodyPr/>
          <a:lstStyle/>
          <a:p>
            <a:pPr algn="ctr"/>
            <a:r>
              <a:rPr lang="en-US" sz="4800" dirty="0"/>
              <a:t>Student presentations</a:t>
            </a:r>
          </a:p>
        </p:txBody>
      </p:sp>
    </p:spTree>
    <p:extLst>
      <p:ext uri="{BB962C8B-B14F-4D97-AF65-F5344CB8AC3E}">
        <p14:creationId xmlns:p14="http://schemas.microsoft.com/office/powerpoint/2010/main" val="461744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560294"/>
            <a:ext cx="7788087" cy="402806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Meaningful use Timeline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1280" t="18243" r="11138" b="25818"/>
          <a:stretch/>
        </p:blipFill>
        <p:spPr>
          <a:xfrm>
            <a:off x="271183" y="1228165"/>
            <a:ext cx="8588704" cy="523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16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Three stages in meaningful use – original regulations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440456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4400" dirty="0"/>
              <a:t>Stage 1</a:t>
            </a:r>
          </a:p>
          <a:p>
            <a:pPr lvl="1"/>
            <a:r>
              <a:rPr lang="en-US" sz="3600" dirty="0"/>
              <a:t>Reporting period 90 days for first year / 1 year subsequently</a:t>
            </a:r>
          </a:p>
          <a:p>
            <a:pPr lvl="1"/>
            <a:r>
              <a:rPr lang="en-US" sz="3600" dirty="0"/>
              <a:t>May be yes/no or numerator/denominator</a:t>
            </a:r>
          </a:p>
          <a:p>
            <a:pPr lvl="1"/>
            <a:r>
              <a:rPr lang="en-US" sz="3600" dirty="0"/>
              <a:t>Includes core objectives, objectives from menu set and clinical quality measures</a:t>
            </a:r>
          </a:p>
          <a:p>
            <a:pPr lvl="2"/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67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"/>
            <a:ext cx="7429499" cy="990600"/>
          </a:xfrm>
        </p:spPr>
        <p:txBody>
          <a:bodyPr>
            <a:normAutofit/>
          </a:bodyPr>
          <a:lstStyle/>
          <a:p>
            <a:r>
              <a:rPr lang="en-US" dirty="0"/>
              <a:t>Hospital stage 1 core objectives</a:t>
            </a:r>
            <a:br>
              <a:rPr lang="en-US" dirty="0"/>
            </a:br>
            <a:endParaRPr lang="en-US" sz="1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066800"/>
            <a:ext cx="7906940" cy="54864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Computerized provider order entry (CPOE) –30% of unique patients w/ at least 1 medication in their medication list</a:t>
            </a:r>
          </a:p>
          <a:p>
            <a:r>
              <a:rPr lang="en-US" dirty="0"/>
              <a:t>Drug-drug and drug-allergy interaction checks</a:t>
            </a:r>
          </a:p>
          <a:p>
            <a:r>
              <a:rPr lang="en-US" dirty="0"/>
              <a:t>Record demographics – 50% of all unique patients have demographics such as gender, race, ethnicity, birth date recorded as structured data</a:t>
            </a:r>
          </a:p>
          <a:p>
            <a:r>
              <a:rPr lang="en-US" dirty="0"/>
              <a:t>Implement one clinical decision support rule</a:t>
            </a:r>
          </a:p>
          <a:p>
            <a:r>
              <a:rPr lang="en-US" dirty="0"/>
              <a:t>Maintain up-to-date problem list of current and active diagnoses</a:t>
            </a:r>
          </a:p>
          <a:p>
            <a:r>
              <a:rPr lang="en-US" dirty="0"/>
              <a:t>Maintain active medication list</a:t>
            </a:r>
          </a:p>
          <a:p>
            <a:r>
              <a:rPr lang="en-US" dirty="0"/>
              <a:t>Maintain active medication allergy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363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"/>
            <a:ext cx="7429499" cy="990600"/>
          </a:xfrm>
        </p:spPr>
        <p:txBody>
          <a:bodyPr>
            <a:normAutofit/>
          </a:bodyPr>
          <a:lstStyle/>
          <a:p>
            <a:r>
              <a:rPr lang="en-US" dirty="0"/>
              <a:t>Hospital stage 1 core objectives</a:t>
            </a:r>
            <a:br>
              <a:rPr lang="en-US" dirty="0"/>
            </a:br>
            <a:endParaRPr lang="en-US" sz="1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066800"/>
            <a:ext cx="7906940" cy="54864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Record and chart changes in vital signs</a:t>
            </a:r>
            <a:endParaRPr lang="en-US"/>
          </a:p>
          <a:p>
            <a:r>
              <a:rPr lang="en-US" dirty="0"/>
              <a:t>Record smoking status for patients 13 years or older</a:t>
            </a:r>
          </a:p>
          <a:p>
            <a:r>
              <a:rPr lang="en-US" dirty="0"/>
              <a:t>Report hospital clinical quality measures to CMS or States</a:t>
            </a:r>
          </a:p>
          <a:p>
            <a:r>
              <a:rPr lang="en-US" dirty="0"/>
              <a:t>Provide patients with an electronic copy of their health information, upon request</a:t>
            </a:r>
          </a:p>
          <a:p>
            <a:r>
              <a:rPr lang="en-US" dirty="0"/>
              <a:t>Provide patients with an electronic copy of their discharge instructions at time of discharge, upon request</a:t>
            </a:r>
          </a:p>
          <a:p>
            <a:r>
              <a:rPr lang="en-US" dirty="0"/>
              <a:t>Capability to exchange key clinical information among providers of care and patient-authorized entities electronically</a:t>
            </a:r>
          </a:p>
          <a:p>
            <a:r>
              <a:rPr lang="en-US" dirty="0"/>
              <a:t>Protect electronic health information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632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030" y="304800"/>
            <a:ext cx="7429499" cy="524482"/>
          </a:xfrm>
        </p:spPr>
        <p:txBody>
          <a:bodyPr>
            <a:normAutofit fontScale="90000"/>
          </a:bodyPr>
          <a:lstStyle/>
          <a:p>
            <a:r>
              <a:rPr lang="en-US" dirty="0"/>
              <a:t>Hospital stage 1 Menu Set 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265" y="986117"/>
            <a:ext cx="7819535" cy="533848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800" dirty="0"/>
              <a:t>Drug-formulary checks</a:t>
            </a:r>
          </a:p>
          <a:p>
            <a:r>
              <a:rPr lang="en-US" sz="2800" dirty="0"/>
              <a:t>Record advanced directives for patients 65 years or older</a:t>
            </a:r>
          </a:p>
          <a:p>
            <a:r>
              <a:rPr lang="en-US" sz="2800" dirty="0"/>
              <a:t>Incorporate clinical lab test results as structured data</a:t>
            </a:r>
          </a:p>
          <a:p>
            <a:r>
              <a:rPr lang="en-US" sz="2800" dirty="0"/>
              <a:t>Generate lists of patients by specific conditions</a:t>
            </a:r>
          </a:p>
          <a:p>
            <a:r>
              <a:rPr lang="en-US" sz="2800" dirty="0"/>
              <a:t>Use certified EHR technology to identify patient-specific education resources and provide to patient, if appropriate</a:t>
            </a:r>
          </a:p>
          <a:p>
            <a:r>
              <a:rPr lang="en-US" sz="2800" dirty="0"/>
              <a:t>* At least 1 public health objective must be selected. </a:t>
            </a:r>
          </a:p>
        </p:txBody>
      </p:sp>
    </p:spTree>
    <p:extLst>
      <p:ext uri="{BB962C8B-B14F-4D97-AF65-F5344CB8AC3E}">
        <p14:creationId xmlns:p14="http://schemas.microsoft.com/office/powerpoint/2010/main" val="2090974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030" y="304800"/>
            <a:ext cx="7429499" cy="524482"/>
          </a:xfrm>
        </p:spPr>
        <p:txBody>
          <a:bodyPr>
            <a:normAutofit fontScale="90000"/>
          </a:bodyPr>
          <a:lstStyle/>
          <a:p>
            <a:r>
              <a:rPr lang="en-US" dirty="0"/>
              <a:t>Hospital stage 1 Menu Set 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265" y="840441"/>
            <a:ext cx="7819535" cy="54841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dirty="0"/>
              <a:t>Medication reconciliation</a:t>
            </a:r>
            <a:endParaRPr lang="en-US" dirty="0"/>
          </a:p>
          <a:p>
            <a:r>
              <a:rPr lang="en-US" sz="2600" dirty="0"/>
              <a:t>Summary of care record for each transition of care/referrals</a:t>
            </a:r>
          </a:p>
          <a:p>
            <a:r>
              <a:rPr lang="en-US" sz="2600" dirty="0"/>
              <a:t>Capability to submit electronic data to immunization registries/systems*</a:t>
            </a:r>
          </a:p>
          <a:p>
            <a:r>
              <a:rPr lang="en-US" sz="2600" dirty="0"/>
              <a:t>Capability to provide electronic submission of reportable lab results to public health agencies*</a:t>
            </a:r>
          </a:p>
          <a:p>
            <a:r>
              <a:rPr lang="en-US" sz="2600" dirty="0"/>
              <a:t>Capability to provide electronic </a:t>
            </a:r>
            <a:r>
              <a:rPr lang="en-US" sz="2600" err="1"/>
              <a:t>syndromicsurveillance</a:t>
            </a:r>
            <a:r>
              <a:rPr lang="en-US" sz="2600" dirty="0"/>
              <a:t> data to public health agencies*</a:t>
            </a:r>
          </a:p>
          <a:p>
            <a:r>
              <a:rPr lang="en-US" sz="2600" dirty="0"/>
              <a:t>* At least 1 public health objective must be selected. </a:t>
            </a:r>
          </a:p>
        </p:txBody>
      </p:sp>
    </p:spTree>
    <p:extLst>
      <p:ext uri="{BB962C8B-B14F-4D97-AF65-F5344CB8AC3E}">
        <p14:creationId xmlns:p14="http://schemas.microsoft.com/office/powerpoint/2010/main" val="1073832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413" y="138953"/>
            <a:ext cx="7767986" cy="79501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Hospital stage 1 Clinical quality measure – Must complete all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56983"/>
            <a:ext cx="8001000" cy="56724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Emergency Department Throughput –admitted patients Median time from ED arrival to ED departure for admitted patients</a:t>
            </a:r>
          </a:p>
          <a:p>
            <a:r>
              <a:rPr lang="en-US" dirty="0"/>
              <a:t>Emergency Department Throughput –admitted patients –Admission decision time to ED departure time for admitted patients</a:t>
            </a:r>
          </a:p>
          <a:p>
            <a:r>
              <a:rPr lang="en-US" dirty="0"/>
              <a:t>Ischemic stroke –Discharge on anti-</a:t>
            </a:r>
            <a:r>
              <a:rPr lang="en-US" dirty="0" err="1"/>
              <a:t>thrombotics</a:t>
            </a:r>
            <a:endParaRPr lang="en-US" dirty="0"/>
          </a:p>
          <a:p>
            <a:r>
              <a:rPr lang="en-US" dirty="0"/>
              <a:t>Ischemic stroke –Anticoagulation for A-fib/flutter</a:t>
            </a:r>
          </a:p>
          <a:p>
            <a:r>
              <a:rPr lang="en-US" dirty="0"/>
              <a:t>Ischemic stroke –Thrombolytic therapy for patients arriving within 2 hours of symptom onset</a:t>
            </a:r>
          </a:p>
          <a:p>
            <a:r>
              <a:rPr lang="en-US" dirty="0"/>
              <a:t>Ischemic or hemorrhagic stroke –Antithrombotic therapy by day 2</a:t>
            </a:r>
          </a:p>
          <a:p>
            <a:r>
              <a:rPr lang="en-US" dirty="0"/>
              <a:t>Ischemic stroke –Discharge on statins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309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825" y="228600"/>
            <a:ext cx="7745575" cy="7165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/>
              <a:t>Hospital stage 1 Clinical quality measure – Must complete all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8001000" cy="5257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Ischemic or hemorrhagic stroke –Stroke education</a:t>
            </a:r>
          </a:p>
          <a:p>
            <a:r>
              <a:rPr lang="en-US" sz="2600" dirty="0"/>
              <a:t>Ischemic or hemorrhagic stroke –Rehabilitation assessment</a:t>
            </a:r>
          </a:p>
          <a:p>
            <a:r>
              <a:rPr lang="en-US" sz="2600" dirty="0"/>
              <a:t>VTE prophylaxis within 24 hours of arrival</a:t>
            </a:r>
          </a:p>
          <a:p>
            <a:r>
              <a:rPr lang="en-US" sz="2600" dirty="0"/>
              <a:t>Intensive Care Unit VTE prophylaxis</a:t>
            </a:r>
          </a:p>
          <a:p>
            <a:r>
              <a:rPr lang="en-US" sz="2600" dirty="0"/>
              <a:t>Anticoagulation overlap therapy</a:t>
            </a:r>
          </a:p>
          <a:p>
            <a:r>
              <a:rPr lang="en-US" sz="2600" dirty="0"/>
              <a:t>Platelet monitoring on unfractionated heparin</a:t>
            </a:r>
          </a:p>
          <a:p>
            <a:r>
              <a:rPr lang="en-US" sz="2600" dirty="0"/>
              <a:t>VTE discharge instructions</a:t>
            </a:r>
          </a:p>
          <a:p>
            <a:r>
              <a:rPr lang="en-US" sz="2600" dirty="0"/>
              <a:t>Incidence of potentially preventable VTE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581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795012"/>
          </a:xfrm>
        </p:spPr>
        <p:txBody>
          <a:bodyPr/>
          <a:lstStyle/>
          <a:p>
            <a:pPr algn="ctr"/>
            <a:r>
              <a:rPr lang="en-US" sz="4800" dirty="0"/>
              <a:t>Meaningful use Stage 1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/>
              <a:t>To find measures for all objectives and physician objectives, visit https://www.cms.gov/Regulations-and-Guidance/Legislation/EHRIncentivePrograms/downloads/MU_Stage1_ReqOverview.pdf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3330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0"/>
            <a:ext cx="8534400" cy="103168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/>
              <a:t>Assign Student Presentations</a:t>
            </a:r>
            <a:endParaRPr 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1B43E-FF34-FA1E-BFDF-8B4A92285864}"/>
              </a:ext>
            </a:extLst>
          </p:cNvPr>
          <p:cNvSpPr txBox="1"/>
          <p:nvPr/>
        </p:nvSpPr>
        <p:spPr>
          <a:xfrm>
            <a:off x="1447800" y="2819400"/>
            <a:ext cx="7162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Student-led discussion of assigned reading (2)​</a:t>
            </a:r>
          </a:p>
          <a:p>
            <a:r>
              <a:rPr lang="en-US" sz="4000" dirty="0"/>
              <a:t>Student article presentation (4)​</a:t>
            </a:r>
          </a:p>
        </p:txBody>
      </p:sp>
    </p:spTree>
    <p:extLst>
      <p:ext uri="{BB962C8B-B14F-4D97-AF65-F5344CB8AC3E}">
        <p14:creationId xmlns:p14="http://schemas.microsoft.com/office/powerpoint/2010/main" val="31845881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165239"/>
            <a:ext cx="7429499" cy="750189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Meaningful use stage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921125"/>
            <a:ext cx="7429499" cy="57687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800" dirty="0"/>
              <a:t>Many objectives are the same, but threshold requirements went up</a:t>
            </a:r>
          </a:p>
          <a:p>
            <a:pPr lvl="1"/>
            <a:r>
              <a:rPr lang="en-US" dirty="0"/>
              <a:t>Example: Record smoking status for patient 13 and older went from &gt;50% to &gt;80%</a:t>
            </a:r>
            <a:endParaRPr lang="en-US"/>
          </a:p>
          <a:p>
            <a:r>
              <a:rPr lang="en-US" sz="2800" dirty="0"/>
              <a:t>More core objectives and fewer menu objectives</a:t>
            </a:r>
          </a:p>
          <a:p>
            <a:r>
              <a:rPr lang="en-US" sz="2800" dirty="0"/>
              <a:t>More Clinical Quality Measures must be reported</a:t>
            </a:r>
          </a:p>
          <a:p>
            <a:r>
              <a:rPr lang="en-US" sz="2800" dirty="0"/>
              <a:t>Must receive secure messages from more than 5% of patients and a similar percentage of patients must have online access to their health information</a:t>
            </a:r>
          </a:p>
          <a:p>
            <a:pPr lvl="1"/>
            <a:r>
              <a:rPr lang="en-US" dirty="0"/>
              <a:t>Excluded for providers that work in area with limited broadband availability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140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129" y="304800"/>
            <a:ext cx="7429499" cy="600682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Modified stage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095982"/>
            <a:ext cx="7754540" cy="57664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 </a:t>
            </a:r>
            <a:r>
              <a:rPr lang="en-US" sz="2800" b="1" dirty="0"/>
              <a:t>Key Concepts for the EHR Incentive Programs in 2015 through 2017 </a:t>
            </a:r>
            <a:endParaRPr lang="en-US" sz="2800" dirty="0"/>
          </a:p>
          <a:p>
            <a:pPr lvl="1"/>
            <a:r>
              <a:rPr lang="en-US" sz="2400" dirty="0"/>
              <a:t>Restructured Stage 1 and Stage 2 objectives and measures to align with Stage 3: </a:t>
            </a:r>
          </a:p>
          <a:p>
            <a:pPr lvl="2"/>
            <a:r>
              <a:rPr lang="en-US" sz="2000" dirty="0"/>
              <a:t>10 objectives for EPs, including one consolidated public health reporting objective with measure options </a:t>
            </a:r>
          </a:p>
          <a:p>
            <a:pPr lvl="2"/>
            <a:r>
              <a:rPr lang="en-US" sz="2000" dirty="0"/>
              <a:t>9 objectives for eligible hospitals and CAHs, including one consolidated public health reporting objective with measure options </a:t>
            </a:r>
          </a:p>
          <a:p>
            <a:pPr lvl="1"/>
            <a:r>
              <a:rPr lang="en-US" sz="2400" dirty="0"/>
              <a:t>Starting in 2015, the EHR reporting period aligns with the calendar year for all providers 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482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130" y="282389"/>
            <a:ext cx="7429499" cy="600682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Modified stage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264070"/>
            <a:ext cx="7754540" cy="506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 </a:t>
            </a:r>
            <a:r>
              <a:rPr lang="en-US" sz="2800" b="1" dirty="0"/>
              <a:t>Key Concepts for the EHR Incentive Programs in 2015 through 2017 </a:t>
            </a:r>
            <a:endParaRPr lang="en-US" sz="2800"/>
          </a:p>
          <a:p>
            <a:pPr lvl="1"/>
            <a:r>
              <a:rPr lang="en-US" sz="2400" dirty="0"/>
              <a:t>Changed the EHR reporting period in 2015 to 90 days to accommodate modifications to meaningful use </a:t>
            </a:r>
          </a:p>
          <a:p>
            <a:pPr lvl="1"/>
            <a:r>
              <a:rPr lang="en-US" sz="2400" dirty="0"/>
              <a:t>Modified Stage 2 patient engagement objectives that require “patient action” </a:t>
            </a:r>
          </a:p>
          <a:p>
            <a:pPr lvl="1"/>
            <a:r>
              <a:rPr lang="en-US" sz="2400" dirty="0"/>
              <a:t>Streamlined the program by removing redundant, duplicative, and topped out measures </a:t>
            </a:r>
          </a:p>
          <a:p>
            <a:pPr lvl="1"/>
            <a:r>
              <a:rPr lang="en-US" sz="2400" dirty="0"/>
              <a:t>CQM reporting for both (EPs) and eligible hospitals/CAHs remains as previously finalized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607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215106"/>
            <a:ext cx="7429499" cy="895864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Meaningful use stage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737" y="1341811"/>
            <a:ext cx="7429499" cy="514415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400" dirty="0"/>
              <a:t>Renamed from EHR Incentive Programs to Promoting Interoperability Programs</a:t>
            </a:r>
          </a:p>
          <a:p>
            <a:r>
              <a:rPr lang="en-US" sz="3400" dirty="0"/>
              <a:t>Must attest to a single set of measures</a:t>
            </a:r>
          </a:p>
          <a:p>
            <a:r>
              <a:rPr lang="en-US" sz="3400" dirty="0"/>
              <a:t>Must attest to a single set of 6 objectives</a:t>
            </a:r>
          </a:p>
          <a:p>
            <a:r>
              <a:rPr lang="en-US" sz="3400" dirty="0"/>
              <a:t>Must use EHR technology certified to 2015 Edition</a:t>
            </a:r>
          </a:p>
        </p:txBody>
      </p:sp>
    </p:spTree>
    <p:extLst>
      <p:ext uri="{BB962C8B-B14F-4D97-AF65-F5344CB8AC3E}">
        <p14:creationId xmlns:p14="http://schemas.microsoft.com/office/powerpoint/2010/main" val="2938166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030"/>
            <a:ext cx="7704690" cy="1478570"/>
          </a:xfrm>
        </p:spPr>
        <p:txBody>
          <a:bodyPr>
            <a:normAutofit/>
          </a:bodyPr>
          <a:lstStyle/>
          <a:p>
            <a:r>
              <a:rPr lang="en-US" sz="3200" dirty="0"/>
              <a:t>Meaningful use stage 3 – 6 Objectives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855" t="9637" r="7120" b="10758"/>
          <a:stretch/>
        </p:blipFill>
        <p:spPr>
          <a:xfrm>
            <a:off x="545020" y="1472453"/>
            <a:ext cx="8211186" cy="489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265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Comparison tool for modified stage 2 and stage 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http://www.dhs.pa.gov/cs/groups/webcontent/documents/document/c_253196.pdf</a:t>
            </a:r>
          </a:p>
        </p:txBody>
      </p:sp>
    </p:spTree>
    <p:extLst>
      <p:ext uri="{BB962C8B-B14F-4D97-AF65-F5344CB8AC3E}">
        <p14:creationId xmlns:p14="http://schemas.microsoft.com/office/powerpoint/2010/main" val="33213828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04753"/>
            <a:ext cx="7429499" cy="772600"/>
          </a:xfrm>
        </p:spPr>
        <p:txBody>
          <a:bodyPr>
            <a:noAutofit/>
          </a:bodyPr>
          <a:lstStyle/>
          <a:p>
            <a:pPr algn="ctr"/>
            <a:r>
              <a:rPr lang="en-US" sz="6000" dirty="0"/>
              <a:t>2019 Changes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855" t="11789" r="5781"/>
          <a:stretch/>
        </p:blipFill>
        <p:spPr>
          <a:xfrm>
            <a:off x="341915" y="1187825"/>
            <a:ext cx="8466945" cy="548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143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2019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Must get at least 50 points to not have adjustment to IPPS lowered</a:t>
            </a:r>
          </a:p>
        </p:txBody>
      </p:sp>
    </p:spTree>
    <p:extLst>
      <p:ext uri="{BB962C8B-B14F-4D97-AF65-F5344CB8AC3E}">
        <p14:creationId xmlns:p14="http://schemas.microsoft.com/office/powerpoint/2010/main" val="22663685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85104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2019 Changes</a:t>
            </a:r>
            <a:endParaRPr lang="en-US" sz="4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All eligible hospitals and eligible physicians were required to use 2015 edition Certified Electronic Health Record Technology (CEHRT)</a:t>
            </a:r>
          </a:p>
        </p:txBody>
      </p:sp>
    </p:spTree>
    <p:extLst>
      <p:ext uri="{BB962C8B-B14F-4D97-AF65-F5344CB8AC3E}">
        <p14:creationId xmlns:p14="http://schemas.microsoft.com/office/powerpoint/2010/main" val="9054050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2024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4000" dirty="0"/>
              <a:t>Reporting period from 90 to 180 consecutive days</a:t>
            </a:r>
          </a:p>
          <a:p>
            <a:r>
              <a:rPr lang="en-US" sz="4000" dirty="0"/>
              <a:t>Antimicrobial Use and Resistance Surveillance Measure required</a:t>
            </a:r>
          </a:p>
          <a:p>
            <a:r>
              <a:rPr lang="en-US" sz="4000" dirty="0"/>
              <a:t>Attest “Yes” to SAFER guides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322362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152400"/>
            <a:ext cx="7429499" cy="4482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2024 changes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B1A036-668B-D05C-B9D2-1EECC1602C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6111120"/>
              </p:ext>
            </p:extLst>
          </p:nvPr>
        </p:nvGraphicFramePr>
        <p:xfrm>
          <a:off x="533400" y="762000"/>
          <a:ext cx="7751762" cy="5486398"/>
        </p:xfrm>
        <a:graphic>
          <a:graphicData uri="http://schemas.openxmlformats.org/drawingml/2006/table">
            <a:tbl>
              <a:tblPr/>
              <a:tblGrid>
                <a:gridCol w="2669645">
                  <a:extLst>
                    <a:ext uri="{9D8B030D-6E8A-4147-A177-3AD203B41FA5}">
                      <a16:colId xmlns:a16="http://schemas.microsoft.com/office/drawing/2014/main" val="2470137314"/>
                    </a:ext>
                  </a:extLst>
                </a:gridCol>
                <a:gridCol w="2669645">
                  <a:extLst>
                    <a:ext uri="{9D8B030D-6E8A-4147-A177-3AD203B41FA5}">
                      <a16:colId xmlns:a16="http://schemas.microsoft.com/office/drawing/2014/main" val="4046297563"/>
                    </a:ext>
                  </a:extLst>
                </a:gridCol>
                <a:gridCol w="1206236">
                  <a:extLst>
                    <a:ext uri="{9D8B030D-6E8A-4147-A177-3AD203B41FA5}">
                      <a16:colId xmlns:a16="http://schemas.microsoft.com/office/drawing/2014/main" val="1272726970"/>
                    </a:ext>
                  </a:extLst>
                </a:gridCol>
                <a:gridCol w="1206236">
                  <a:extLst>
                    <a:ext uri="{9D8B030D-6E8A-4147-A177-3AD203B41FA5}">
                      <a16:colId xmlns:a16="http://schemas.microsoft.com/office/drawing/2014/main" val="3775598069"/>
                    </a:ext>
                  </a:extLst>
                </a:gridCol>
              </a:tblGrid>
              <a:tr h="741692">
                <a:tc>
                  <a:txBody>
                    <a:bodyPr/>
                    <a:lstStyle/>
                    <a:p>
                      <a:pPr 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4877"/>
                          </a:highlight>
                          <a:latin typeface="Roboto" panose="02000000000000000000" pitchFamily="2" charset="0"/>
                        </a:rPr>
                        <a:t>Objective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4877"/>
                        </a:highlight>
                        <a:latin typeface="Roboto" panose="02000000000000000000" pitchFamily="2" charset="0"/>
                      </a:endParaRP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4877"/>
                          </a:highlight>
                          <a:latin typeface="Roboto" panose="02000000000000000000" pitchFamily="2" charset="0"/>
                        </a:rPr>
                        <a:t>Measure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4877"/>
                        </a:highlight>
                        <a:latin typeface="Roboto" panose="02000000000000000000" pitchFamily="2" charset="0"/>
                      </a:endParaRP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4877"/>
                          </a:highlight>
                          <a:latin typeface="Roboto" panose="02000000000000000000" pitchFamily="2" charset="0"/>
                        </a:rPr>
                        <a:t>Maximum Points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4877"/>
                        </a:highlight>
                        <a:latin typeface="Roboto" panose="02000000000000000000" pitchFamily="2" charset="0"/>
                      </a:endParaRP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4877"/>
                          </a:highlight>
                          <a:latin typeface="Roboto" panose="02000000000000000000" pitchFamily="2" charset="0"/>
                        </a:rPr>
                        <a:t>Required/</a:t>
                      </a:r>
                      <a:b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4877"/>
                          </a:highlight>
                          <a:latin typeface="Roboto" panose="02000000000000000000" pitchFamily="2" charset="0"/>
                        </a:rPr>
                      </a:b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4877"/>
                          </a:highlight>
                          <a:latin typeface="Roboto" panose="02000000000000000000" pitchFamily="2" charset="0"/>
                        </a:rPr>
                        <a:t>Optional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4877"/>
                        </a:highlight>
                        <a:latin typeface="Roboto" panose="02000000000000000000" pitchFamily="2" charset="0"/>
                      </a:endParaRP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8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224338"/>
                  </a:ext>
                </a:extLst>
              </a:tr>
              <a:tr h="518122">
                <a:tc rowSpan="2"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Electronic Prescribing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ePrescribing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10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Required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368297"/>
                  </a:ext>
                </a:extLst>
              </a:tr>
              <a:tr h="5181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Query PDMP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Required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7678"/>
                  </a:ext>
                </a:extLst>
              </a:tr>
              <a:tr h="741692">
                <a:tc rowSpan="4"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Health Information Exchange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Sending Health Information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-AND-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15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Required to choose 1 of 3 options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446627"/>
                  </a:ext>
                </a:extLst>
              </a:tr>
              <a:tr h="9652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Receiving and Reconciling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Health Information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-OR-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15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451709"/>
                  </a:ext>
                </a:extLst>
              </a:tr>
              <a:tr h="7416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HIE Bi-Directional Exchange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-OR-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30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670737"/>
                  </a:ext>
                </a:extLst>
              </a:tr>
              <a:tr h="5181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Enable Exchange under TEFCA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30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5708"/>
                  </a:ext>
                </a:extLst>
              </a:tr>
              <a:tr h="741692"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Provider to Patient Exchange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Provide Patients Electronic Access to Health Information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25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Required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05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4196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152400"/>
            <a:ext cx="7429499" cy="4482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2024 changes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7EF3F35-E138-E7EC-526E-BB8B3E3CBA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738589"/>
              </p:ext>
            </p:extLst>
          </p:nvPr>
        </p:nvGraphicFramePr>
        <p:xfrm>
          <a:off x="855662" y="1371600"/>
          <a:ext cx="7297738" cy="4495799"/>
        </p:xfrm>
        <a:graphic>
          <a:graphicData uri="http://schemas.openxmlformats.org/drawingml/2006/table">
            <a:tbl>
              <a:tblPr/>
              <a:tblGrid>
                <a:gridCol w="2513283">
                  <a:extLst>
                    <a:ext uri="{9D8B030D-6E8A-4147-A177-3AD203B41FA5}">
                      <a16:colId xmlns:a16="http://schemas.microsoft.com/office/drawing/2014/main" val="2855408836"/>
                    </a:ext>
                  </a:extLst>
                </a:gridCol>
                <a:gridCol w="2513283">
                  <a:extLst>
                    <a:ext uri="{9D8B030D-6E8A-4147-A177-3AD203B41FA5}">
                      <a16:colId xmlns:a16="http://schemas.microsoft.com/office/drawing/2014/main" val="2494263205"/>
                    </a:ext>
                  </a:extLst>
                </a:gridCol>
                <a:gridCol w="1135586">
                  <a:extLst>
                    <a:ext uri="{9D8B030D-6E8A-4147-A177-3AD203B41FA5}">
                      <a16:colId xmlns:a16="http://schemas.microsoft.com/office/drawing/2014/main" val="78493878"/>
                    </a:ext>
                  </a:extLst>
                </a:gridCol>
                <a:gridCol w="1135586">
                  <a:extLst>
                    <a:ext uri="{9D8B030D-6E8A-4147-A177-3AD203B41FA5}">
                      <a16:colId xmlns:a16="http://schemas.microsoft.com/office/drawing/2014/main" val="799012419"/>
                    </a:ext>
                  </a:extLst>
                </a:gridCol>
              </a:tblGrid>
              <a:tr h="523435">
                <a:tc rowSpan="6"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Public Health and Clinical Data Exchange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25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Required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550427"/>
                  </a:ext>
                </a:extLst>
              </a:tr>
              <a:tr h="523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Immunization Registry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341486"/>
                  </a:ext>
                </a:extLst>
              </a:tr>
              <a:tr h="523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Electronic Case Reporting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776952"/>
                  </a:ext>
                </a:extLst>
              </a:tr>
              <a:tr h="523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Electronic Reportable Labs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649887"/>
                  </a:ext>
                </a:extLst>
              </a:tr>
              <a:tr h="749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Antimicrobial Use &amp;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Resistance Surveillance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437698"/>
                  </a:ext>
                </a:extLst>
              </a:tr>
              <a:tr h="16527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</a:rPr>
                        <a:t>Public Health Registry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5 Bonus points for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1 or both measures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5F8"/>
                          </a:highlight>
                          <a:latin typeface="Roboto" panose="02000000000000000000" pitchFamily="2" charset="0"/>
                        </a:rPr>
                        <a:t>Optional</a:t>
                      </a:r>
                    </a:p>
                  </a:txBody>
                  <a:tcPr marL="29030" marR="29030" marT="14515" marB="14515" anchor="ctr">
                    <a:lnL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0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9436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9144000" cy="5486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63690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2673</TotalTime>
  <Words>2931</Words>
  <Application>Microsoft Office PowerPoint</Application>
  <PresentationFormat>On-screen Show (4:3)</PresentationFormat>
  <Paragraphs>424</Paragraphs>
  <Slides>49</Slides>
  <Notes>7</Notes>
  <HiddenSlides>10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Circuit</vt:lpstr>
      <vt:lpstr>HITECH overview</vt:lpstr>
      <vt:lpstr>Concept of Meaningful Use Rested on the “5 Pillars” of Health Outcomes policy priorities:</vt:lpstr>
      <vt:lpstr>Meaningful use and Stimulus $</vt:lpstr>
      <vt:lpstr>Overview of Meaningful Use</vt:lpstr>
      <vt:lpstr>Grant and Loan Funding for HIT</vt:lpstr>
      <vt:lpstr>Grants and Loan Funding for HIT</vt:lpstr>
      <vt:lpstr>Who Qualifies?</vt:lpstr>
      <vt:lpstr>Medicare Incentive payments - hospitals</vt:lpstr>
      <vt:lpstr>Example hospital (Benz hospital)</vt:lpstr>
      <vt:lpstr>Initial amount calculation - Hospitals</vt:lpstr>
      <vt:lpstr>Benz hospital initial amount</vt:lpstr>
      <vt:lpstr>The Medicare share - hospitals</vt:lpstr>
      <vt:lpstr>Benz Hospital Medicare Share</vt:lpstr>
      <vt:lpstr>Transition factor - hospitals</vt:lpstr>
      <vt:lpstr>Benz Hospital transition factor</vt:lpstr>
      <vt:lpstr>Benz hospital total incentive payments</vt:lpstr>
      <vt:lpstr>Medicare Incentive payments and penalties - Hospitals</vt:lpstr>
      <vt:lpstr>Hospitals can apply for hardship exceptions to avoid penalties</vt:lpstr>
      <vt:lpstr>Medicaid Incentive Payments – Hospital </vt:lpstr>
      <vt:lpstr>HIT Incentive payment - physicians</vt:lpstr>
      <vt:lpstr>Medicare Payment – eligible professionals (Eps)</vt:lpstr>
      <vt:lpstr>Medicare Payment - physicians</vt:lpstr>
      <vt:lpstr>Medicare penalties – physicians </vt:lpstr>
      <vt:lpstr>Avoiding penalties through hardship exceptions - physicians</vt:lpstr>
      <vt:lpstr>Medicaid Payments - physicians</vt:lpstr>
      <vt:lpstr>Student presentations</vt:lpstr>
      <vt:lpstr>Meaningful use Timeline</vt:lpstr>
      <vt:lpstr>Three stages in meaningful use – original regulations</vt:lpstr>
      <vt:lpstr>Hospital stage 1 core objectives </vt:lpstr>
      <vt:lpstr>Hospital stage 1 core objectives </vt:lpstr>
      <vt:lpstr>Hospital stage 1 Menu Set objectives </vt:lpstr>
      <vt:lpstr>Hospital stage 1 Menu Set objectives </vt:lpstr>
      <vt:lpstr>Hospital stage 1 Clinical quality measure – Must complete all</vt:lpstr>
      <vt:lpstr>Hospital stage 1 Clinical quality measure – Must complete all</vt:lpstr>
      <vt:lpstr>Meaningful use Stage 1 </vt:lpstr>
      <vt:lpstr>Assign Student Presentations</vt:lpstr>
      <vt:lpstr>Meaningful use stage 2</vt:lpstr>
      <vt:lpstr>Modified stage 2</vt:lpstr>
      <vt:lpstr>Modified stage 2</vt:lpstr>
      <vt:lpstr>Meaningful use stage 3</vt:lpstr>
      <vt:lpstr>Meaningful use stage 3 – 6 Objectives</vt:lpstr>
      <vt:lpstr>Comparison tool for modified stage 2 and stage 3</vt:lpstr>
      <vt:lpstr>2019 Changes</vt:lpstr>
      <vt:lpstr>2019 Changes</vt:lpstr>
      <vt:lpstr>2019 Changes</vt:lpstr>
      <vt:lpstr>2024 changes</vt:lpstr>
      <vt:lpstr>2024 changes</vt:lpstr>
      <vt:lpstr>2024 changes</vt:lpstr>
      <vt:lpstr>PowerPoint Presentation</vt:lpstr>
    </vt:vector>
  </TitlesOfParts>
  <Company>Stony Brook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Provisions of the American Recovery and Reinvestment Act</dc:title>
  <dc:creator>SMUSSO</dc:creator>
  <cp:lastModifiedBy>Blake Benz</cp:lastModifiedBy>
  <cp:revision>445</cp:revision>
  <dcterms:created xsi:type="dcterms:W3CDTF">2014-10-19T14:08:41Z</dcterms:created>
  <dcterms:modified xsi:type="dcterms:W3CDTF">2025-07-22T17:45:24Z</dcterms:modified>
</cp:coreProperties>
</file>