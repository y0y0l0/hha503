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8"/>
  </p:notesMasterIdLst>
  <p:sldIdLst>
    <p:sldId id="378" r:id="rId2"/>
    <p:sldId id="371" r:id="rId3"/>
    <p:sldId id="301" r:id="rId4"/>
    <p:sldId id="303" r:id="rId5"/>
    <p:sldId id="304" r:id="rId6"/>
    <p:sldId id="306" r:id="rId7"/>
    <p:sldId id="307" r:id="rId8"/>
    <p:sldId id="362" r:id="rId9"/>
    <p:sldId id="308" r:id="rId10"/>
    <p:sldId id="309" r:id="rId11"/>
    <p:sldId id="310" r:id="rId12"/>
    <p:sldId id="374" r:id="rId13"/>
    <p:sldId id="311" r:id="rId14"/>
    <p:sldId id="313" r:id="rId15"/>
    <p:sldId id="314" r:id="rId16"/>
    <p:sldId id="315" r:id="rId17"/>
    <p:sldId id="317" r:id="rId18"/>
    <p:sldId id="361" r:id="rId19"/>
    <p:sldId id="380" r:id="rId20"/>
    <p:sldId id="299" r:id="rId21"/>
    <p:sldId id="363" r:id="rId22"/>
    <p:sldId id="364" r:id="rId23"/>
    <p:sldId id="365" r:id="rId24"/>
    <p:sldId id="318" r:id="rId25"/>
    <p:sldId id="319" r:id="rId26"/>
    <p:sldId id="320" r:id="rId27"/>
    <p:sldId id="321" r:id="rId28"/>
    <p:sldId id="379" r:id="rId29"/>
    <p:sldId id="326" r:id="rId30"/>
    <p:sldId id="377" r:id="rId31"/>
    <p:sldId id="300" r:id="rId32"/>
    <p:sldId id="366" r:id="rId33"/>
    <p:sldId id="367" r:id="rId34"/>
    <p:sldId id="369" r:id="rId35"/>
    <p:sldId id="368" r:id="rId36"/>
    <p:sldId id="302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BAEBEE-2799-2F79-1FA6-AE14921C847B}" v="84" dt="2025-07-09T15:53:25.576"/>
    <p1510:client id="{B9882820-4D85-88FB-45B4-0C9CF370A891}" v="2" dt="2025-07-07T21:40:36.557"/>
    <p1510:client id="{CA8A7811-D032-40D8-52A8-34374B5C6983}" v="2" dt="2025-07-07T21:43:54.1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lake Benz" userId="8a97c15f36056bdc" providerId="Windows Live" clId="Web-{CB9882A1-F699-43FA-8CCC-129FF48BD10D}"/>
    <pc:docChg chg="addSld delSld modSld">
      <pc:chgData name="Blake Benz" userId="8a97c15f36056bdc" providerId="Windows Live" clId="Web-{CB9882A1-F699-43FA-8CCC-129FF48BD10D}" dt="2024-06-18T21:05:41.906" v="246" actId="1076"/>
      <pc:docMkLst>
        <pc:docMk/>
      </pc:docMkLst>
      <pc:sldChg chg="modSp">
        <pc:chgData name="Blake Benz" userId="8a97c15f36056bdc" providerId="Windows Live" clId="Web-{CB9882A1-F699-43FA-8CCC-129FF48BD10D}" dt="2024-06-18T20:50:00.341" v="29" actId="1076"/>
        <pc:sldMkLst>
          <pc:docMk/>
          <pc:sldMk cId="2025149763" sldId="303"/>
        </pc:sldMkLst>
      </pc:sldChg>
      <pc:sldChg chg="modSp">
        <pc:chgData name="Blake Benz" userId="8a97c15f36056bdc" providerId="Windows Live" clId="Web-{CB9882A1-F699-43FA-8CCC-129FF48BD10D}" dt="2024-06-18T20:50:25.419" v="31" actId="20577"/>
        <pc:sldMkLst>
          <pc:docMk/>
          <pc:sldMk cId="49094439" sldId="306"/>
        </pc:sldMkLst>
      </pc:sldChg>
      <pc:sldChg chg="modSp">
        <pc:chgData name="Blake Benz" userId="8a97c15f36056bdc" providerId="Windows Live" clId="Web-{CB9882A1-F699-43FA-8CCC-129FF48BD10D}" dt="2024-06-18T20:51:13.232" v="36" actId="1076"/>
        <pc:sldMkLst>
          <pc:docMk/>
          <pc:sldMk cId="3450649007" sldId="308"/>
        </pc:sldMkLst>
      </pc:sldChg>
      <pc:sldChg chg="modSp">
        <pc:chgData name="Blake Benz" userId="8a97c15f36056bdc" providerId="Windows Live" clId="Web-{CB9882A1-F699-43FA-8CCC-129FF48BD10D}" dt="2024-06-18T20:52:02.841" v="42" actId="14100"/>
        <pc:sldMkLst>
          <pc:docMk/>
          <pc:sldMk cId="1449003585" sldId="310"/>
        </pc:sldMkLst>
      </pc:sldChg>
      <pc:sldChg chg="modSp">
        <pc:chgData name="Blake Benz" userId="8a97c15f36056bdc" providerId="Windows Live" clId="Web-{CB9882A1-F699-43FA-8CCC-129FF48BD10D}" dt="2024-06-18T20:53:46.138" v="54" actId="20577"/>
        <pc:sldMkLst>
          <pc:docMk/>
          <pc:sldMk cId="899084267" sldId="313"/>
        </pc:sldMkLst>
      </pc:sldChg>
      <pc:sldChg chg="modSp">
        <pc:chgData name="Blake Benz" userId="8a97c15f36056bdc" providerId="Windows Live" clId="Web-{CB9882A1-F699-43FA-8CCC-129FF48BD10D}" dt="2024-06-18T20:55:10.122" v="70" actId="20577"/>
        <pc:sldMkLst>
          <pc:docMk/>
          <pc:sldMk cId="1130710174" sldId="314"/>
        </pc:sldMkLst>
      </pc:sldChg>
      <pc:sldChg chg="modSp">
        <pc:chgData name="Blake Benz" userId="8a97c15f36056bdc" providerId="Windows Live" clId="Web-{CB9882A1-F699-43FA-8CCC-129FF48BD10D}" dt="2024-06-18T20:59:36.312" v="168" actId="20577"/>
        <pc:sldMkLst>
          <pc:docMk/>
          <pc:sldMk cId="105264920" sldId="315"/>
        </pc:sldMkLst>
      </pc:sldChg>
      <pc:sldChg chg="modSp del">
        <pc:chgData name="Blake Benz" userId="8a97c15f36056bdc" providerId="Windows Live" clId="Web-{CB9882A1-F699-43FA-8CCC-129FF48BD10D}" dt="2024-06-18T21:00:54.687" v="176"/>
        <pc:sldMkLst>
          <pc:docMk/>
          <pc:sldMk cId="4078875236" sldId="316"/>
        </pc:sldMkLst>
      </pc:sldChg>
      <pc:sldChg chg="modSp">
        <pc:chgData name="Blake Benz" userId="8a97c15f36056bdc" providerId="Windows Live" clId="Web-{CB9882A1-F699-43FA-8CCC-129FF48BD10D}" dt="2024-06-18T21:02:13.812" v="181" actId="14100"/>
        <pc:sldMkLst>
          <pc:docMk/>
          <pc:sldMk cId="2982166553" sldId="319"/>
        </pc:sldMkLst>
      </pc:sldChg>
      <pc:sldChg chg="modSp">
        <pc:chgData name="Blake Benz" userId="8a97c15f36056bdc" providerId="Windows Live" clId="Web-{CB9882A1-F699-43FA-8CCC-129FF48BD10D}" dt="2024-06-18T21:02:56.609" v="187" actId="1076"/>
        <pc:sldMkLst>
          <pc:docMk/>
          <pc:sldMk cId="703797850" sldId="320"/>
        </pc:sldMkLst>
      </pc:sldChg>
      <pc:sldChg chg="modSp">
        <pc:chgData name="Blake Benz" userId="8a97c15f36056bdc" providerId="Windows Live" clId="Web-{CB9882A1-F699-43FA-8CCC-129FF48BD10D}" dt="2024-06-18T21:03:25.890" v="193" actId="1076"/>
        <pc:sldMkLst>
          <pc:docMk/>
          <pc:sldMk cId="3809868996" sldId="321"/>
        </pc:sldMkLst>
      </pc:sldChg>
      <pc:sldChg chg="modSp">
        <pc:chgData name="Blake Benz" userId="8a97c15f36056bdc" providerId="Windows Live" clId="Web-{CB9882A1-F699-43FA-8CCC-129FF48BD10D}" dt="2024-06-18T21:01:32.046" v="177" actId="1076"/>
        <pc:sldMkLst>
          <pc:docMk/>
          <pc:sldMk cId="3004032569" sldId="364"/>
        </pc:sldMkLst>
      </pc:sldChg>
      <pc:sldChg chg="modSp">
        <pc:chgData name="Blake Benz" userId="8a97c15f36056bdc" providerId="Windows Live" clId="Web-{CB9882A1-F699-43FA-8CCC-129FF48BD10D}" dt="2024-06-18T21:01:47.265" v="178" actId="1076"/>
        <pc:sldMkLst>
          <pc:docMk/>
          <pc:sldMk cId="14242909" sldId="365"/>
        </pc:sldMkLst>
      </pc:sldChg>
      <pc:sldChg chg="addSp modSp">
        <pc:chgData name="Blake Benz" userId="8a97c15f36056bdc" providerId="Windows Live" clId="Web-{CB9882A1-F699-43FA-8CCC-129FF48BD10D}" dt="2024-06-18T20:48:32.685" v="14" actId="1076"/>
        <pc:sldMkLst>
          <pc:docMk/>
          <pc:sldMk cId="1204426462" sldId="374"/>
        </pc:sldMkLst>
      </pc:sldChg>
      <pc:sldChg chg="addSp modSp">
        <pc:chgData name="Blake Benz" userId="8a97c15f36056bdc" providerId="Windows Live" clId="Web-{CB9882A1-F699-43FA-8CCC-129FF48BD10D}" dt="2024-06-18T20:48:25.779" v="13" actId="1076"/>
        <pc:sldMkLst>
          <pc:docMk/>
          <pc:sldMk cId="1494171315" sldId="375"/>
        </pc:sldMkLst>
      </pc:sldChg>
      <pc:sldChg chg="modSp new">
        <pc:chgData name="Blake Benz" userId="8a97c15f36056bdc" providerId="Windows Live" clId="Web-{CB9882A1-F699-43FA-8CCC-129FF48BD10D}" dt="2024-06-18T21:05:41.906" v="246" actId="1076"/>
        <pc:sldMkLst>
          <pc:docMk/>
          <pc:sldMk cId="3984722819" sldId="379"/>
        </pc:sldMkLst>
      </pc:sldChg>
    </pc:docChg>
  </pc:docChgLst>
  <pc:docChgLst>
    <pc:chgData name="Blake Benz" userId="8a97c15f36056bdc" providerId="Windows Live" clId="Web-{6648735D-1C22-4A62-9CF3-461255A240F5}"/>
    <pc:docChg chg="addSld delSld modSld sldOrd">
      <pc:chgData name="Blake Benz" userId="8a97c15f36056bdc" providerId="Windows Live" clId="Web-{6648735D-1C22-4A62-9CF3-461255A240F5}" dt="2024-06-17T21:29:42.344" v="105"/>
      <pc:docMkLst>
        <pc:docMk/>
      </pc:docMkLst>
      <pc:sldChg chg="del">
        <pc:chgData name="Blake Benz" userId="8a97c15f36056bdc" providerId="Windows Live" clId="Web-{6648735D-1C22-4A62-9CF3-461255A240F5}" dt="2024-06-17T21:29:07.859" v="104"/>
        <pc:sldMkLst>
          <pc:docMk/>
          <pc:sldMk cId="3116340259" sldId="274"/>
        </pc:sldMkLst>
      </pc:sldChg>
      <pc:sldChg chg="del">
        <pc:chgData name="Blake Benz" userId="8a97c15f36056bdc" providerId="Windows Live" clId="Web-{6648735D-1C22-4A62-9CF3-461255A240F5}" dt="2024-06-17T21:29:00.578" v="103"/>
        <pc:sldMkLst>
          <pc:docMk/>
          <pc:sldMk cId="2193158486" sldId="312"/>
        </pc:sldMkLst>
      </pc:sldChg>
      <pc:sldChg chg="addSp delSp modSp">
        <pc:chgData name="Blake Benz" userId="8a97c15f36056bdc" providerId="Windows Live" clId="Web-{6648735D-1C22-4A62-9CF3-461255A240F5}" dt="2024-06-17T21:29:42.344" v="105"/>
        <pc:sldMkLst>
          <pc:docMk/>
          <pc:sldMk cId="4019191532" sldId="360"/>
        </pc:sldMkLst>
      </pc:sldChg>
      <pc:sldChg chg="modSp new ord">
        <pc:chgData name="Blake Benz" userId="8a97c15f36056bdc" providerId="Windows Live" clId="Web-{6648735D-1C22-4A62-9CF3-461255A240F5}" dt="2024-06-17T21:19:44.919" v="102" actId="20577"/>
        <pc:sldMkLst>
          <pc:docMk/>
          <pc:sldMk cId="1204426462" sldId="374"/>
        </pc:sldMkLst>
      </pc:sldChg>
    </pc:docChg>
  </pc:docChgLst>
  <pc:docChgLst>
    <pc:chgData name="Blake Benz" userId="8a97c15f36056bdc" providerId="Windows Live" clId="Web-{CA8A7811-D032-40D8-52A8-34374B5C6983}"/>
    <pc:docChg chg="sldOrd">
      <pc:chgData name="Blake Benz" userId="8a97c15f36056bdc" providerId="Windows Live" clId="Web-{CA8A7811-D032-40D8-52A8-34374B5C6983}" dt="2025-07-07T21:43:54.178" v="1"/>
      <pc:docMkLst>
        <pc:docMk/>
      </pc:docMkLst>
      <pc:sldChg chg="ord">
        <pc:chgData name="Blake Benz" userId="8a97c15f36056bdc" providerId="Windows Live" clId="Web-{CA8A7811-D032-40D8-52A8-34374B5C6983}" dt="2025-07-07T21:43:54.178" v="1"/>
        <pc:sldMkLst>
          <pc:docMk/>
          <pc:sldMk cId="1204426462" sldId="374"/>
        </pc:sldMkLst>
      </pc:sldChg>
    </pc:docChg>
  </pc:docChgLst>
  <pc:docChgLst>
    <pc:chgData name="Blake Benz" userId="8a97c15f36056bdc" providerId="Windows Live" clId="Web-{B9882820-4D85-88FB-45B4-0C9CF370A891}"/>
    <pc:docChg chg="modSld">
      <pc:chgData name="Blake Benz" userId="8a97c15f36056bdc" providerId="Windows Live" clId="Web-{B9882820-4D85-88FB-45B4-0C9CF370A891}" dt="2025-07-07T21:40:36.557" v="1" actId="1076"/>
      <pc:docMkLst>
        <pc:docMk/>
      </pc:docMkLst>
      <pc:sldChg chg="delSp modSp">
        <pc:chgData name="Blake Benz" userId="8a97c15f36056bdc" providerId="Windows Live" clId="Web-{B9882820-4D85-88FB-45B4-0C9CF370A891}" dt="2025-07-07T21:40:36.557" v="1" actId="1076"/>
        <pc:sldMkLst>
          <pc:docMk/>
          <pc:sldMk cId="1494171315" sldId="375"/>
        </pc:sldMkLst>
        <pc:spChg chg="mod">
          <ac:chgData name="Blake Benz" userId="8a97c15f36056bdc" providerId="Windows Live" clId="Web-{B9882820-4D85-88FB-45B4-0C9CF370A891}" dt="2025-07-07T21:40:36.557" v="1" actId="1076"/>
          <ac:spMkLst>
            <pc:docMk/>
            <pc:sldMk cId="1494171315" sldId="375"/>
            <ac:spMk id="2" creationId="{6115587E-1481-EE1C-31D1-8D16B141F966}"/>
          </ac:spMkLst>
        </pc:spChg>
      </pc:sldChg>
    </pc:docChg>
  </pc:docChgLst>
  <pc:docChgLst>
    <pc:chgData name="Blake Benz" userId="8a97c15f36056bdc" providerId="Windows Live" clId="Web-{8D32D5EA-5B29-478E-8E45-A1543BB98179}"/>
    <pc:docChg chg="modSld">
      <pc:chgData name="Blake Benz" userId="8a97c15f36056bdc" providerId="Windows Live" clId="Web-{8D32D5EA-5B29-478E-8E45-A1543BB98179}" dt="2024-07-15T21:49:49.759" v="27" actId="20577"/>
      <pc:docMkLst>
        <pc:docMk/>
      </pc:docMkLst>
      <pc:sldChg chg="modSp">
        <pc:chgData name="Blake Benz" userId="8a97c15f36056bdc" providerId="Windows Live" clId="Web-{8D32D5EA-5B29-478E-8E45-A1543BB98179}" dt="2024-07-15T21:49:49.759" v="27" actId="20577"/>
        <pc:sldMkLst>
          <pc:docMk/>
          <pc:sldMk cId="1056367971" sldId="380"/>
        </pc:sldMkLst>
      </pc:sldChg>
    </pc:docChg>
  </pc:docChgLst>
  <pc:docChgLst>
    <pc:chgData name="Blake Benz" userId="8a97c15f36056bdc" providerId="LiveId" clId="{3DFA7AA1-D019-4041-8416-F52ED3F591CA}"/>
    <pc:docChg chg="delSld">
      <pc:chgData name="Blake Benz" userId="8a97c15f36056bdc" providerId="LiveId" clId="{3DFA7AA1-D019-4041-8416-F52ED3F591CA}" dt="2025-03-26T16:50:15.424" v="1" actId="47"/>
      <pc:docMkLst>
        <pc:docMk/>
      </pc:docMkLst>
      <pc:sldChg chg="del">
        <pc:chgData name="Blake Benz" userId="8a97c15f36056bdc" providerId="LiveId" clId="{3DFA7AA1-D019-4041-8416-F52ED3F591CA}" dt="2025-03-26T16:50:15.424" v="1" actId="47"/>
        <pc:sldMkLst>
          <pc:docMk/>
          <pc:sldMk cId="3100600685" sldId="322"/>
        </pc:sldMkLst>
      </pc:sldChg>
      <pc:sldChg chg="del">
        <pc:chgData name="Blake Benz" userId="8a97c15f36056bdc" providerId="LiveId" clId="{3DFA7AA1-D019-4041-8416-F52ED3F591CA}" dt="2025-03-26T16:50:13.995" v="0" actId="47"/>
        <pc:sldMkLst>
          <pc:docMk/>
          <pc:sldMk cId="1859820904" sldId="323"/>
        </pc:sldMkLst>
      </pc:sldChg>
      <pc:sldMasterChg chg="delSldLayout">
        <pc:chgData name="Blake Benz" userId="8a97c15f36056bdc" providerId="LiveId" clId="{3DFA7AA1-D019-4041-8416-F52ED3F591CA}" dt="2025-03-26T16:50:15.424" v="1" actId="47"/>
        <pc:sldMasterMkLst>
          <pc:docMk/>
          <pc:sldMasterMk cId="55482062" sldId="2147483672"/>
        </pc:sldMasterMkLst>
        <pc:sldLayoutChg chg="del">
          <pc:chgData name="Blake Benz" userId="8a97c15f36056bdc" providerId="LiveId" clId="{3DFA7AA1-D019-4041-8416-F52ED3F591CA}" dt="2025-03-26T16:50:15.424" v="1" actId="47"/>
          <pc:sldLayoutMkLst>
            <pc:docMk/>
            <pc:sldMasterMk cId="55482062" sldId="2147483672"/>
            <pc:sldLayoutMk cId="246156802" sldId="2147483690"/>
          </pc:sldLayoutMkLst>
        </pc:sldLayoutChg>
      </pc:sldMasterChg>
    </pc:docChg>
  </pc:docChgLst>
  <pc:docChgLst>
    <pc:chgData name="Blake Benz" userId="8a97c15f36056bdc" providerId="Windows Live" clId="Web-{25474BAC-B8EF-4A43-FE5C-F94557159BFA}"/>
    <pc:docChg chg="addSld delSld">
      <pc:chgData name="Blake Benz" userId="8a97c15f36056bdc" providerId="Windows Live" clId="Web-{25474BAC-B8EF-4A43-FE5C-F94557159BFA}" dt="2025-05-23T19:34:40.296" v="1"/>
      <pc:docMkLst>
        <pc:docMk/>
      </pc:docMkLst>
      <pc:sldChg chg="add del">
        <pc:chgData name="Blake Benz" userId="8a97c15f36056bdc" providerId="Windows Live" clId="Web-{25474BAC-B8EF-4A43-FE5C-F94557159BFA}" dt="2025-05-23T19:34:40.296" v="1"/>
        <pc:sldMkLst>
          <pc:docMk/>
          <pc:sldMk cId="1494171315" sldId="375"/>
        </pc:sldMkLst>
      </pc:sldChg>
    </pc:docChg>
  </pc:docChgLst>
  <pc:docChgLst>
    <pc:chgData name="Blake Benz" userId="8a97c15f36056bdc" providerId="Windows Live" clId="Web-{31E801F2-2AB4-4E5A-B594-331296D00EB4}"/>
    <pc:docChg chg="modSld">
      <pc:chgData name="Blake Benz" userId="8a97c15f36056bdc" providerId="Windows Live" clId="Web-{31E801F2-2AB4-4E5A-B594-331296D00EB4}" dt="2024-07-10T21:01:52.459" v="46" actId="20577"/>
      <pc:docMkLst>
        <pc:docMk/>
      </pc:docMkLst>
      <pc:sldChg chg="modSp">
        <pc:chgData name="Blake Benz" userId="8a97c15f36056bdc" providerId="Windows Live" clId="Web-{31E801F2-2AB4-4E5A-B594-331296D00EB4}" dt="2024-07-10T21:00:40.484" v="43" actId="20577"/>
        <pc:sldMkLst>
          <pc:docMk/>
          <pc:sldMk cId="2631113902" sldId="326"/>
        </pc:sldMkLst>
      </pc:sldChg>
      <pc:sldChg chg="modSp">
        <pc:chgData name="Blake Benz" userId="8a97c15f36056bdc" providerId="Windows Live" clId="Web-{31E801F2-2AB4-4E5A-B594-331296D00EB4}" dt="2024-07-10T20:18:24.990" v="38" actId="20577"/>
        <pc:sldMkLst>
          <pc:docMk/>
          <pc:sldMk cId="3004032569" sldId="364"/>
        </pc:sldMkLst>
      </pc:sldChg>
      <pc:sldChg chg="modSp">
        <pc:chgData name="Blake Benz" userId="8a97c15f36056bdc" providerId="Windows Live" clId="Web-{31E801F2-2AB4-4E5A-B594-331296D00EB4}" dt="2024-07-10T20:16:44.440" v="4" actId="20577"/>
        <pc:sldMkLst>
          <pc:docMk/>
          <pc:sldMk cId="14242909" sldId="365"/>
        </pc:sldMkLst>
      </pc:sldChg>
      <pc:sldChg chg="modSp">
        <pc:chgData name="Blake Benz" userId="8a97c15f36056bdc" providerId="Windows Live" clId="Web-{31E801F2-2AB4-4E5A-B594-331296D00EB4}" dt="2024-07-10T21:01:52.459" v="46" actId="20577"/>
        <pc:sldMkLst>
          <pc:docMk/>
          <pc:sldMk cId="135842796" sldId="367"/>
        </pc:sldMkLst>
      </pc:sldChg>
    </pc:docChg>
  </pc:docChgLst>
  <pc:docChgLst>
    <pc:chgData name="Blake Benz" userId="8a97c15f36056bdc" providerId="Windows Live" clId="Web-{7A94C482-EB4C-4748-B539-6E254C37EFCC}"/>
    <pc:docChg chg="addSld delSld modSld sldOrd">
      <pc:chgData name="Blake Benz" userId="8a97c15f36056bdc" providerId="Windows Live" clId="Web-{7A94C482-EB4C-4748-B539-6E254C37EFCC}" dt="2024-06-18T19:16:35.941" v="54"/>
      <pc:docMkLst>
        <pc:docMk/>
      </pc:docMkLst>
      <pc:sldChg chg="modSp">
        <pc:chgData name="Blake Benz" userId="8a97c15f36056bdc" providerId="Windows Live" clId="Web-{7A94C482-EB4C-4748-B539-6E254C37EFCC}" dt="2024-06-18T19:10:12.257" v="39" actId="20577"/>
        <pc:sldMkLst>
          <pc:docMk/>
          <pc:sldMk cId="2565858192" sldId="299"/>
        </pc:sldMkLst>
      </pc:sldChg>
      <pc:sldChg chg="del">
        <pc:chgData name="Blake Benz" userId="8a97c15f36056bdc" providerId="Windows Live" clId="Web-{7A94C482-EB4C-4748-B539-6E254C37EFCC}" dt="2024-06-18T19:01:50.741" v="21"/>
        <pc:sldMkLst>
          <pc:docMk/>
          <pc:sldMk cId="2681275048" sldId="305"/>
        </pc:sldMkLst>
      </pc:sldChg>
      <pc:sldChg chg="del">
        <pc:chgData name="Blake Benz" userId="8a97c15f36056bdc" providerId="Windows Live" clId="Web-{7A94C482-EB4C-4748-B539-6E254C37EFCC}" dt="2024-06-18T19:00:25.926" v="20"/>
        <pc:sldMkLst>
          <pc:docMk/>
          <pc:sldMk cId="4029029102" sldId="348"/>
        </pc:sldMkLst>
      </pc:sldChg>
      <pc:sldChg chg="addSp modSp del ord">
        <pc:chgData name="Blake Benz" userId="8a97c15f36056bdc" providerId="Windows Live" clId="Web-{7A94C482-EB4C-4748-B539-6E254C37EFCC}" dt="2024-06-18T19:16:35.941" v="54"/>
        <pc:sldMkLst>
          <pc:docMk/>
          <pc:sldMk cId="4019191532" sldId="360"/>
        </pc:sldMkLst>
      </pc:sldChg>
      <pc:sldChg chg="ord">
        <pc:chgData name="Blake Benz" userId="8a97c15f36056bdc" providerId="Windows Live" clId="Web-{7A94C482-EB4C-4748-B539-6E254C37EFCC}" dt="2024-06-18T19:09:19.755" v="38"/>
        <pc:sldMkLst>
          <pc:docMk/>
          <pc:sldMk cId="435317592" sldId="369"/>
        </pc:sldMkLst>
      </pc:sldChg>
      <pc:sldChg chg="del">
        <pc:chgData name="Blake Benz" userId="8a97c15f36056bdc" providerId="Windows Live" clId="Web-{7A94C482-EB4C-4748-B539-6E254C37EFCC}" dt="2024-06-18T19:14:21.999" v="52"/>
        <pc:sldMkLst>
          <pc:docMk/>
          <pc:sldMk cId="3224442573" sldId="370"/>
        </pc:sldMkLst>
      </pc:sldChg>
      <pc:sldChg chg="del">
        <pc:chgData name="Blake Benz" userId="8a97c15f36056bdc" providerId="Windows Live" clId="Web-{7A94C482-EB4C-4748-B539-6E254C37EFCC}" dt="2024-06-18T19:00:16.254" v="19"/>
        <pc:sldMkLst>
          <pc:docMk/>
          <pc:sldMk cId="881737310" sldId="372"/>
        </pc:sldMkLst>
      </pc:sldChg>
      <pc:sldChg chg="del">
        <pc:chgData name="Blake Benz" userId="8a97c15f36056bdc" providerId="Windows Live" clId="Web-{7A94C482-EB4C-4748-B539-6E254C37EFCC}" dt="2024-06-18T19:14:25.296" v="53"/>
        <pc:sldMkLst>
          <pc:docMk/>
          <pc:sldMk cId="3048600890" sldId="373"/>
        </pc:sldMkLst>
      </pc:sldChg>
      <pc:sldChg chg="addSp delSp modSp">
        <pc:chgData name="Blake Benz" userId="8a97c15f36056bdc" providerId="Windows Live" clId="Web-{7A94C482-EB4C-4748-B539-6E254C37EFCC}" dt="2024-06-18T18:59:31.721" v="3" actId="1076"/>
        <pc:sldMkLst>
          <pc:docMk/>
          <pc:sldMk cId="1204426462" sldId="374"/>
        </pc:sldMkLst>
      </pc:sldChg>
      <pc:sldChg chg="addSp delSp modSp add replId">
        <pc:chgData name="Blake Benz" userId="8a97c15f36056bdc" providerId="Windows Live" clId="Web-{7A94C482-EB4C-4748-B539-6E254C37EFCC}" dt="2024-06-18T19:00:01.191" v="18" actId="14100"/>
        <pc:sldMkLst>
          <pc:docMk/>
          <pc:sldMk cId="1494171315" sldId="375"/>
        </pc:sldMkLst>
      </pc:sldChg>
      <pc:sldChg chg="add del ord replId">
        <pc:chgData name="Blake Benz" userId="8a97c15f36056bdc" providerId="Windows Live" clId="Web-{7A94C482-EB4C-4748-B539-6E254C37EFCC}" dt="2024-06-18T19:14:20.515" v="51"/>
        <pc:sldMkLst>
          <pc:docMk/>
          <pc:sldMk cId="3420336470" sldId="376"/>
        </pc:sldMkLst>
      </pc:sldChg>
      <pc:sldChg chg="modSp add ord replId">
        <pc:chgData name="Blake Benz" userId="8a97c15f36056bdc" providerId="Windows Live" clId="Web-{7A94C482-EB4C-4748-B539-6E254C37EFCC}" dt="2024-06-18T19:10:51.617" v="45" actId="20577"/>
        <pc:sldMkLst>
          <pc:docMk/>
          <pc:sldMk cId="2462023354" sldId="377"/>
        </pc:sldMkLst>
      </pc:sldChg>
      <pc:sldChg chg="modSp add ord replId">
        <pc:chgData name="Blake Benz" userId="8a97c15f36056bdc" providerId="Windows Live" clId="Web-{7A94C482-EB4C-4748-B539-6E254C37EFCC}" dt="2024-06-18T19:11:43.853" v="50" actId="20577"/>
        <pc:sldMkLst>
          <pc:docMk/>
          <pc:sldMk cId="862765355" sldId="378"/>
        </pc:sldMkLst>
      </pc:sldChg>
    </pc:docChg>
  </pc:docChgLst>
  <pc:docChgLst>
    <pc:chgData name="Blake Benz" userId="8a97c15f36056bdc" providerId="Windows Live" clId="Web-{7C2A1736-C2A3-4DA6-ABC0-74CB75768959}"/>
    <pc:docChg chg="addSld modSld sldOrd">
      <pc:chgData name="Blake Benz" userId="8a97c15f36056bdc" providerId="Windows Live" clId="Web-{7C2A1736-C2A3-4DA6-ABC0-74CB75768959}" dt="2024-07-10T20:16:05.366" v="112" actId="20577"/>
      <pc:docMkLst>
        <pc:docMk/>
      </pc:docMkLst>
      <pc:sldChg chg="modSp">
        <pc:chgData name="Blake Benz" userId="8a97c15f36056bdc" providerId="Windows Live" clId="Web-{7C2A1736-C2A3-4DA6-ABC0-74CB75768959}" dt="2024-07-10T20:16:05.366" v="112" actId="20577"/>
        <pc:sldMkLst>
          <pc:docMk/>
          <pc:sldMk cId="14242909" sldId="365"/>
        </pc:sldMkLst>
      </pc:sldChg>
      <pc:sldChg chg="addSp delSp modSp add ord replId">
        <pc:chgData name="Blake Benz" userId="8a97c15f36056bdc" providerId="Windows Live" clId="Web-{7C2A1736-C2A3-4DA6-ABC0-74CB75768959}" dt="2024-07-10T20:12:48.048" v="100"/>
        <pc:sldMkLst>
          <pc:docMk/>
          <pc:sldMk cId="1056367971" sldId="380"/>
        </pc:sldMkLst>
      </pc:sldChg>
    </pc:docChg>
  </pc:docChgLst>
  <pc:docChgLst>
    <pc:chgData name="Blake Benz" userId="8a97c15f36056bdc" providerId="LiveId" clId="{B40B2964-6F86-4C37-AFB1-EDD21CC32E57}"/>
    <pc:docChg chg="modSld">
      <pc:chgData name="Blake Benz" userId="8a97c15f36056bdc" providerId="LiveId" clId="{B40B2964-6F86-4C37-AFB1-EDD21CC32E57}" dt="2023-10-12T18:12:44.544" v="0" actId="20577"/>
      <pc:docMkLst>
        <pc:docMk/>
      </pc:docMkLst>
      <pc:sldChg chg="modSp mod">
        <pc:chgData name="Blake Benz" userId="8a97c15f36056bdc" providerId="LiveId" clId="{B40B2964-6F86-4C37-AFB1-EDD21CC32E57}" dt="2023-10-12T18:12:44.544" v="0" actId="20577"/>
        <pc:sldMkLst>
          <pc:docMk/>
          <pc:sldMk cId="4141258244" sldId="371"/>
        </pc:sldMkLst>
      </pc:sldChg>
    </pc:docChg>
  </pc:docChgLst>
  <pc:docChgLst>
    <pc:chgData name="Blake Benz" userId="8a97c15f36056bdc" providerId="Windows Live" clId="Web-{6DBAEBEE-2799-2F79-1FA6-AE14921C847B}"/>
    <pc:docChg chg="addSld delSld modSld">
      <pc:chgData name="Blake Benz" userId="8a97c15f36056bdc" providerId="Windows Live" clId="Web-{6DBAEBEE-2799-2F79-1FA6-AE14921C847B}" dt="2025-07-09T15:53:25.576" v="79"/>
      <pc:docMkLst>
        <pc:docMk/>
      </pc:docMkLst>
      <pc:sldChg chg="modSp">
        <pc:chgData name="Blake Benz" userId="8a97c15f36056bdc" providerId="Windows Live" clId="Web-{6DBAEBEE-2799-2F79-1FA6-AE14921C847B}" dt="2025-07-09T15:49:26.208" v="76" actId="14100"/>
        <pc:sldMkLst>
          <pc:docMk/>
          <pc:sldMk cId="471647434" sldId="300"/>
        </pc:sldMkLst>
        <pc:spChg chg="mod">
          <ac:chgData name="Blake Benz" userId="8a97c15f36056bdc" providerId="Windows Live" clId="Web-{6DBAEBEE-2799-2F79-1FA6-AE14921C847B}" dt="2025-07-09T15:49:26.208" v="76" actId="14100"/>
          <ac:spMkLst>
            <pc:docMk/>
            <pc:sldMk cId="471647434" sldId="300"/>
            <ac:spMk id="3" creationId="{A877310D-B47E-4CAA-99EC-5BFEB38FDD21}"/>
          </ac:spMkLst>
        </pc:spChg>
      </pc:sldChg>
      <pc:sldChg chg="addSp modSp">
        <pc:chgData name="Blake Benz" userId="8a97c15f36056bdc" providerId="Windows Live" clId="Web-{6DBAEBEE-2799-2F79-1FA6-AE14921C847B}" dt="2025-07-09T13:32:19.372" v="64" actId="1076"/>
        <pc:sldMkLst>
          <pc:docMk/>
          <pc:sldMk cId="14242909" sldId="365"/>
        </pc:sldMkLst>
        <pc:picChg chg="mod">
          <ac:chgData name="Blake Benz" userId="8a97c15f36056bdc" providerId="Windows Live" clId="Web-{6DBAEBEE-2799-2F79-1FA6-AE14921C847B}" dt="2025-07-09T13:31:29.745" v="60" actId="1076"/>
          <ac:picMkLst>
            <pc:docMk/>
            <pc:sldMk cId="14242909" sldId="365"/>
            <ac:picMk id="4" creationId="{00000000-0000-0000-0000-000000000000}"/>
          </ac:picMkLst>
        </pc:picChg>
        <pc:picChg chg="mod">
          <ac:chgData name="Blake Benz" userId="8a97c15f36056bdc" providerId="Windows Live" clId="Web-{6DBAEBEE-2799-2F79-1FA6-AE14921C847B}" dt="2025-07-09T13:31:31.526" v="61" actId="1076"/>
          <ac:picMkLst>
            <pc:docMk/>
            <pc:sldMk cId="14242909" sldId="365"/>
            <ac:picMk id="5" creationId="{00000000-0000-0000-0000-000000000000}"/>
          </ac:picMkLst>
        </pc:picChg>
        <pc:picChg chg="add mod">
          <ac:chgData name="Blake Benz" userId="8a97c15f36056bdc" providerId="Windows Live" clId="Web-{6DBAEBEE-2799-2F79-1FA6-AE14921C847B}" dt="2025-07-09T13:32:19.372" v="64" actId="1076"/>
          <ac:picMkLst>
            <pc:docMk/>
            <pc:sldMk cId="14242909" sldId="365"/>
            <ac:picMk id="6" creationId="{3AFF3443-EA6F-7D73-3B26-22ED60913CAD}"/>
          </ac:picMkLst>
        </pc:picChg>
      </pc:sldChg>
      <pc:sldChg chg="modSp">
        <pc:chgData name="Blake Benz" userId="8a97c15f36056bdc" providerId="Windows Live" clId="Web-{6DBAEBEE-2799-2F79-1FA6-AE14921C847B}" dt="2025-07-09T15:49:46.724" v="78" actId="14100"/>
        <pc:sldMkLst>
          <pc:docMk/>
          <pc:sldMk cId="135842796" sldId="367"/>
        </pc:sldMkLst>
        <pc:spChg chg="mod">
          <ac:chgData name="Blake Benz" userId="8a97c15f36056bdc" providerId="Windows Live" clId="Web-{6DBAEBEE-2799-2F79-1FA6-AE14921C847B}" dt="2025-07-09T15:49:46.724" v="78" actId="14100"/>
          <ac:spMkLst>
            <pc:docMk/>
            <pc:sldMk cId="135842796" sldId="367"/>
            <ac:spMk id="79875" creationId="{00000000-0000-0000-0000-000000000000}"/>
          </ac:spMkLst>
        </pc:spChg>
      </pc:sldChg>
      <pc:sldChg chg="del">
        <pc:chgData name="Blake Benz" userId="8a97c15f36056bdc" providerId="Windows Live" clId="Web-{6DBAEBEE-2799-2F79-1FA6-AE14921C847B}" dt="2025-07-09T15:53:25.576" v="79"/>
        <pc:sldMkLst>
          <pc:docMk/>
          <pc:sldMk cId="1494171315" sldId="375"/>
        </pc:sldMkLst>
      </pc:sldChg>
      <pc:sldChg chg="del">
        <pc:chgData name="Blake Benz" userId="8a97c15f36056bdc" providerId="Windows Live" clId="Web-{6DBAEBEE-2799-2F79-1FA6-AE14921C847B}" dt="2025-07-09T13:27:38.439" v="0"/>
        <pc:sldMkLst>
          <pc:docMk/>
          <pc:sldMk cId="1056367971" sldId="380"/>
        </pc:sldMkLst>
      </pc:sldChg>
      <pc:sldChg chg="modSp new">
        <pc:chgData name="Blake Benz" userId="8a97c15f36056bdc" providerId="Windows Live" clId="Web-{6DBAEBEE-2799-2F79-1FA6-AE14921C847B}" dt="2025-07-09T13:29:37.350" v="59" actId="20577"/>
        <pc:sldMkLst>
          <pc:docMk/>
          <pc:sldMk cId="1936766532" sldId="380"/>
        </pc:sldMkLst>
        <pc:spChg chg="mod">
          <ac:chgData name="Blake Benz" userId="8a97c15f36056bdc" providerId="Windows Live" clId="Web-{6DBAEBEE-2799-2F79-1FA6-AE14921C847B}" dt="2025-07-09T13:29:37.350" v="59" actId="20577"/>
          <ac:spMkLst>
            <pc:docMk/>
            <pc:sldMk cId="1936766532" sldId="380"/>
            <ac:spMk id="2" creationId="{F6B110A4-62B8-3237-7AC6-F6E83D03E03E}"/>
          </ac:spMkLst>
        </pc:spChg>
        <pc:spChg chg="mod">
          <ac:chgData name="Blake Benz" userId="8a97c15f36056bdc" providerId="Windows Live" clId="Web-{6DBAEBEE-2799-2F79-1FA6-AE14921C847B}" dt="2025-07-09T13:29:31.615" v="58" actId="20577"/>
          <ac:spMkLst>
            <pc:docMk/>
            <pc:sldMk cId="1936766532" sldId="380"/>
            <ac:spMk id="3" creationId="{795777EB-B4F8-FE28-F022-5D0D9ECC7A68}"/>
          </ac:spMkLst>
        </pc:spChg>
      </pc:sldChg>
    </pc:docChg>
  </pc:docChgLst>
  <pc:docChgLst>
    <pc:chgData name="Blake Benz" userId="8a97c15f36056bdc" providerId="Windows Live" clId="Web-{EDD59D4A-EE4E-43E8-B919-6E792BBE922F}"/>
    <pc:docChg chg="modSld">
      <pc:chgData name="Blake Benz" userId="8a97c15f36056bdc" providerId="Windows Live" clId="Web-{EDD59D4A-EE4E-43E8-B919-6E792BBE922F}" dt="2024-06-19T16:53:47.812" v="157" actId="20577"/>
      <pc:docMkLst>
        <pc:docMk/>
      </pc:docMkLst>
      <pc:sldChg chg="modSp">
        <pc:chgData name="Blake Benz" userId="8a97c15f36056bdc" providerId="Windows Live" clId="Web-{EDD59D4A-EE4E-43E8-B919-6E792BBE922F}" dt="2024-06-19T16:16:15.414" v="113" actId="14100"/>
        <pc:sldMkLst>
          <pc:docMk/>
          <pc:sldMk cId="1840432910" sldId="302"/>
        </pc:sldMkLst>
      </pc:sldChg>
      <pc:sldChg chg="modSp">
        <pc:chgData name="Blake Benz" userId="8a97c15f36056bdc" providerId="Windows Live" clId="Web-{EDD59D4A-EE4E-43E8-B919-6E792BBE922F}" dt="2024-06-19T15:54:05.690" v="2" actId="20577"/>
        <pc:sldMkLst>
          <pc:docMk/>
          <pc:sldMk cId="386823384" sldId="311"/>
        </pc:sldMkLst>
      </pc:sldChg>
      <pc:sldChg chg="modSp">
        <pc:chgData name="Blake Benz" userId="8a97c15f36056bdc" providerId="Windows Live" clId="Web-{EDD59D4A-EE4E-43E8-B919-6E792BBE922F}" dt="2024-06-19T15:54:16.050" v="3" actId="14100"/>
        <pc:sldMkLst>
          <pc:docMk/>
          <pc:sldMk cId="899084267" sldId="313"/>
        </pc:sldMkLst>
      </pc:sldChg>
      <pc:sldChg chg="modSp">
        <pc:chgData name="Blake Benz" userId="8a97c15f36056bdc" providerId="Windows Live" clId="Web-{EDD59D4A-EE4E-43E8-B919-6E792BBE922F}" dt="2024-06-19T16:53:47.812" v="157" actId="20577"/>
        <pc:sldMkLst>
          <pc:docMk/>
          <pc:sldMk cId="3809868996" sldId="321"/>
        </pc:sldMkLst>
      </pc:sldChg>
      <pc:sldChg chg="modSp">
        <pc:chgData name="Blake Benz" userId="8a97c15f36056bdc" providerId="Windows Live" clId="Web-{EDD59D4A-EE4E-43E8-B919-6E792BBE922F}" dt="2024-06-19T15:56:48.378" v="56" actId="14100"/>
        <pc:sldMkLst>
          <pc:docMk/>
          <pc:sldMk cId="1859820904" sldId="323"/>
        </pc:sldMkLst>
      </pc:sldChg>
      <pc:sldChg chg="modSp">
        <pc:chgData name="Blake Benz" userId="8a97c15f36056bdc" providerId="Windows Live" clId="Web-{EDD59D4A-EE4E-43E8-B919-6E792BBE922F}" dt="2024-06-19T15:57:49.519" v="58" actId="20577"/>
        <pc:sldMkLst>
          <pc:docMk/>
          <pc:sldMk cId="2631113902" sldId="326"/>
        </pc:sldMkLst>
      </pc:sldChg>
      <pc:sldChg chg="modSp">
        <pc:chgData name="Blake Benz" userId="8a97c15f36056bdc" providerId="Windows Live" clId="Web-{EDD59D4A-EE4E-43E8-B919-6E792BBE922F}" dt="2024-06-19T15:58:53.457" v="68" actId="20577"/>
        <pc:sldMkLst>
          <pc:docMk/>
          <pc:sldMk cId="724663029" sldId="366"/>
        </pc:sldMkLst>
      </pc:sldChg>
      <pc:sldChg chg="modSp">
        <pc:chgData name="Blake Benz" userId="8a97c15f36056bdc" providerId="Windows Live" clId="Web-{EDD59D4A-EE4E-43E8-B919-6E792BBE922F}" dt="2024-06-19T16:04:34.083" v="79" actId="1076"/>
        <pc:sldMkLst>
          <pc:docMk/>
          <pc:sldMk cId="135842796" sldId="367"/>
        </pc:sldMkLst>
      </pc:sldChg>
      <pc:sldChg chg="modSp">
        <pc:chgData name="Blake Benz" userId="8a97c15f36056bdc" providerId="Windows Live" clId="Web-{EDD59D4A-EE4E-43E8-B919-6E792BBE922F}" dt="2024-06-19T16:08:12.099" v="92" actId="1076"/>
        <pc:sldMkLst>
          <pc:docMk/>
          <pc:sldMk cId="532683322" sldId="368"/>
        </pc:sldMkLst>
      </pc:sldChg>
      <pc:sldChg chg="modSp">
        <pc:chgData name="Blake Benz" userId="8a97c15f36056bdc" providerId="Windows Live" clId="Web-{EDD59D4A-EE4E-43E8-B919-6E792BBE922F}" dt="2024-06-19T16:07:37.006" v="83" actId="20577"/>
        <pc:sldMkLst>
          <pc:docMk/>
          <pc:sldMk cId="435317592" sldId="369"/>
        </pc:sldMkLst>
      </pc:sldChg>
      <pc:sldChg chg="modSp">
        <pc:chgData name="Blake Benz" userId="8a97c15f36056bdc" providerId="Windows Live" clId="Web-{EDD59D4A-EE4E-43E8-B919-6E792BBE922F}" dt="2024-06-19T15:55:13.331" v="20" actId="20577"/>
        <pc:sldMkLst>
          <pc:docMk/>
          <pc:sldMk cId="3984722819" sldId="37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4B9949-4CCA-4E10-9845-0AF2F3ADAE07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A0EF25-D326-4821-971E-BAA6B7B62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933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Reminder of 5 parts of Title II</a:t>
            </a:r>
          </a:p>
          <a:p>
            <a:r>
              <a:rPr lang="en-US" dirty="0"/>
              <a:t>Wednesday discussed privacy rule</a:t>
            </a:r>
          </a:p>
          <a:p>
            <a:r>
              <a:rPr lang="en-US" dirty="0"/>
              <a:t>Today will discuss transactions, code set rules and security rules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8EC14-A22E-46EE-8A61-9CA2B58283A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2432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4502FF1-727A-4117-871B-AAE3ED8DF707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/>
              <a:t>*an entity</a:t>
            </a:r>
            <a:r>
              <a:rPr lang="en-US" baseline="0" dirty="0"/>
              <a:t> who has health care and non health care components </a:t>
            </a:r>
            <a:r>
              <a:rPr lang="en-US" baseline="0" dirty="0" err="1"/>
              <a:t>ie</a:t>
            </a:r>
            <a:r>
              <a:rPr lang="en-US" baseline="0" dirty="0"/>
              <a:t> stony brook university is a college and also stony brook university hospital/ psych services (hospital is also a covered entity)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13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dirty="0"/>
              <a:t>*Changed from paper to electronic the stared items</a:t>
            </a:r>
            <a:r>
              <a:rPr lang="en-US" baseline="0" dirty="0"/>
              <a:t> </a:t>
            </a:r>
          </a:p>
          <a:p>
            <a:pPr marL="171450" indent="-171450">
              <a:buFontTx/>
              <a:buChar char="•"/>
            </a:pPr>
            <a:r>
              <a:rPr lang="en-US" baseline="0" dirty="0"/>
              <a:t>Confidential/ communications- patients have the rights to be contacted at the number/ email of their choice same goes for paper mail. May want to get it at a PO BOX and not home address.</a:t>
            </a:r>
          </a:p>
          <a:p>
            <a:pPr marL="171450" indent="-171450">
              <a:buFontTx/>
              <a:buChar char="•"/>
            </a:pPr>
            <a:r>
              <a:rPr lang="en-US" baseline="0" dirty="0"/>
              <a:t>Right to access their PHI, the law that is more stringent trumps how long the office has to get to give the records. </a:t>
            </a:r>
            <a:r>
              <a:rPr lang="en-US" baseline="0" dirty="0" err="1"/>
              <a:t>Ie</a:t>
            </a:r>
            <a:r>
              <a:rPr lang="en-US" baseline="0" dirty="0"/>
              <a:t>- </a:t>
            </a:r>
            <a:r>
              <a:rPr lang="en-US" baseline="0" dirty="0" err="1"/>
              <a:t>ny</a:t>
            </a:r>
            <a:r>
              <a:rPr lang="en-US" baseline="0" dirty="0"/>
              <a:t> lets 10 days to give a response to the patient but federal is 30 days</a:t>
            </a:r>
          </a:p>
          <a:p>
            <a:pPr marL="171450" indent="-171450">
              <a:buFontTx/>
              <a:buChar char="•"/>
            </a:pPr>
            <a:endParaRPr lang="en-US" baseline="0" dirty="0"/>
          </a:p>
          <a:p>
            <a:pPr marL="0" indent="0">
              <a:buFontTx/>
              <a:buNone/>
            </a:pPr>
            <a:r>
              <a:rPr lang="en-US" baseline="0" dirty="0"/>
              <a:t>Right to an accounting of disclosures- when info is used for research, data</a:t>
            </a:r>
          </a:p>
          <a:p>
            <a:pPr marL="171450" indent="-171450">
              <a:buFontTx/>
              <a:buChar char="•"/>
            </a:pPr>
            <a:endParaRPr lang="en-US" baseline="0" dirty="0"/>
          </a:p>
          <a:p>
            <a:pPr marL="171450" indent="-171450">
              <a:buFontTx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F3F45-D56C-44AC-A0EC-773749786A6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7976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027869B-A7F7-4D14-9965-FA20A5631FB9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1515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ACF0B60-C03C-4B24-B135-417C5DA54300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5776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C65D2F9-A8EE-4F8A-A03A-566A9F4B982E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8515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F5DBC62-0495-4D8E-A664-94636D7264B2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609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090DF2D-6A9D-406D-B2AD-0CD2DB5D6010}" type="slidenum">
              <a:rPr lang="en-US"/>
              <a:pPr/>
              <a:t>13</a:t>
            </a:fld>
            <a:endParaRPr lang="en-US"/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4175" y="685800"/>
            <a:ext cx="6097588" cy="3430588"/>
          </a:xfrm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3425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D016CCC-CB50-45E0-9485-1A50E4D83949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407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Reminder of 5 parts of Title II</a:t>
            </a:r>
          </a:p>
          <a:p>
            <a:r>
              <a:rPr lang="en-US" dirty="0"/>
              <a:t>Wednesday discussed privacy rule</a:t>
            </a:r>
          </a:p>
          <a:p>
            <a:r>
              <a:rPr lang="en-US" dirty="0"/>
              <a:t>Today will discuss transactions, code set rules and security rules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8EC14-A22E-46EE-8A61-9CA2B58283A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7549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stored in</a:t>
            </a:r>
            <a:r>
              <a:rPr lang="en-US" baseline="0" dirty="0"/>
              <a:t> electronic format then e-phi </a:t>
            </a:r>
          </a:p>
          <a:p>
            <a:endParaRPr lang="en-US" baseline="0" dirty="0"/>
          </a:p>
          <a:p>
            <a:r>
              <a:rPr lang="en-US" baseline="0" dirty="0"/>
              <a:t>Delicate balance between keeping things super secure and having access to e-phi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8EC14-A22E-46EE-8A61-9CA2B58283A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997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Making sure that info is used for its intended purpose</a:t>
            </a:r>
            <a:r>
              <a:rPr lang="en-US" baseline="0" dirty="0"/>
              <a:t> and not being misused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8EC14-A22E-46EE-8A61-9CA2B58283A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2822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things that are required</a:t>
            </a:r>
            <a:r>
              <a:rPr lang="is-IS" dirty="0"/>
              <a:t>…admin, physical, technical....have to reasses as system changes and landscape changes (ie</a:t>
            </a:r>
            <a:r>
              <a:rPr lang="is-IS" baseline="0" dirty="0"/>
              <a:t> taking over other hospitals). </a:t>
            </a:r>
            <a:r>
              <a:rPr lang="en-US" baseline="0" dirty="0"/>
              <a:t>T</a:t>
            </a:r>
            <a:r>
              <a:rPr lang="is-IS" baseline="0" dirty="0"/>
              <a:t>here’s always an ongoing assesment and reassesment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8EC14-A22E-46EE-8A61-9CA2B58283A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7608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</a:t>
            </a:r>
            <a:r>
              <a:rPr lang="en-US" baseline="0" dirty="0"/>
              <a:t> e-phi is there then have to have someone who can do all these things</a:t>
            </a:r>
          </a:p>
          <a:p>
            <a:r>
              <a:rPr lang="en-US" baseline="0" dirty="0"/>
              <a:t>Who is responsible and who will be held accountable </a:t>
            </a:r>
          </a:p>
          <a:p>
            <a:r>
              <a:rPr lang="en-US" baseline="0" dirty="0"/>
              <a:t>More “paperwork” type things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8EC14-A22E-46EE-8A61-9CA2B58283A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8695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C051952-A7D7-4146-86A3-7CF9FF7CB69F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/>
              <a:t>Prevention- use of scan cards</a:t>
            </a:r>
          </a:p>
          <a:p>
            <a:pPr eaLnBrk="1" hangingPunct="1"/>
            <a:r>
              <a:rPr lang="en-US" dirty="0"/>
              <a:t>Lock computers, lock doors</a:t>
            </a:r>
            <a:r>
              <a:rPr lang="en-US" baseline="0" dirty="0"/>
              <a:t> to offices, be more aware of not only patient safety but employee</a:t>
            </a:r>
          </a:p>
          <a:p>
            <a:pPr eaLnBrk="1" hangingPunct="1"/>
            <a:r>
              <a:rPr lang="en-US" baseline="0" dirty="0"/>
              <a:t>Destroying hard drives, stripping data, getting rid of </a:t>
            </a:r>
            <a:r>
              <a:rPr lang="en-US" baseline="0" dirty="0" err="1"/>
              <a:t>usb’s</a:t>
            </a:r>
            <a:r>
              <a:rPr lang="en-US" baseline="0" dirty="0"/>
              <a:t> and other electronic media in the correct manner.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00752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996BFF6-21E3-4912-9FD0-4DDA177D754B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/>
              <a:t>When don’t keep up with new</a:t>
            </a:r>
            <a:r>
              <a:rPr lang="en-US" baseline="0" dirty="0"/>
              <a:t> system updates one is more venerable to hacking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9323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PHI always needs to be on secure</a:t>
            </a:r>
            <a:r>
              <a:rPr lang="en-US" baseline="0" dirty="0"/>
              <a:t> share</a:t>
            </a:r>
            <a:r>
              <a:rPr lang="is-IS" baseline="0" dirty="0"/>
              <a:t>…encrypted </a:t>
            </a:r>
          </a:p>
          <a:p>
            <a:endParaRPr lang="is-IS" baseline="0" dirty="0"/>
          </a:p>
          <a:p>
            <a:r>
              <a:rPr lang="en-US" baseline="0" dirty="0"/>
              <a:t>M</a:t>
            </a:r>
            <a:r>
              <a:rPr lang="is-IS" baseline="0" dirty="0"/>
              <a:t>ultiuser workstations....keep someone at their place when they log off...can have multiple people use at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8EC14-A22E-46EE-8A61-9CA2B58283A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4060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Reminder of 5 parts of Title II</a:t>
            </a:r>
          </a:p>
          <a:p>
            <a:r>
              <a:rPr lang="en-US" dirty="0"/>
              <a:t>Wednesday discussed privacy rule</a:t>
            </a:r>
          </a:p>
          <a:p>
            <a:r>
              <a:rPr lang="en-US" dirty="0"/>
              <a:t>Today will discuss transactions, code set rules and security rules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8EC14-A22E-46EE-8A61-9CA2B58283A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8492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CD9C5C2-7D70-4824-B538-952B6E0BE3BC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09614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HCPCS: Identifies Products, Supplies and Services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6D450A-9E97-44DA-B117-4B621915B8DA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7957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E3A4A-970E-45FD-9497-4643E55BA4D3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F320E-C4B5-4DE5-8C29-98D1180B2F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99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E3A4A-970E-45FD-9497-4643E55BA4D3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F320E-C4B5-4DE5-8C29-98D1180B2F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143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E3A4A-970E-45FD-9497-4643E55BA4D3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F320E-C4B5-4DE5-8C29-98D1180B2F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17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E3A4A-970E-45FD-9497-4643E55BA4D3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F320E-C4B5-4DE5-8C29-98D1180B2F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432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E3A4A-970E-45FD-9497-4643E55BA4D3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F320E-C4B5-4DE5-8C29-98D1180B2F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822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E3A4A-970E-45FD-9497-4643E55BA4D3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F320E-C4B5-4DE5-8C29-98D1180B2F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441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E3A4A-970E-45FD-9497-4643E55BA4D3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F320E-C4B5-4DE5-8C29-98D1180B2F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896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E3A4A-970E-45FD-9497-4643E55BA4D3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F320E-C4B5-4DE5-8C29-98D1180B2F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598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E3A4A-970E-45FD-9497-4643E55BA4D3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F320E-C4B5-4DE5-8C29-98D1180B2F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873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E3A4A-970E-45FD-9497-4643E55BA4D3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F320E-C4B5-4DE5-8C29-98D1180B2F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69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E3A4A-970E-45FD-9497-4643E55BA4D3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F320E-C4B5-4DE5-8C29-98D1180B2F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4627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E3A4A-970E-45FD-9497-4643E55BA4D3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F320E-C4B5-4DE5-8C29-98D1180B2F2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823902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E3A4A-970E-45FD-9497-4643E55BA4D3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F320E-C4B5-4DE5-8C29-98D1180B2F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4344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E3A4A-970E-45FD-9497-4643E55BA4D3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F320E-C4B5-4DE5-8C29-98D1180B2F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2109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E3A4A-970E-45FD-9497-4643E55BA4D3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F320E-C4B5-4DE5-8C29-98D1180B2F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1198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E3A4A-970E-45FD-9497-4643E55BA4D3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F320E-C4B5-4DE5-8C29-98D1180B2F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6696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E3A4A-970E-45FD-9497-4643E55BA4D3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F320E-C4B5-4DE5-8C29-98D1180B2F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625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14E3A4A-970E-45FD-9497-4643E55BA4D3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FF320E-C4B5-4DE5-8C29-98D1180B2F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820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ZJ2msARQsKU?feature=oembed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kqzp8j7vsBk?feature=oembed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AB1DE-3937-46A7-AE0C-96DA1EDBA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dirty="0"/>
              <a:t>Title II of HIPAA reminder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DB077-2211-45AE-93FF-C584D5AF0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dirty="0"/>
              <a:t>Includes 5 rules:</a:t>
            </a:r>
          </a:p>
          <a:p>
            <a:pPr lvl="1"/>
            <a:r>
              <a:rPr lang="en-US" sz="3600" b="1" i="1" dirty="0"/>
              <a:t>Privacy Rule</a:t>
            </a:r>
          </a:p>
          <a:p>
            <a:pPr lvl="1"/>
            <a:r>
              <a:rPr lang="en-US" sz="3600" dirty="0"/>
              <a:t>Security Rule</a:t>
            </a:r>
          </a:p>
          <a:p>
            <a:pPr lvl="1"/>
            <a:r>
              <a:rPr lang="en-US" sz="3600" dirty="0"/>
              <a:t>Transactions and Code Sets Rule</a:t>
            </a:r>
          </a:p>
          <a:p>
            <a:pPr lvl="1"/>
            <a:r>
              <a:rPr lang="en-US" sz="3600" dirty="0"/>
              <a:t>Unique Identifiers Rule</a:t>
            </a:r>
          </a:p>
          <a:p>
            <a:pPr lvl="1"/>
            <a:r>
              <a:rPr lang="en-US" sz="3600" dirty="0"/>
              <a:t>Enforcement Rule</a:t>
            </a:r>
          </a:p>
        </p:txBody>
      </p:sp>
    </p:spTree>
    <p:extLst>
      <p:ext uri="{BB962C8B-B14F-4D97-AF65-F5344CB8AC3E}">
        <p14:creationId xmlns:p14="http://schemas.microsoft.com/office/powerpoint/2010/main" val="862765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600" dirty="0"/>
              <a:t>Patient Rights...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1" y="1948069"/>
            <a:ext cx="8318500" cy="4187687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800" dirty="0">
                <a:latin typeface="Arial" charset="0"/>
              </a:rPr>
              <a:t>Provider and Payers have responsibility to inform patients </a:t>
            </a:r>
            <a:r>
              <a:rPr lang="en-US" sz="2800">
                <a:latin typeface="Arial" charset="0"/>
              </a:rPr>
              <a:t>of rights </a:t>
            </a:r>
            <a:r>
              <a:rPr lang="en-US" sz="2800" dirty="0">
                <a:latin typeface="Arial" charset="0"/>
              </a:rPr>
              <a:t>and how to exercise rights</a:t>
            </a:r>
          </a:p>
          <a:p>
            <a:pPr>
              <a:lnSpc>
                <a:spcPct val="120000"/>
              </a:lnSpc>
            </a:pPr>
            <a:r>
              <a:rPr lang="en-US" sz="2800" dirty="0">
                <a:latin typeface="Arial" charset="0"/>
              </a:rPr>
              <a:t>Inpatients shall be given information at admission.</a:t>
            </a:r>
          </a:p>
          <a:p>
            <a:pPr>
              <a:lnSpc>
                <a:spcPct val="120000"/>
              </a:lnSpc>
            </a:pPr>
            <a:r>
              <a:rPr lang="en-US" sz="2800" dirty="0">
                <a:latin typeface="Arial" charset="0"/>
              </a:rPr>
              <a:t>Outpatients will be given information at their first registration.</a:t>
            </a:r>
          </a:p>
          <a:p>
            <a:pPr>
              <a:lnSpc>
                <a:spcPct val="120000"/>
              </a:lnSpc>
            </a:pPr>
            <a:r>
              <a:rPr lang="en-US" sz="2800" dirty="0">
                <a:latin typeface="Arial" charset="0"/>
              </a:rPr>
              <a:t>Insurance plans upon enrollment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258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646111" y="452718"/>
            <a:ext cx="10048393" cy="1400530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sz="4800" dirty="0"/>
              <a:t>Notice of Privacy Practices (NPP)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889369" y="2327965"/>
            <a:ext cx="8596668" cy="3880773"/>
          </a:xfrm>
        </p:spPr>
        <p:txBody>
          <a:bodyPr/>
          <a:lstStyle/>
          <a:p>
            <a:pPr>
              <a:defRPr/>
            </a:pPr>
            <a:r>
              <a:rPr lang="en-US" sz="3600" dirty="0"/>
              <a:t>Written Notification</a:t>
            </a:r>
          </a:p>
          <a:p>
            <a:pPr>
              <a:defRPr/>
            </a:pPr>
            <a:r>
              <a:rPr lang="en-US" sz="3600" dirty="0"/>
              <a:t>Covered Entity’s legal duties</a:t>
            </a:r>
          </a:p>
          <a:p>
            <a:pPr>
              <a:defRPr/>
            </a:pPr>
            <a:r>
              <a:rPr lang="en-US" sz="3600" dirty="0"/>
              <a:t>Plain language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en-US" dirty="0"/>
          </a:p>
          <a:p>
            <a:pPr eaLnBrk="1" hangingPunct="1">
              <a:buFont typeface="Wingdings" pitchFamily="2" charset="2"/>
              <a:buNone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7155486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>
          <a:xfrm>
            <a:off x="646111" y="237058"/>
            <a:ext cx="9404723" cy="69604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  PATIENT’S RIGHTS UNDER HIPAA</a:t>
            </a:r>
            <a:endParaRPr lang="en-US" dirty="0"/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>
          <a:xfrm>
            <a:off x="1103312" y="1048379"/>
            <a:ext cx="8946541" cy="5374422"/>
          </a:xfrm>
        </p:spPr>
        <p:txBody>
          <a:bodyPr vert="horz" lIns="91440" tIns="45720" rIns="91440" bIns="45720" rtlCol="0" anchor="t">
            <a:noAutofit/>
          </a:bodyPr>
          <a:lstStyle/>
          <a:p>
            <a:pPr lvl="1">
              <a:lnSpc>
                <a:spcPct val="180000"/>
              </a:lnSpc>
              <a:spcBef>
                <a:spcPct val="0"/>
              </a:spcBef>
              <a:buClr>
                <a:srgbClr val="CC3300"/>
              </a:buClr>
              <a:buFontTx/>
              <a:buChar char="&gt;"/>
            </a:pPr>
            <a:r>
              <a:rPr lang="en-US" sz="2800" dirty="0">
                <a:latin typeface="Arial"/>
                <a:cs typeface="Arial"/>
              </a:rPr>
              <a:t>Right to Notice of Privacy Practices</a:t>
            </a:r>
          </a:p>
          <a:p>
            <a:pPr lvl="1">
              <a:lnSpc>
                <a:spcPct val="180000"/>
              </a:lnSpc>
              <a:spcBef>
                <a:spcPct val="0"/>
              </a:spcBef>
              <a:buClr>
                <a:srgbClr val="CC3300"/>
              </a:buClr>
              <a:buFontTx/>
              <a:buChar char="&gt;"/>
            </a:pPr>
            <a:r>
              <a:rPr lang="en-US" sz="2800" dirty="0">
                <a:latin typeface="Arial"/>
                <a:cs typeface="Arial"/>
              </a:rPr>
              <a:t>Right to Request Restriction on PHI</a:t>
            </a:r>
          </a:p>
          <a:p>
            <a:pPr lvl="1">
              <a:lnSpc>
                <a:spcPct val="180000"/>
              </a:lnSpc>
              <a:spcBef>
                <a:spcPct val="0"/>
              </a:spcBef>
              <a:buClr>
                <a:srgbClr val="CC3300"/>
              </a:buClr>
              <a:buFontTx/>
              <a:buChar char="&gt;"/>
            </a:pPr>
            <a:r>
              <a:rPr lang="en-US" sz="2800" dirty="0">
                <a:latin typeface="Arial"/>
                <a:cs typeface="Arial"/>
              </a:rPr>
              <a:t>Right to Request Confidential/Alt. Communications</a:t>
            </a:r>
          </a:p>
          <a:p>
            <a:pPr lvl="1">
              <a:lnSpc>
                <a:spcPct val="180000"/>
              </a:lnSpc>
              <a:spcBef>
                <a:spcPct val="0"/>
              </a:spcBef>
              <a:buClr>
                <a:srgbClr val="CC3300"/>
              </a:buClr>
              <a:buFontTx/>
              <a:buChar char="&gt;"/>
            </a:pPr>
            <a:r>
              <a:rPr lang="en-US" sz="2800" dirty="0">
                <a:latin typeface="Arial"/>
                <a:cs typeface="Arial"/>
              </a:rPr>
              <a:t>Right to Access their PHI</a:t>
            </a:r>
          </a:p>
          <a:p>
            <a:pPr lvl="1">
              <a:lnSpc>
                <a:spcPct val="180000"/>
              </a:lnSpc>
              <a:spcBef>
                <a:spcPct val="0"/>
              </a:spcBef>
              <a:buClr>
                <a:srgbClr val="CC3300"/>
              </a:buClr>
              <a:buFontTx/>
              <a:buChar char="&gt;"/>
            </a:pPr>
            <a:r>
              <a:rPr lang="en-US" sz="2800" dirty="0">
                <a:latin typeface="Arial"/>
                <a:cs typeface="Arial"/>
              </a:rPr>
              <a:t>Right to Amend their PHI</a:t>
            </a:r>
          </a:p>
          <a:p>
            <a:pPr lvl="1">
              <a:lnSpc>
                <a:spcPct val="180000"/>
              </a:lnSpc>
              <a:spcBef>
                <a:spcPct val="0"/>
              </a:spcBef>
              <a:buClr>
                <a:srgbClr val="CC3300"/>
              </a:buClr>
              <a:buFontTx/>
              <a:buChar char="&gt;"/>
            </a:pPr>
            <a:r>
              <a:rPr lang="en-US" sz="2800" dirty="0">
                <a:latin typeface="Arial"/>
                <a:cs typeface="Arial"/>
              </a:rPr>
              <a:t>Right to an Accounting of Disclosures</a:t>
            </a:r>
          </a:p>
          <a:p>
            <a:pPr lvl="1">
              <a:lnSpc>
                <a:spcPct val="180000"/>
              </a:lnSpc>
              <a:spcBef>
                <a:spcPct val="0"/>
              </a:spcBef>
              <a:buClr>
                <a:srgbClr val="CC3300"/>
              </a:buClr>
              <a:buFontTx/>
              <a:buChar char="&gt;"/>
            </a:pPr>
            <a:r>
              <a:rPr lang="en-US" sz="2800" dirty="0">
                <a:latin typeface="Arial"/>
                <a:cs typeface="Arial"/>
              </a:rPr>
              <a:t>Right to File a Complaint</a:t>
            </a:r>
          </a:p>
          <a:p>
            <a:endParaRPr lang="en-US" sz="2800" dirty="0"/>
          </a:p>
        </p:txBody>
      </p:sp>
      <p:pic>
        <p:nvPicPr>
          <p:cNvPr id="28676" name="Picture 3" descr="C:\Documents and Settings\smusso\Local Settings\Temporary Internet Files\Content.IE5\FFU4Q1G5\MCj02906740000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72736" y="3569712"/>
            <a:ext cx="150495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25149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/>
              <a:t>Right to Request Restrictions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1580322" y="1654509"/>
            <a:ext cx="7848600" cy="4530725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3600" dirty="0"/>
              <a:t>Marketing</a:t>
            </a:r>
          </a:p>
          <a:p>
            <a:pPr marL="0" indent="0">
              <a:lnSpc>
                <a:spcPct val="90000"/>
              </a:lnSpc>
              <a:buNone/>
              <a:defRPr/>
            </a:pPr>
            <a:endParaRPr lang="en-US" sz="3600" dirty="0"/>
          </a:p>
          <a:p>
            <a:pPr>
              <a:lnSpc>
                <a:spcPct val="90000"/>
              </a:lnSpc>
              <a:defRPr/>
            </a:pPr>
            <a:r>
              <a:rPr lang="en-US" sz="3600" dirty="0"/>
              <a:t>Fundraising</a:t>
            </a:r>
          </a:p>
          <a:p>
            <a:pPr marL="0" indent="0">
              <a:lnSpc>
                <a:spcPct val="90000"/>
              </a:lnSpc>
              <a:buNone/>
              <a:defRPr/>
            </a:pPr>
            <a:endParaRPr lang="en-US" sz="3600" dirty="0"/>
          </a:p>
          <a:p>
            <a:pPr>
              <a:lnSpc>
                <a:spcPct val="90000"/>
              </a:lnSpc>
              <a:defRPr/>
            </a:pPr>
            <a:r>
              <a:rPr lang="en-US" sz="3600" dirty="0"/>
              <a:t>Patient Directory /Clergy</a:t>
            </a:r>
          </a:p>
        </p:txBody>
      </p:sp>
    </p:spTree>
    <p:extLst>
      <p:ext uri="{BB962C8B-B14F-4D97-AF65-F5344CB8AC3E}">
        <p14:creationId xmlns:p14="http://schemas.microsoft.com/office/powerpoint/2010/main" val="173982270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Right to Access PHI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828800"/>
            <a:ext cx="7239000" cy="4626936"/>
          </a:xfrm>
        </p:spPr>
        <p:txBody>
          <a:bodyPr vert="horz" lIns="91440" tIns="45720" rIns="91440" bIns="45720" rtlCol="0" anchor="t">
            <a:normAutofit/>
          </a:bodyPr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n-US" sz="3200" dirty="0"/>
              <a:t>Access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sz="3200" dirty="0"/>
              <a:t>Inspect 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sz="3200" dirty="0"/>
              <a:t>Obtain copy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en-US" sz="3200" dirty="0"/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sz="3200" dirty="0"/>
              <a:t>No right to psychotherapy notes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sz="3200" dirty="0"/>
              <a:t>No right of information compiled for legal proceedings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en-US" sz="3200" dirty="0"/>
          </a:p>
          <a:p>
            <a:pPr eaLnBrk="1" hangingPunct="1">
              <a:buFont typeface="Wingdings" pitchFamily="2" charset="2"/>
              <a:buNone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94439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/>
              <a:t>Right to Request Amendment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981200"/>
            <a:ext cx="7239000" cy="4474536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  <a:defRPr/>
            </a:pPr>
            <a:endParaRPr lang="en-US" dirty="0"/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sz="2800" dirty="0"/>
              <a:t>Provider must respond within 60 days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en-US" sz="2800" dirty="0"/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sz="2800" dirty="0"/>
              <a:t>Grant or deny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en-US" sz="2800" dirty="0"/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sz="2800" dirty="0"/>
              <a:t>Patient file a statement of disagreement</a:t>
            </a:r>
          </a:p>
        </p:txBody>
      </p:sp>
    </p:spTree>
    <p:extLst>
      <p:ext uri="{BB962C8B-B14F-4D97-AF65-F5344CB8AC3E}">
        <p14:creationId xmlns:p14="http://schemas.microsoft.com/office/powerpoint/2010/main" val="508632394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6A096-4613-4B18-B465-64590D46D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 how requesting amendments work… (and a privacy violation)</a:t>
            </a:r>
          </a:p>
        </p:txBody>
      </p:sp>
      <p:pic>
        <p:nvPicPr>
          <p:cNvPr id="4" name="Online Media 3" title="A Difficult Patient">
            <a:hlinkClick r:id="" action="ppaction://media"/>
            <a:extLst>
              <a:ext uri="{FF2B5EF4-FFF2-40B4-BE49-F238E27FC236}">
                <a16:creationId xmlns:a16="http://schemas.microsoft.com/office/drawing/2014/main" id="{5281AAA1-EF1C-4FB7-AA3F-3F3C8759F068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762415" y="2021757"/>
            <a:ext cx="7792402" cy="438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634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400" dirty="0"/>
              <a:t>Right to Receive an Accounting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>
          <a:xfrm>
            <a:off x="2053087" y="1587260"/>
            <a:ext cx="7239000" cy="4322136"/>
          </a:xfrm>
        </p:spPr>
        <p:txBody>
          <a:bodyPr vert="horz" lIns="91440" tIns="45720" rIns="91440" bIns="45720" rtlCol="0" anchor="t">
            <a:noAutofit/>
          </a:bodyPr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n-US" sz="3600" dirty="0"/>
              <a:t>Disclosures of PHI: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sz="3600" dirty="0"/>
              <a:t>	Date of disclosure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sz="3600" dirty="0"/>
              <a:t>	Name of entity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sz="3600" dirty="0"/>
              <a:t>	Description of PHI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sz="3600" dirty="0"/>
              <a:t>	Statement of purpose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sz="3600" dirty="0"/>
              <a:t>	Written acknowledgement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sz="3600" dirty="0"/>
              <a:t>	Authorization forms</a:t>
            </a:r>
          </a:p>
        </p:txBody>
      </p:sp>
    </p:spTree>
    <p:extLst>
      <p:ext uri="{BB962C8B-B14F-4D97-AF65-F5344CB8AC3E}">
        <p14:creationId xmlns:p14="http://schemas.microsoft.com/office/powerpoint/2010/main" val="3450649007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Right to file a compliant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2438400"/>
            <a:ext cx="7239000" cy="4017336"/>
          </a:xfrm>
        </p:spPr>
        <p:txBody>
          <a:bodyPr>
            <a:normAutofit/>
          </a:bodyPr>
          <a:lstStyle/>
          <a:p>
            <a:r>
              <a:rPr lang="en-US" sz="3600" dirty="0"/>
              <a:t>With the Covered Entity</a:t>
            </a:r>
          </a:p>
          <a:p>
            <a:endParaRPr lang="en-US" sz="3600" dirty="0"/>
          </a:p>
          <a:p>
            <a:r>
              <a:rPr lang="en-US" sz="3600" dirty="0"/>
              <a:t>With the Office of Civil Rights</a:t>
            </a:r>
          </a:p>
        </p:txBody>
      </p:sp>
    </p:spTree>
    <p:extLst>
      <p:ext uri="{BB962C8B-B14F-4D97-AF65-F5344CB8AC3E}">
        <p14:creationId xmlns:p14="http://schemas.microsoft.com/office/powerpoint/2010/main" val="31901066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dirty="0"/>
              <a:t>Privacy Complaints to the Office of Civil Rights (OCR)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901700" y="2011680"/>
            <a:ext cx="8166100" cy="4271226"/>
          </a:xfrm>
        </p:spPr>
        <p:txBody>
          <a:bodyPr vert="horz" lIns="91440" tIns="45720" rIns="91440" bIns="45720" rtlCol="0" anchor="t">
            <a:normAutofit/>
          </a:bodyPr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/>
              <a:t>	</a:t>
            </a:r>
            <a:r>
              <a:rPr lang="en-US" sz="3200" dirty="0"/>
              <a:t>Most Common Complaints: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ü"/>
            </a:pPr>
            <a:r>
              <a:rPr lang="en-US" sz="2400" dirty="0"/>
              <a:t>Impermissible Disclosures (gossiping to a friend outside the hospital about the medical condition of a neighbor who is a patient)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ü"/>
            </a:pPr>
            <a:r>
              <a:rPr lang="en-US" sz="2400" dirty="0"/>
              <a:t>Lack of Adequate Safeguards (leaving charts/files accessible to public view, not protecting PHI on computer screens)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ü"/>
            </a:pPr>
            <a:r>
              <a:rPr lang="en-US" sz="2400" dirty="0"/>
              <a:t>Refusal or Failure to Provide Access to – or a copy of – medical records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ü"/>
            </a:pPr>
            <a:r>
              <a:rPr lang="en-US" sz="2400" dirty="0"/>
              <a:t>Disclosure of more than the Minimal Necessary PHI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1800" dirty="0"/>
          </a:p>
          <a:p>
            <a:pPr eaLnBrk="1" hangingPunct="1">
              <a:lnSpc>
                <a:spcPct val="90000"/>
              </a:lnSpc>
              <a:buFont typeface="Wingdings" pitchFamily="2" charset="2"/>
              <a:buChar char="Ø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49003585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5587E-1481-EE1C-31D1-8D16B141F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450" y="2666831"/>
            <a:ext cx="9404723" cy="1041097"/>
          </a:xfrm>
        </p:spPr>
        <p:txBody>
          <a:bodyPr/>
          <a:lstStyle/>
          <a:p>
            <a:pPr algn="ctr"/>
            <a:r>
              <a:rPr lang="en-US" dirty="0"/>
              <a:t>Student Presentations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C1427A-14BD-6025-BB1B-EECA704E80FB}"/>
              </a:ext>
            </a:extLst>
          </p:cNvPr>
          <p:cNvSpPr txBox="1"/>
          <p:nvPr/>
        </p:nvSpPr>
        <p:spPr>
          <a:xfrm>
            <a:off x="846530" y="2670951"/>
            <a:ext cx="9530769" cy="12557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39725" indent="-339725">
              <a:lnSpc>
                <a:spcPct val="180000"/>
              </a:lnSpc>
              <a:spcBef>
                <a:spcPts val="1000"/>
              </a:spcBef>
              <a:buFont typeface="Wingdings,Sans-Serif"/>
              <a:buChar char="Ø"/>
            </a:pPr>
            <a:endParaRPr lang="en-US" sz="3200" dirty="0">
              <a:latin typeface="Arial"/>
              <a:cs typeface="Arial"/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44264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228600"/>
            <a:ext cx="7239000" cy="1143000"/>
          </a:xfrm>
        </p:spPr>
        <p:txBody>
          <a:bodyPr/>
          <a:lstStyle/>
          <a:p>
            <a:r>
              <a:rPr lang="en-US" b="1" dirty="0"/>
              <a:t>     Incidental Disclosures</a:t>
            </a:r>
            <a:endParaRPr lang="en-US" sz="4800" dirty="0"/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>
          <a:xfrm>
            <a:off x="774700" y="1828800"/>
            <a:ext cx="8674100" cy="462693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3200" dirty="0"/>
              <a:t>   Incidental disclosures are not considered a violation of the regulations as long as the minimum necessary standard is met and reasonable safeguards are in place.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sz="2800" b="1" u="sng" dirty="0"/>
              <a:t>EXAMPLES: 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 dirty="0"/>
              <a:t>    Sign-in sheets, overheard conversations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823384"/>
      </p:ext>
    </p:extLst>
  </p:cSld>
  <p:clrMapOvr>
    <a:masterClrMapping/>
  </p:clrMapOvr>
  <p:transition>
    <p:blinds dir="vert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AutoShape 2"/>
          <p:cNvSpPr>
            <a:spLocks noGrp="1" noChangeArrowheads="1"/>
          </p:cNvSpPr>
          <p:nvPr>
            <p:ph type="title"/>
          </p:nvPr>
        </p:nvSpPr>
        <p:spPr>
          <a:xfrm>
            <a:off x="646111" y="150793"/>
            <a:ext cx="9404723" cy="523512"/>
          </a:xfrm>
        </p:spPr>
        <p:txBody>
          <a:bodyPr/>
          <a:lstStyle/>
          <a:p>
            <a:pPr eaLnBrk="1" hangingPunct="1"/>
            <a:r>
              <a:rPr lang="en-US" sz="3200"/>
              <a:t>Protecting Verbal Communications…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1104293" y="1427748"/>
            <a:ext cx="8946541" cy="5105574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lnSpc>
                <a:spcPct val="80000"/>
              </a:lnSpc>
              <a:buFont typeface="Wingdings" pitchFamily="2" charset="2"/>
              <a:buChar char="v"/>
            </a:pPr>
            <a:r>
              <a:rPr lang="en-US" sz="2400" dirty="0"/>
              <a:t>Find Private Locations to discuss patient information with colleagues and families. 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2400" dirty="0"/>
          </a:p>
          <a:p>
            <a:pPr eaLnBrk="1" hangingPunct="1">
              <a:lnSpc>
                <a:spcPct val="80000"/>
              </a:lnSpc>
              <a:buFont typeface="Wingdings" pitchFamily="2" charset="2"/>
              <a:buChar char="v"/>
            </a:pPr>
            <a:r>
              <a:rPr lang="en-US" sz="2400" dirty="0"/>
              <a:t>Close doors/pull privacy curtains and talk in low voices when discussing health information with a patient or family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2400" dirty="0"/>
          </a:p>
          <a:p>
            <a:pPr eaLnBrk="1" hangingPunct="1">
              <a:lnSpc>
                <a:spcPct val="80000"/>
              </a:lnSpc>
              <a:buFont typeface="Wingdings" pitchFamily="2" charset="2"/>
              <a:buChar char="v"/>
            </a:pPr>
            <a:r>
              <a:rPr lang="en-US" sz="2400" i="1" u="sng" dirty="0"/>
              <a:t>DO NOT</a:t>
            </a:r>
            <a:r>
              <a:rPr lang="en-US" sz="2400" dirty="0"/>
              <a:t> talk about patients in public places (waiting areas, hallways, elevators, cafeteria) 	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2400" dirty="0"/>
          </a:p>
          <a:p>
            <a:pPr>
              <a:lnSpc>
                <a:spcPct val="80000"/>
              </a:lnSpc>
              <a:buFont typeface="Wingdings" pitchFamily="2" charset="2"/>
              <a:buChar char="v"/>
            </a:pPr>
            <a:r>
              <a:rPr lang="en-US" sz="2400" dirty="0"/>
              <a:t>Use, discuss and access only the </a:t>
            </a:r>
            <a:r>
              <a:rPr lang="en-US" sz="2400" i="1" dirty="0"/>
              <a:t>minimal</a:t>
            </a:r>
            <a:r>
              <a:rPr lang="en-US" sz="2400" dirty="0"/>
              <a:t> necessary 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2400" dirty="0"/>
          </a:p>
          <a:p>
            <a:pPr>
              <a:lnSpc>
                <a:spcPct val="80000"/>
              </a:lnSpc>
              <a:buFont typeface="Wingdings" pitchFamily="2" charset="2"/>
              <a:buChar char="v"/>
            </a:pPr>
            <a:r>
              <a:rPr lang="en-US" sz="2400" dirty="0"/>
              <a:t>When leaving a message for a patient minimize the amount of information you leave on the recording – This is Stony Brook Medicine/Dr. Smith’s office calling for Mr. Jones.  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2400" dirty="0"/>
          </a:p>
          <a:p>
            <a:pPr eaLnBrk="1" hangingPunct="1">
              <a:lnSpc>
                <a:spcPct val="80000"/>
              </a:lnSpc>
              <a:buFont typeface="Wingdings" pitchFamily="2" charset="2"/>
              <a:buChar char="v"/>
            </a:pPr>
            <a:r>
              <a:rPr lang="en-US" sz="2400" dirty="0"/>
              <a:t>Direct </a:t>
            </a:r>
            <a:r>
              <a:rPr lang="en-US" sz="2400" i="1" u="sng" dirty="0"/>
              <a:t>ALL</a:t>
            </a:r>
            <a:r>
              <a:rPr lang="en-US" sz="2400" dirty="0"/>
              <a:t> media inquiries to Public Affairs Office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Char char="v"/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99084267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/>
              <a:t>Protecting Written Communications…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1558616"/>
            <a:ext cx="7772400" cy="484632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90000"/>
              </a:lnSpc>
              <a:buFont typeface="Wingdings 3" pitchFamily="2" charset="2"/>
              <a:buChar char=""/>
            </a:pPr>
            <a:r>
              <a:rPr lang="en-US" sz="3200" dirty="0"/>
              <a:t>Dispose of PHI properly </a:t>
            </a:r>
          </a:p>
          <a:p>
            <a:pPr lvl="1">
              <a:lnSpc>
                <a:spcPct val="90000"/>
              </a:lnSpc>
              <a:buClr>
                <a:srgbClr val="8AD0D6"/>
              </a:buClr>
              <a:buFont typeface="Courier New" pitchFamily="2" charset="2"/>
              <a:buChar char="o"/>
            </a:pPr>
            <a:r>
              <a:rPr lang="en-US" sz="2800" dirty="0"/>
              <a:t>Confidential Bins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400" dirty="0"/>
          </a:p>
          <a:p>
            <a:pPr eaLnBrk="1" hangingPunct="1">
              <a:lnSpc>
                <a:spcPct val="90000"/>
              </a:lnSpc>
              <a:buFont typeface="Wingdings 3" pitchFamily="2" charset="2"/>
              <a:buChar char=""/>
            </a:pPr>
            <a:r>
              <a:rPr lang="en-US" sz="3200" i="1" dirty="0"/>
              <a:t>DO NOT leave any materials containing PHI in public view (x-ray images, charts etc.)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3600" i="1" dirty="0"/>
          </a:p>
          <a:p>
            <a:pPr>
              <a:lnSpc>
                <a:spcPct val="90000"/>
              </a:lnSpc>
              <a:buFont typeface="Wingdings 3" pitchFamily="2" charset="2"/>
              <a:buChar char=""/>
            </a:pPr>
            <a:r>
              <a:rPr lang="en-US" sz="3200" dirty="0"/>
              <a:t>File, store and cover documents containing Protected Health Information (PHI). </a:t>
            </a:r>
          </a:p>
          <a:p>
            <a:pPr eaLnBrk="1" hangingPunct="1">
              <a:lnSpc>
                <a:spcPct val="9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30710174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AutoShape 2"/>
          <p:cNvSpPr>
            <a:spLocks noGrp="1" noChangeArrowheads="1"/>
          </p:cNvSpPr>
          <p:nvPr>
            <p:ph type="title"/>
          </p:nvPr>
        </p:nvSpPr>
        <p:spPr>
          <a:xfrm>
            <a:off x="1221205" y="122039"/>
            <a:ext cx="9404723" cy="609776"/>
          </a:xfrm>
        </p:spPr>
        <p:txBody>
          <a:bodyPr/>
          <a:lstStyle/>
          <a:p>
            <a:pPr eaLnBrk="1" hangingPunct="1"/>
            <a:r>
              <a:rPr lang="en-US" sz="3600" dirty="0"/>
              <a:t>Protecting Electronic Communications…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648523" y="1222534"/>
            <a:ext cx="9977407" cy="518274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eaLnBrk="1" hangingPunct="1">
              <a:lnSpc>
                <a:spcPct val="80000"/>
              </a:lnSpc>
              <a:buFont typeface="Wingdings 3" pitchFamily="2" charset="2"/>
              <a:buChar char=""/>
            </a:pPr>
            <a:r>
              <a:rPr lang="en-US" sz="2800" dirty="0"/>
              <a:t>Turn computer monitors so others cannot see the screen.   </a:t>
            </a:r>
            <a:endParaRPr lang="en-US" sz="2800" i="1" dirty="0">
              <a:solidFill>
                <a:schemeClr val="hlink"/>
              </a:solidFill>
            </a:endParaRPr>
          </a:p>
          <a:p>
            <a:pPr>
              <a:lnSpc>
                <a:spcPct val="80000"/>
              </a:lnSpc>
              <a:buFont typeface="Wingdings 3" pitchFamily="2" charset="2"/>
              <a:buChar char=""/>
            </a:pPr>
            <a:r>
              <a:rPr lang="en-US" sz="2800" b="1" dirty="0"/>
              <a:t>LOG-OFF</a:t>
            </a:r>
            <a:r>
              <a:rPr lang="en-US" sz="2800" dirty="0"/>
              <a:t> computers</a:t>
            </a:r>
            <a:endParaRPr lang="en-US" sz="2800" i="1" dirty="0">
              <a:solidFill>
                <a:srgbClr val="58C1BA"/>
              </a:solidFill>
            </a:endParaRPr>
          </a:p>
          <a:p>
            <a:pPr>
              <a:lnSpc>
                <a:spcPct val="80000"/>
              </a:lnSpc>
              <a:buClr>
                <a:srgbClr val="8AD0D6"/>
              </a:buClr>
              <a:buFont typeface="Wingdings 3" pitchFamily="2" charset="2"/>
              <a:buChar char=""/>
            </a:pPr>
            <a:r>
              <a:rPr lang="en-US" sz="2800" b="1" dirty="0"/>
              <a:t>Do Not</a:t>
            </a:r>
            <a:r>
              <a:rPr lang="en-US" sz="2800" dirty="0"/>
              <a:t> leave handheld devices/laptops unattended.                    </a:t>
            </a:r>
            <a:endParaRPr lang="en-US" sz="2800" i="1" dirty="0">
              <a:solidFill>
                <a:srgbClr val="58C1BA"/>
              </a:solidFill>
            </a:endParaRPr>
          </a:p>
          <a:p>
            <a:pPr>
              <a:lnSpc>
                <a:spcPct val="80000"/>
              </a:lnSpc>
              <a:buClr>
                <a:srgbClr val="8AD0D6"/>
              </a:buClr>
              <a:buFont typeface="Wingdings 3" pitchFamily="2" charset="2"/>
              <a:buChar char=""/>
            </a:pPr>
            <a:r>
              <a:rPr lang="en-US" sz="2600" dirty="0"/>
              <a:t>Do not share user ID’s/passwords</a:t>
            </a:r>
            <a:endParaRPr lang="en-US" dirty="0">
              <a:solidFill>
                <a:srgbClr val="FFFFFF"/>
              </a:solidFill>
            </a:endParaRPr>
          </a:p>
          <a:p>
            <a:pPr lvl="1">
              <a:lnSpc>
                <a:spcPct val="80000"/>
              </a:lnSpc>
              <a:buClr>
                <a:srgbClr val="8AD0D6"/>
              </a:buClr>
              <a:buFont typeface="Courier New" pitchFamily="2" charset="2"/>
              <a:buChar char="o"/>
            </a:pPr>
            <a:r>
              <a:rPr lang="en-US" sz="2800" dirty="0"/>
              <a:t>Password validity policy (</a:t>
            </a:r>
            <a:r>
              <a:rPr lang="en-US" sz="2800" dirty="0" err="1"/>
              <a:t>ie</a:t>
            </a:r>
            <a:r>
              <a:rPr lang="en-US" sz="2800" dirty="0"/>
              <a:t>, 120 days)</a:t>
            </a:r>
            <a:endParaRPr lang="en-US" sz="2400" dirty="0"/>
          </a:p>
          <a:p>
            <a:pPr>
              <a:lnSpc>
                <a:spcPct val="80000"/>
              </a:lnSpc>
              <a:buClr>
                <a:srgbClr val="8AD0D6"/>
              </a:buClr>
              <a:buFont typeface="Wingdings 3" pitchFamily="2" charset="2"/>
              <a:buChar char=""/>
            </a:pPr>
            <a:r>
              <a:rPr lang="en-US" sz="2800" dirty="0"/>
              <a:t>Automatic log-off (session inactive for 10-15 min.)</a:t>
            </a:r>
          </a:p>
          <a:p>
            <a:pPr>
              <a:lnSpc>
                <a:spcPct val="80000"/>
              </a:lnSpc>
              <a:buFont typeface="Wingdings 3" pitchFamily="2" charset="2"/>
              <a:buChar char=""/>
            </a:pPr>
            <a:r>
              <a:rPr lang="en-US" sz="2800" dirty="0"/>
              <a:t>Verify the receiving number before faxing information containing PHI</a:t>
            </a:r>
          </a:p>
          <a:p>
            <a:pPr lvl="1">
              <a:lnSpc>
                <a:spcPct val="80000"/>
              </a:lnSpc>
              <a:buClr>
                <a:srgbClr val="8AD0D6"/>
              </a:buClr>
              <a:buFont typeface="Courier New" pitchFamily="2" charset="2"/>
              <a:buChar char="o"/>
            </a:pPr>
            <a:r>
              <a:rPr lang="en-US" sz="2600" dirty="0"/>
              <a:t>Do not use pre-programmed buttons</a:t>
            </a:r>
          </a:p>
          <a:p>
            <a:pPr eaLnBrk="1" hangingPunct="1">
              <a:lnSpc>
                <a:spcPct val="80000"/>
              </a:lnSpc>
              <a:buFont typeface="Wingdings 3" pitchFamily="2" charset="2"/>
              <a:buChar char=""/>
            </a:pPr>
            <a:r>
              <a:rPr lang="en-US" sz="2800" dirty="0"/>
              <a:t>Hospital and medical staff should not transmit PHI over the Internet (including email) and other unsecured networks </a:t>
            </a:r>
            <a:r>
              <a:rPr lang="en-US" sz="2800"/>
              <a:t>unless using a secure encryption procedure.	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800" i="1" dirty="0">
                <a:solidFill>
                  <a:schemeClr val="hlink"/>
                </a:solidFill>
              </a:rPr>
              <a:t>	</a:t>
            </a:r>
          </a:p>
          <a:p>
            <a:pPr eaLnBrk="1" hangingPunct="1">
              <a:lnSpc>
                <a:spcPct val="80000"/>
              </a:lnSpc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5264920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728870" y="609600"/>
            <a:ext cx="10230678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/>
              <a:t>General Organizational Responsibilities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>
          <a:xfrm>
            <a:off x="1828800" y="2057400"/>
            <a:ext cx="7772400" cy="3864936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800" dirty="0"/>
              <a:t>Enforce written Policies &amp; Procedures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800" dirty="0"/>
              <a:t>Follow  proper documentation retention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800" dirty="0"/>
              <a:t>Verification/Authentication access identity &amp; authority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800" dirty="0"/>
              <a:t>Validate patient permission/authorization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800" dirty="0"/>
              <a:t>Conduct effective training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800" dirty="0"/>
              <a:t>Implement safeguards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800" dirty="0"/>
              <a:t>Address complaints</a:t>
            </a:r>
          </a:p>
        </p:txBody>
      </p:sp>
    </p:spTree>
    <p:extLst>
      <p:ext uri="{BB962C8B-B14F-4D97-AF65-F5344CB8AC3E}">
        <p14:creationId xmlns:p14="http://schemas.microsoft.com/office/powerpoint/2010/main" val="600352858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AB8D0-E951-4949-8D58-66B5A8DD5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Spot the HIPAA Violations</a:t>
            </a:r>
          </a:p>
        </p:txBody>
      </p:sp>
      <p:pic>
        <p:nvPicPr>
          <p:cNvPr id="4" name="Online Media 3" title="Common HIPAA Mistakes">
            <a:hlinkClick r:id="" action="ppaction://media"/>
            <a:extLst>
              <a:ext uri="{FF2B5EF4-FFF2-40B4-BE49-F238E27FC236}">
                <a16:creationId xmlns:a16="http://schemas.microsoft.com/office/drawing/2014/main" id="{CF27FE6E-CF32-44EF-B9C0-7E7D2FEF8A83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525588" y="2160588"/>
            <a:ext cx="6900862" cy="388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4784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110A4-62B8-3237-7AC6-F6E83D03E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dirty="0"/>
              <a:t>Breakout groups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777EB-B4F8-FE28-F022-5D0D9ECC7A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/>
              <a:t>Discuss one incident in which a HIPPP breach has occurred and one incident that would be considered an incidental disclosure</a:t>
            </a:r>
          </a:p>
        </p:txBody>
      </p:sp>
    </p:spTree>
    <p:extLst>
      <p:ext uri="{BB962C8B-B14F-4D97-AF65-F5344CB8AC3E}">
        <p14:creationId xmlns:p14="http://schemas.microsoft.com/office/powerpoint/2010/main" val="19367665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AB1DE-3937-46A7-AE0C-96DA1EDBA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dirty="0"/>
              <a:t>Title II of HIPAA reminder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DB077-2211-45AE-93FF-C584D5AF0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dirty="0"/>
              <a:t>Includes 5 rules:</a:t>
            </a:r>
          </a:p>
          <a:p>
            <a:pPr lvl="1"/>
            <a:r>
              <a:rPr lang="en-US" sz="3600" dirty="0"/>
              <a:t>Privacy Rule</a:t>
            </a:r>
          </a:p>
          <a:p>
            <a:pPr lvl="1"/>
            <a:r>
              <a:rPr lang="en-US" sz="3600" b="1" i="1" dirty="0"/>
              <a:t>Security Rule</a:t>
            </a:r>
          </a:p>
          <a:p>
            <a:pPr lvl="1"/>
            <a:r>
              <a:rPr lang="en-US" sz="3600" dirty="0"/>
              <a:t>Transactions and Code Sets Rule</a:t>
            </a:r>
          </a:p>
          <a:p>
            <a:pPr lvl="1"/>
            <a:r>
              <a:rPr lang="en-US" sz="3600" dirty="0"/>
              <a:t>Unique Identifiers Rule</a:t>
            </a:r>
          </a:p>
          <a:p>
            <a:pPr lvl="1"/>
            <a:r>
              <a:rPr lang="en-US" sz="3600" dirty="0"/>
              <a:t>Enforcement Rule</a:t>
            </a:r>
          </a:p>
        </p:txBody>
      </p:sp>
    </p:spTree>
    <p:extLst>
      <p:ext uri="{BB962C8B-B14F-4D97-AF65-F5344CB8AC3E}">
        <p14:creationId xmlns:p14="http://schemas.microsoft.com/office/powerpoint/2010/main" val="25658581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Security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Became enforceable on April 20, 2005</a:t>
            </a:r>
          </a:p>
          <a:p>
            <a:r>
              <a:rPr lang="en-US" sz="3200" dirty="0"/>
              <a:t>In July 2009, oversight moved from Centers for Medicare and Medicaid Services (CMS) to the Office of Civil Rights (OCR)</a:t>
            </a:r>
          </a:p>
          <a:p>
            <a:r>
              <a:rPr lang="en-US" sz="3200" dirty="0"/>
              <a:t>Protects electronic Protected Health Information (e-PHI)</a:t>
            </a:r>
          </a:p>
        </p:txBody>
      </p:sp>
    </p:spTree>
    <p:extLst>
      <p:ext uri="{BB962C8B-B14F-4D97-AF65-F5344CB8AC3E}">
        <p14:creationId xmlns:p14="http://schemas.microsoft.com/office/powerpoint/2010/main" val="23326316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/>
              <a:t>HIPAA Security</a:t>
            </a:r>
            <a:endParaRPr lang="en-US" sz="6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742" y="2055723"/>
            <a:ext cx="10216544" cy="42672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dirty="0"/>
              <a:t>Standards to ensure </a:t>
            </a:r>
            <a:r>
              <a:rPr lang="en-US" sz="4000" b="1" dirty="0"/>
              <a:t>only those who should have access to e- PHI </a:t>
            </a:r>
            <a:r>
              <a:rPr lang="en-US" sz="4000" dirty="0"/>
              <a:t>do have access</a:t>
            </a:r>
          </a:p>
          <a:p>
            <a:pPr>
              <a:buClr>
                <a:srgbClr val="8AD0D6"/>
              </a:buClr>
            </a:pPr>
            <a:r>
              <a:rPr lang="en-US" sz="4000" dirty="0"/>
              <a:t>Maintains confidentiality, integrity and availability of patient information</a:t>
            </a:r>
          </a:p>
        </p:txBody>
      </p:sp>
      <p:pic>
        <p:nvPicPr>
          <p:cNvPr id="36868" name="Picture 5" descr="left_hippo_med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53401" y="609601"/>
            <a:ext cx="1457325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0040325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Information Security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1378" y="1518278"/>
            <a:ext cx="11057626" cy="221049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dirty="0"/>
              <a:t>Protecting data from accidental or intentional misuse by persons inside or outside of an organization</a:t>
            </a:r>
            <a:endParaRPr lang="en-US" dirty="0"/>
          </a:p>
          <a:p>
            <a:r>
              <a:rPr lang="en-US" sz="2800" dirty="0"/>
              <a:t>Purpose to protect the confidentiality, integrity &amp; availability of patent data</a:t>
            </a:r>
            <a:endParaRPr lang="en-US"/>
          </a:p>
          <a:p>
            <a:endParaRPr lang="en-US" sz="2800" dirty="0"/>
          </a:p>
          <a:p>
            <a:pPr lvl="8"/>
            <a:endParaRPr lang="en-US" dirty="0"/>
          </a:p>
          <a:p>
            <a:pPr lvl="2"/>
            <a:endParaRPr lang="en-US" dirty="0"/>
          </a:p>
        </p:txBody>
      </p:sp>
      <p:pic>
        <p:nvPicPr>
          <p:cNvPr id="4" name="Picture 7" descr="http://www.infocellar.com/networks/graphics/images/security%20-%20lock%20on%20p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83138" y="3962400"/>
            <a:ext cx="2160588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9" descr="http://www.islandoflosttoys.com/images/LawPracticeTechnology/security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634154" y="4267200"/>
            <a:ext cx="34290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 descr="A person jumping off a wooden object&#10;&#10;AI-generated content may be incorrect.">
            <a:extLst>
              <a:ext uri="{FF2B5EF4-FFF2-40B4-BE49-F238E27FC236}">
                <a16:creationId xmlns:a16="http://schemas.microsoft.com/office/drawing/2014/main" id="{3AFF3443-EA6F-7D73-3B26-22ED60913C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7269" y="3429000"/>
            <a:ext cx="3780693" cy="2579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29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the requirements?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6188" y="1756610"/>
            <a:ext cx="9146875" cy="4524555"/>
          </a:xfrm>
        </p:spPr>
        <p:txBody>
          <a:bodyPr/>
          <a:lstStyle/>
          <a:p>
            <a:pPr>
              <a:buNone/>
              <a:defRPr/>
            </a:pPr>
            <a:r>
              <a:rPr lang="en-US" sz="3600" dirty="0"/>
              <a:t>Safeguards:</a:t>
            </a:r>
          </a:p>
          <a:p>
            <a:pPr>
              <a:buNone/>
              <a:defRPr/>
            </a:pPr>
            <a:endParaRPr lang="en-US" dirty="0"/>
          </a:p>
          <a:p>
            <a:pPr>
              <a:defRPr/>
            </a:pPr>
            <a:r>
              <a:rPr lang="en-US" sz="3200" dirty="0"/>
              <a:t>Administrative – policies, training, audit, etc</a:t>
            </a:r>
          </a:p>
          <a:p>
            <a:pPr>
              <a:defRPr/>
            </a:pPr>
            <a:r>
              <a:rPr lang="en-US" sz="3200" dirty="0"/>
              <a:t>Physical – locks, privacy screens, etc</a:t>
            </a:r>
          </a:p>
          <a:p>
            <a:pPr>
              <a:defRPr/>
            </a:pPr>
            <a:r>
              <a:rPr lang="en-US" sz="3200" dirty="0"/>
              <a:t>Technical - firewalls, encryption, virus protection , etc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11340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>
          <a:xfrm>
            <a:off x="1472242" y="243696"/>
            <a:ext cx="7620000" cy="6858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Administrative Safeguards</a:t>
            </a:r>
            <a:endParaRPr lang="en-US" dirty="0"/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>
          <a:xfrm>
            <a:off x="518984" y="1115191"/>
            <a:ext cx="11673016" cy="5387047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Designate a Security Officer (required under NYS Cyber Security Law)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Implement work-force security policies and procedures for appropriate access to electronic PHI; access authorization; ensure access level is appropriate; and termination of access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Train the work force in security awareness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Establish procedures to address security incidents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Prepare a contingency plan to permit data recovery and access in the event of an emergency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Perform periodic evaluations to ensure technical and non-technical compliance to the code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Create business associate agreements for vendors who need access to Electronic Protected Health Information (ePHI)</a:t>
            </a:r>
          </a:p>
          <a:p>
            <a:pPr>
              <a:lnSpc>
                <a:spcPct val="90000"/>
              </a:lnSpc>
              <a:buNone/>
            </a:pPr>
            <a:endParaRPr lang="en-US" dirty="0"/>
          </a:p>
          <a:p>
            <a:endParaRPr lang="en-US" dirty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1665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646111" y="251435"/>
            <a:ext cx="9404723" cy="69604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Physical Safeguards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921" y="1157378"/>
            <a:ext cx="9613861" cy="5258758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n-US" sz="3600" dirty="0"/>
              <a:t>	Lock/close office doors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sz="3600" dirty="0"/>
              <a:t>	Prevention of unauthorized access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sz="3600" dirty="0"/>
              <a:t>	Turn monitors away from public access viewing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sz="3600" dirty="0"/>
              <a:t>	Access control (Single Sign On, lock &amp; log-off)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sz="3600" dirty="0"/>
              <a:t>	Screen Protectors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sz="3600" dirty="0"/>
              <a:t>	Secure workstations/fax machines</a:t>
            </a:r>
          </a:p>
          <a:p>
            <a:pPr>
              <a:buNone/>
              <a:defRPr/>
            </a:pPr>
            <a:r>
              <a:rPr lang="en-US" sz="3600" dirty="0"/>
              <a:t>	Implement physical policies and  procedures that govern the receipt and removal of hardware and  electronic media in and into and out of a facility.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en-US" dirty="0"/>
          </a:p>
          <a:p>
            <a:pPr eaLnBrk="1" hangingPunct="1">
              <a:buFont typeface="Wingdings" pitchFamily="2" charset="2"/>
              <a:buNone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3797850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1387655" y="192011"/>
            <a:ext cx="7239000" cy="686249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Technical Safeguards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98600" y="1182592"/>
            <a:ext cx="8636000" cy="5485144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  <a:defRPr/>
            </a:pPr>
            <a:r>
              <a:rPr lang="en-US" sz="2400" dirty="0"/>
              <a:t>Operating system / software security patches / upgrades</a:t>
            </a:r>
          </a:p>
          <a:p>
            <a:pPr>
              <a:buNone/>
              <a:defRPr/>
            </a:pPr>
            <a:r>
              <a:rPr lang="en-US" sz="2400" dirty="0" err="1"/>
              <a:t>Mutifactor</a:t>
            </a:r>
            <a:r>
              <a:rPr lang="en-US" sz="2400" dirty="0"/>
              <a:t> authentication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sz="2400" dirty="0"/>
              <a:t>Automatic log off/time out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sz="2400" dirty="0"/>
              <a:t>Encryption technology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sz="2400" dirty="0"/>
              <a:t>Mobile Device Management (MDM)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sz="2400" dirty="0"/>
              <a:t>Lojack (hard-drive wipe)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sz="2400" dirty="0"/>
              <a:t>Virus Protection/Anti-spy ware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sz="2400" dirty="0"/>
              <a:t>Firewalls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sz="2400" dirty="0"/>
              <a:t>User names/password (mnemonics)</a:t>
            </a:r>
          </a:p>
          <a:p>
            <a:pPr>
              <a:buNone/>
              <a:defRPr/>
            </a:pPr>
            <a:r>
              <a:rPr lang="en-US" sz="2400" dirty="0"/>
              <a:t>Limitations on access (network, servers, applications)</a:t>
            </a:r>
          </a:p>
        </p:txBody>
      </p:sp>
    </p:spTree>
    <p:extLst>
      <p:ext uri="{BB962C8B-B14F-4D97-AF65-F5344CB8AC3E}">
        <p14:creationId xmlns:p14="http://schemas.microsoft.com/office/powerpoint/2010/main" val="3809868996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96951-0647-CE07-4084-EE63E4109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186" y="481473"/>
            <a:ext cx="9404723" cy="1400530"/>
          </a:xfrm>
        </p:spPr>
        <p:txBody>
          <a:bodyPr/>
          <a:lstStyle/>
          <a:p>
            <a:r>
              <a:rPr lang="en-US" sz="4800" dirty="0"/>
              <a:t>Break out Groups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96D2E-9F13-9555-3D1E-4E65F0A447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dirty="0"/>
              <a:t>Discuss 1 administrative, physical, and technical safeguard you would implement in your healthcare organization if you were the privacy officer, how you think it would help and why</a:t>
            </a:r>
          </a:p>
        </p:txBody>
      </p:sp>
    </p:spTree>
    <p:extLst>
      <p:ext uri="{BB962C8B-B14F-4D97-AF65-F5344CB8AC3E}">
        <p14:creationId xmlns:p14="http://schemas.microsoft.com/office/powerpoint/2010/main" val="39847228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304" y="511260"/>
            <a:ext cx="11621231" cy="1080938"/>
          </a:xfrm>
        </p:spPr>
        <p:txBody>
          <a:bodyPr/>
          <a:lstStyle/>
          <a:p>
            <a:pPr algn="ctr"/>
            <a:r>
              <a:rPr lang="en-US" sz="5400" dirty="0"/>
              <a:t>Security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3021" y="1777728"/>
            <a:ext cx="8450979" cy="4888115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sz="3000" dirty="0"/>
              <a:t>Texting and e-mail are not secure modes of transmission for PHI (unless encrypted)</a:t>
            </a:r>
          </a:p>
          <a:p>
            <a:r>
              <a:rPr lang="en-US" sz="3000" dirty="0"/>
              <a:t>Do not store PHI on local hard-drives</a:t>
            </a:r>
          </a:p>
          <a:p>
            <a:r>
              <a:rPr lang="en-US" sz="3000" dirty="0"/>
              <a:t>Do not store PHI on mobile devices unless the PHI is encrypted and password protected</a:t>
            </a:r>
          </a:p>
          <a:p>
            <a:r>
              <a:rPr lang="en-US" sz="3000" dirty="0"/>
              <a:t>Keep your access safe (username/password)</a:t>
            </a:r>
          </a:p>
          <a:p>
            <a:r>
              <a:rPr lang="en-US" sz="3000" dirty="0"/>
              <a:t>Log-off (multiuser workstations) or lock (single user workstations) prior to leaving the workstation unattended</a:t>
            </a:r>
          </a:p>
          <a:p>
            <a:pPr>
              <a:buClr>
                <a:srgbClr val="8AD0D6"/>
              </a:buClr>
            </a:pPr>
            <a:r>
              <a:rPr lang="en-US" sz="3000" dirty="0"/>
              <a:t>Be careful what you click!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1139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AB1DE-3937-46A7-AE0C-96DA1EDBA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dirty="0"/>
              <a:t>Title II of HIPAA reminder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DB077-2211-45AE-93FF-C584D5AF0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dirty="0"/>
              <a:t>Includes 5 rules:</a:t>
            </a:r>
          </a:p>
          <a:p>
            <a:pPr lvl="1"/>
            <a:r>
              <a:rPr lang="en-US" sz="3600" dirty="0"/>
              <a:t>Privacy Rule</a:t>
            </a:r>
          </a:p>
          <a:p>
            <a:pPr lvl="1"/>
            <a:r>
              <a:rPr lang="en-US" sz="3600" dirty="0"/>
              <a:t>Security Rule</a:t>
            </a:r>
          </a:p>
          <a:p>
            <a:pPr lvl="1"/>
            <a:r>
              <a:rPr lang="en-US" sz="3600" b="1" i="1" dirty="0"/>
              <a:t>Transactions and Code Sets Rule</a:t>
            </a:r>
          </a:p>
          <a:p>
            <a:pPr lvl="1"/>
            <a:r>
              <a:rPr lang="en-US" sz="3600" dirty="0"/>
              <a:t>Unique Identifiers Rule</a:t>
            </a:r>
          </a:p>
          <a:p>
            <a:pPr lvl="1"/>
            <a:r>
              <a:rPr lang="en-US" sz="3600" dirty="0"/>
              <a:t>Enforcement Rule</a:t>
            </a:r>
          </a:p>
        </p:txBody>
      </p:sp>
    </p:spTree>
    <p:extLst>
      <p:ext uri="{BB962C8B-B14F-4D97-AF65-F5344CB8AC3E}">
        <p14:creationId xmlns:p14="http://schemas.microsoft.com/office/powerpoint/2010/main" val="24620233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75E2D-2F8E-46D5-B8C7-71F4A7557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Transactions and Code Sets Rule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7310D-B47E-4CAA-99EC-5BFEB38FD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10021156" cy="419548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dirty="0"/>
              <a:t>Governs how the health care industry conducts business electronically - standardizes</a:t>
            </a:r>
          </a:p>
          <a:p>
            <a:r>
              <a:rPr lang="en-US" sz="3200" dirty="0"/>
              <a:t>Electronic Data Interchange (EDI)</a:t>
            </a:r>
          </a:p>
          <a:p>
            <a:r>
              <a:rPr lang="en-US" sz="3200" dirty="0"/>
              <a:t>Healthcare had lagged behind many other industries such as banking in regards to EDI</a:t>
            </a:r>
          </a:p>
        </p:txBody>
      </p:sp>
    </p:spTree>
    <p:extLst>
      <p:ext uri="{BB962C8B-B14F-4D97-AF65-F5344CB8AC3E}">
        <p14:creationId xmlns:p14="http://schemas.microsoft.com/office/powerpoint/2010/main" val="4716474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CD804-2700-4C82-9586-E71F08105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376" y="273424"/>
            <a:ext cx="10783046" cy="851442"/>
          </a:xfrm>
        </p:spPr>
        <p:txBody>
          <a:bodyPr/>
          <a:lstStyle/>
          <a:p>
            <a:r>
              <a:rPr lang="en-US" sz="4800" dirty="0"/>
              <a:t>What Constitutes a Transaction?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2B441-822B-4E6F-997A-732E1E5C0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470992"/>
            <a:ext cx="9854217" cy="477740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3200" dirty="0"/>
              <a:t>Transmission of information between two parties</a:t>
            </a:r>
          </a:p>
          <a:p>
            <a:endParaRPr lang="en-US" sz="2400" dirty="0"/>
          </a:p>
          <a:p>
            <a:pPr lvl="1"/>
            <a:r>
              <a:rPr lang="en-US" sz="2800" dirty="0"/>
              <a:t>Health Care Claims</a:t>
            </a:r>
          </a:p>
          <a:p>
            <a:pPr lvl="1"/>
            <a:r>
              <a:rPr lang="en-US" sz="2800" dirty="0"/>
              <a:t>Health Care Payments</a:t>
            </a:r>
          </a:p>
          <a:p>
            <a:pPr lvl="1"/>
            <a:r>
              <a:rPr lang="en-US" sz="2800" dirty="0"/>
              <a:t>Coordination of Benefits</a:t>
            </a:r>
          </a:p>
          <a:p>
            <a:pPr lvl="1"/>
            <a:r>
              <a:rPr lang="en-US" sz="2800" dirty="0"/>
              <a:t>Health Care Claims Status</a:t>
            </a:r>
          </a:p>
          <a:p>
            <a:pPr lvl="1"/>
            <a:r>
              <a:rPr lang="en-US" sz="2800" dirty="0"/>
              <a:t>Enrollment in a Health Plan</a:t>
            </a:r>
          </a:p>
          <a:p>
            <a:pPr lvl="1"/>
            <a:r>
              <a:rPr lang="en-US" sz="2800" dirty="0"/>
              <a:t>Eligibility for a Health Plan</a:t>
            </a:r>
          </a:p>
          <a:p>
            <a:pPr lvl="1"/>
            <a:r>
              <a:rPr lang="en-US" sz="2800" dirty="0"/>
              <a:t>Health Plan Premium Payments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6630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>
          <a:xfrm>
            <a:off x="646111" y="273424"/>
            <a:ext cx="9404723" cy="126606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Examples of how Protected Health Information may be Sent:</a:t>
            </a:r>
            <a:br>
              <a:rPr lang="en-US" dirty="0"/>
            </a:br>
            <a:endParaRPr lang="en-US" dirty="0"/>
          </a:p>
        </p:txBody>
      </p:sp>
      <p:sp>
        <p:nvSpPr>
          <p:cNvPr id="79875" name="Rectangle 3"/>
          <p:cNvSpPr>
            <a:spLocks noGrp="1" noChangeArrowheads="1"/>
          </p:cNvSpPr>
          <p:nvPr>
            <p:ph idx="1"/>
          </p:nvPr>
        </p:nvSpPr>
        <p:spPr>
          <a:xfrm>
            <a:off x="1151965" y="1717775"/>
            <a:ext cx="9870945" cy="4525048"/>
          </a:xfrm>
        </p:spPr>
        <p:txBody>
          <a:bodyPr vert="horz" lIns="91440" tIns="45720" rIns="91440" bIns="45720" rtlCol="0" anchor="t">
            <a:noAutofit/>
          </a:bodyPr>
          <a:lstStyle/>
          <a:p>
            <a:pPr eaLnBrk="1" hangingPunct="1">
              <a:buFont typeface="Wingdings" pitchFamily="2" charset="2"/>
              <a:buNone/>
              <a:defRPr/>
            </a:pPr>
            <a:endParaRPr lang="en-US" dirty="0"/>
          </a:p>
          <a:p>
            <a:pPr eaLnBrk="1" hangingPunct="1">
              <a:defRPr/>
            </a:pPr>
            <a:r>
              <a:rPr lang="en-US" sz="3200" dirty="0"/>
              <a:t>Internet (secure protocol such as https, SFTP)</a:t>
            </a:r>
          </a:p>
          <a:p>
            <a:pPr eaLnBrk="1" hangingPunct="1">
              <a:defRPr/>
            </a:pPr>
            <a:r>
              <a:rPr lang="en-US" sz="3200" dirty="0"/>
              <a:t>Phone lines (faxes)</a:t>
            </a:r>
          </a:p>
          <a:p>
            <a:pPr eaLnBrk="1" hangingPunct="1">
              <a:defRPr/>
            </a:pPr>
            <a:r>
              <a:rPr lang="en-US" sz="3200" dirty="0"/>
              <a:t>CD/DVD (password protected)</a:t>
            </a:r>
          </a:p>
          <a:p>
            <a:pPr eaLnBrk="1" hangingPunct="1">
              <a:defRPr/>
            </a:pPr>
            <a:r>
              <a:rPr lang="en-US" sz="3200" dirty="0"/>
              <a:t>USB/thumb drives (encrypted)</a:t>
            </a:r>
          </a:p>
        </p:txBody>
      </p:sp>
    </p:spTree>
    <p:extLst>
      <p:ext uri="{BB962C8B-B14F-4D97-AF65-F5344CB8AC3E}">
        <p14:creationId xmlns:p14="http://schemas.microsoft.com/office/powerpoint/2010/main" val="1358427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5AD4F-F3A6-4DE7-B9BB-BDECD87A2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HIPAA 5010 Rule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E62B8-C07D-4E2E-982C-6B1E49147A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/>
              <a:t>ASC X12 Version 5010 went into effect January 1, 2012</a:t>
            </a:r>
          </a:p>
          <a:p>
            <a:r>
              <a:rPr lang="en-US" sz="3600" dirty="0"/>
              <a:t>Pervious version was Version 4010-A1</a:t>
            </a:r>
          </a:p>
        </p:txBody>
      </p:sp>
    </p:spTree>
    <p:extLst>
      <p:ext uri="{BB962C8B-B14F-4D97-AF65-F5344CB8AC3E}">
        <p14:creationId xmlns:p14="http://schemas.microsoft.com/office/powerpoint/2010/main" val="4353175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8834F-0ED1-4C4E-AE19-7FE628A28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847" y="452718"/>
            <a:ext cx="11847603" cy="750589"/>
          </a:xfrm>
        </p:spPr>
        <p:txBody>
          <a:bodyPr/>
          <a:lstStyle/>
          <a:p>
            <a:r>
              <a:rPr lang="en-US" sz="3600" dirty="0"/>
              <a:t>Benefits of Standardized Transactions and Code 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442B1-826D-4683-92FD-FF185BC37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0900" y="1492624"/>
            <a:ext cx="8946541" cy="4901451"/>
          </a:xfrm>
        </p:spPr>
        <p:txBody>
          <a:bodyPr vert="horz" lIns="91440" tIns="45720" rIns="91440" bIns="45720" rtlCol="0" anchor="t">
            <a:noAutofit/>
          </a:bodyPr>
          <a:lstStyle/>
          <a:p>
            <a:pPr fontAlgn="base"/>
            <a:r>
              <a:rPr lang="en-US" sz="2800" dirty="0"/>
              <a:t>Reduction in handling and process time</a:t>
            </a:r>
          </a:p>
          <a:p>
            <a:pPr fontAlgn="base"/>
            <a:r>
              <a:rPr lang="en-US" sz="2800" dirty="0"/>
              <a:t>Elimination of the risk of lost paper documents</a:t>
            </a:r>
          </a:p>
          <a:p>
            <a:pPr fontAlgn="base"/>
            <a:r>
              <a:rPr lang="en-US" sz="2800" dirty="0"/>
              <a:t>Elimination of the inefficiencies of handling paper documents</a:t>
            </a:r>
          </a:p>
          <a:p>
            <a:pPr fontAlgn="base"/>
            <a:r>
              <a:rPr lang="en-US" sz="2800" dirty="0"/>
              <a:t>Improvement of overall data quality</a:t>
            </a:r>
          </a:p>
          <a:p>
            <a:pPr fontAlgn="base"/>
            <a:r>
              <a:rPr lang="en-US" sz="2800" dirty="0"/>
              <a:t>Decreased administrative costs</a:t>
            </a:r>
          </a:p>
          <a:p>
            <a:pPr fontAlgn="base"/>
            <a:r>
              <a:rPr lang="en-US" sz="2800" dirty="0"/>
              <a:t>Efficient coordination of benefits</a:t>
            </a:r>
          </a:p>
          <a:p>
            <a:pPr fontAlgn="base"/>
            <a:r>
              <a:rPr lang="en-US" sz="2800" dirty="0"/>
              <a:t>Enhanced data privacy and security</a:t>
            </a:r>
          </a:p>
          <a:p>
            <a:pPr fontAlgn="base"/>
            <a:r>
              <a:rPr lang="en-US" sz="2800" dirty="0"/>
              <a:t>Easier Fraud Detection</a:t>
            </a:r>
          </a:p>
        </p:txBody>
      </p:sp>
    </p:spTree>
    <p:extLst>
      <p:ext uri="{BB962C8B-B14F-4D97-AF65-F5344CB8AC3E}">
        <p14:creationId xmlns:p14="http://schemas.microsoft.com/office/powerpoint/2010/main" val="5326833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84801-611C-4FDC-98E9-88AE401A3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317" y="105336"/>
            <a:ext cx="9404723" cy="1400530"/>
          </a:xfrm>
        </p:spPr>
        <p:txBody>
          <a:bodyPr/>
          <a:lstStyle/>
          <a:p>
            <a:r>
              <a:rPr lang="en-US" dirty="0"/>
              <a:t>The Following Codes Sets are Used in HIPAA Transactions: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49C3B0-131B-4129-9D4A-6EBDC170F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716742"/>
            <a:ext cx="8946541" cy="459889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b="1" dirty="0"/>
              <a:t>ICD-11-CM</a:t>
            </a:r>
            <a:r>
              <a:rPr lang="en-US" sz="2400" dirty="0"/>
              <a:t> codes - International Classification of Diseases - Clinical Modification (Diagnoses) - Jan 1, 2022</a:t>
            </a:r>
          </a:p>
          <a:p>
            <a:r>
              <a:rPr lang="en-US" sz="2400" b="1" dirty="0"/>
              <a:t>ICD-11-PCS</a:t>
            </a:r>
            <a:r>
              <a:rPr lang="en-US" sz="2400" dirty="0"/>
              <a:t> codes - Procedural Classification System (In-patient Procedures)</a:t>
            </a:r>
          </a:p>
          <a:p>
            <a:r>
              <a:rPr lang="en-US" sz="2400" b="1" dirty="0"/>
              <a:t>HCPCS</a:t>
            </a:r>
            <a:r>
              <a:rPr lang="en-US" sz="2400" dirty="0"/>
              <a:t> codes - Healthcare Common Procedure Coding System</a:t>
            </a:r>
          </a:p>
          <a:p>
            <a:r>
              <a:rPr lang="en-US" sz="2400" b="1" dirty="0"/>
              <a:t>CPT-4</a:t>
            </a:r>
            <a:r>
              <a:rPr lang="en-US" sz="2400" dirty="0"/>
              <a:t> codes - Current Procedural Terminology</a:t>
            </a:r>
          </a:p>
          <a:p>
            <a:r>
              <a:rPr lang="en-US" sz="2400" b="1" dirty="0"/>
              <a:t>CDT</a:t>
            </a:r>
            <a:r>
              <a:rPr lang="en-US" sz="2400" dirty="0"/>
              <a:t> codes - Code on Dental Procedures and Nomenclature</a:t>
            </a:r>
          </a:p>
          <a:p>
            <a:r>
              <a:rPr lang="en-US" sz="2400" b="1" dirty="0"/>
              <a:t>NDC</a:t>
            </a:r>
            <a:r>
              <a:rPr lang="en-US" sz="2400" dirty="0"/>
              <a:t> codes - National Drug Codes</a:t>
            </a:r>
          </a:p>
        </p:txBody>
      </p:sp>
    </p:spTree>
    <p:extLst>
      <p:ext uri="{BB962C8B-B14F-4D97-AF65-F5344CB8AC3E}">
        <p14:creationId xmlns:p14="http://schemas.microsoft.com/office/powerpoint/2010/main" val="184043291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793</TotalTime>
  <Words>1836</Words>
  <Application>Microsoft Office PowerPoint</Application>
  <PresentationFormat>Widescreen</PresentationFormat>
  <Paragraphs>279</Paragraphs>
  <Slides>36</Slides>
  <Notes>20</Notes>
  <HiddenSlides>0</HiddenSlides>
  <MMClips>2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7" baseType="lpstr">
      <vt:lpstr>Ion</vt:lpstr>
      <vt:lpstr>Title II of HIPAA reminder</vt:lpstr>
      <vt:lpstr>Patient Rights...</vt:lpstr>
      <vt:lpstr>Notice of Privacy Practices (NPP)</vt:lpstr>
      <vt:lpstr>  PATIENT’S RIGHTS UNDER HIPAA</vt:lpstr>
      <vt:lpstr>Right to Request Restrictions</vt:lpstr>
      <vt:lpstr>Right to Access PHI</vt:lpstr>
      <vt:lpstr>Right to Request Amendment</vt:lpstr>
      <vt:lpstr>Not how requesting amendments work… (and a privacy violation)</vt:lpstr>
      <vt:lpstr>Right to Receive an Accounting</vt:lpstr>
      <vt:lpstr>Right to file a compliant</vt:lpstr>
      <vt:lpstr>Privacy Complaints to the Office of Civil Rights (OCR)</vt:lpstr>
      <vt:lpstr>Student Presentations</vt:lpstr>
      <vt:lpstr>     Incidental Disclosures</vt:lpstr>
      <vt:lpstr>Protecting Verbal Communications…</vt:lpstr>
      <vt:lpstr>Protecting Written Communications…</vt:lpstr>
      <vt:lpstr>Protecting Electronic Communications…</vt:lpstr>
      <vt:lpstr>General Organizational Responsibilities</vt:lpstr>
      <vt:lpstr>Spot the HIPAA Violations</vt:lpstr>
      <vt:lpstr>Breakout groups</vt:lpstr>
      <vt:lpstr>Title II of HIPAA reminder</vt:lpstr>
      <vt:lpstr>Security Rule</vt:lpstr>
      <vt:lpstr>HIPAA Security</vt:lpstr>
      <vt:lpstr>Information Security </vt:lpstr>
      <vt:lpstr>What are the requirements?</vt:lpstr>
      <vt:lpstr>Administrative Safeguards</vt:lpstr>
      <vt:lpstr>Physical Safeguards</vt:lpstr>
      <vt:lpstr>Technical Safeguards</vt:lpstr>
      <vt:lpstr>Break out Groups</vt:lpstr>
      <vt:lpstr>Security best practices</vt:lpstr>
      <vt:lpstr>Title II of HIPAA reminder</vt:lpstr>
      <vt:lpstr>Transactions and Code Sets Rule</vt:lpstr>
      <vt:lpstr>What Constitutes a Transaction?</vt:lpstr>
      <vt:lpstr>Examples of how Protected Health Information may be Sent: </vt:lpstr>
      <vt:lpstr>HIPAA 5010 Rule</vt:lpstr>
      <vt:lpstr>Benefits of Standardized Transactions and Code Sets</vt:lpstr>
      <vt:lpstr>The Following Codes Sets are Used in HIPAA Transactions: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Notice of Privacy Practices (NPP)</dc:title>
  <dc:creator>Blake Benz</dc:creator>
  <cp:lastModifiedBy>Blake Benz</cp:lastModifiedBy>
  <cp:revision>408</cp:revision>
  <dcterms:created xsi:type="dcterms:W3CDTF">2021-05-20T20:17:40Z</dcterms:created>
  <dcterms:modified xsi:type="dcterms:W3CDTF">2025-07-09T15:53:25Z</dcterms:modified>
</cp:coreProperties>
</file>